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9" r:id="rId1"/>
  </p:sldMasterIdLst>
  <p:notesMasterIdLst>
    <p:notesMasterId r:id="rId79"/>
  </p:notesMasterIdLst>
  <p:sldIdLst>
    <p:sldId id="256" r:id="rId2"/>
    <p:sldId id="418" r:id="rId3"/>
    <p:sldId id="419" r:id="rId4"/>
    <p:sldId id="420" r:id="rId5"/>
    <p:sldId id="421" r:id="rId6"/>
    <p:sldId id="422" r:id="rId7"/>
    <p:sldId id="423" r:id="rId8"/>
    <p:sldId id="424" r:id="rId9"/>
    <p:sldId id="425" r:id="rId10"/>
    <p:sldId id="426" r:id="rId11"/>
    <p:sldId id="427" r:id="rId12"/>
    <p:sldId id="428" r:id="rId13"/>
    <p:sldId id="429" r:id="rId14"/>
    <p:sldId id="430" r:id="rId15"/>
    <p:sldId id="431" r:id="rId16"/>
    <p:sldId id="432" r:id="rId17"/>
    <p:sldId id="433" r:id="rId18"/>
    <p:sldId id="457" r:id="rId19"/>
    <p:sldId id="458" r:id="rId20"/>
    <p:sldId id="455" r:id="rId21"/>
    <p:sldId id="456" r:id="rId22"/>
    <p:sldId id="459" r:id="rId23"/>
    <p:sldId id="460" r:id="rId24"/>
    <p:sldId id="461" r:id="rId25"/>
    <p:sldId id="462" r:id="rId26"/>
    <p:sldId id="434" r:id="rId27"/>
    <p:sldId id="435" r:id="rId28"/>
    <p:sldId id="437" r:id="rId29"/>
    <p:sldId id="439" r:id="rId30"/>
    <p:sldId id="436" r:id="rId31"/>
    <p:sldId id="440" r:id="rId32"/>
    <p:sldId id="451" r:id="rId33"/>
    <p:sldId id="452" r:id="rId34"/>
    <p:sldId id="453" r:id="rId35"/>
    <p:sldId id="454" r:id="rId36"/>
    <p:sldId id="467" r:id="rId37"/>
    <p:sldId id="469" r:id="rId38"/>
    <p:sldId id="470" r:id="rId39"/>
    <p:sldId id="466" r:id="rId40"/>
    <p:sldId id="471" r:id="rId41"/>
    <p:sldId id="442" r:id="rId42"/>
    <p:sldId id="464" r:id="rId43"/>
    <p:sldId id="443" r:id="rId44"/>
    <p:sldId id="444" r:id="rId45"/>
    <p:sldId id="474" r:id="rId46"/>
    <p:sldId id="473" r:id="rId47"/>
    <p:sldId id="445" r:id="rId48"/>
    <p:sldId id="415" r:id="rId49"/>
    <p:sldId id="446" r:id="rId50"/>
    <p:sldId id="478" r:id="rId51"/>
    <p:sldId id="447" r:id="rId52"/>
    <p:sldId id="479" r:id="rId53"/>
    <p:sldId id="480" r:id="rId54"/>
    <p:sldId id="481" r:id="rId55"/>
    <p:sldId id="482" r:id="rId56"/>
    <p:sldId id="450" r:id="rId57"/>
    <p:sldId id="485" r:id="rId58"/>
    <p:sldId id="486" r:id="rId59"/>
    <p:sldId id="449" r:id="rId60"/>
    <p:sldId id="475" r:id="rId61"/>
    <p:sldId id="476" r:id="rId62"/>
    <p:sldId id="477" r:id="rId63"/>
    <p:sldId id="487" r:id="rId64"/>
    <p:sldId id="488" r:id="rId65"/>
    <p:sldId id="499" r:id="rId66"/>
    <p:sldId id="489" r:id="rId67"/>
    <p:sldId id="490" r:id="rId68"/>
    <p:sldId id="491" r:id="rId69"/>
    <p:sldId id="492" r:id="rId70"/>
    <p:sldId id="493" r:id="rId71"/>
    <p:sldId id="494" r:id="rId72"/>
    <p:sldId id="496" r:id="rId73"/>
    <p:sldId id="495" r:id="rId74"/>
    <p:sldId id="497" r:id="rId75"/>
    <p:sldId id="498" r:id="rId76"/>
    <p:sldId id="500" r:id="rId77"/>
    <p:sldId id="501" r:id="rId7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152E"/>
    <a:srgbClr val="2A3E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615" autoAdjust="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DA09D585-2A3D-442F-8CCD-735AAFC53F23}" type="datetimeFigureOut">
              <a:rPr lang="en-US"/>
              <a:pPr>
                <a:defRPr/>
              </a:pPr>
              <a:t>10/20/2022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C013118F-D0E4-46D0-AA4A-267872E84E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85800" y="3398838"/>
            <a:ext cx="78486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A2AE6-6655-4497-A707-DBA9C2F75C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D54B63-F0A4-4FE0-983E-4599DECD23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731838" y="4598988"/>
            <a:ext cx="78486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/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3F1D80-562F-42D0-A748-A369128FD0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151B1A-C1F4-4C99-83B0-2AF0FAC6E2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 rot="5400000">
            <a:off x="2218531" y="4045744"/>
            <a:ext cx="4708525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20422-9A2B-4CD8-A5DB-4820577368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33FDC2-35A2-4D2E-BBDB-56AB576571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C993E8-E977-4EC9-B054-0841F80BF7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rot="5400000">
            <a:off x="-13494" y="3580607"/>
            <a:ext cx="5578475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18F8D1-435F-43B2-B5AF-C1E6F56995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74718-6D50-426D-8C5E-0A4EDB4E21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58089-E2C5-4AED-87D5-9723BADD06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905C6-5D6B-40BC-99E8-63A644F40A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663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9050"/>
            <a:ext cx="28956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9050"/>
            <a:ext cx="41148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9050"/>
            <a:ext cx="10668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F6B638DC-92F5-4051-90D4-2FEAE71036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2" r:id="rId1"/>
    <p:sldLayoutId id="2147484025" r:id="rId2"/>
    <p:sldLayoutId id="2147484033" r:id="rId3"/>
    <p:sldLayoutId id="2147484026" r:id="rId4"/>
    <p:sldLayoutId id="2147484034" r:id="rId5"/>
    <p:sldLayoutId id="2147484027" r:id="rId6"/>
    <p:sldLayoutId id="2147484028" r:id="rId7"/>
    <p:sldLayoutId id="2147484035" r:id="rId8"/>
    <p:sldLayoutId id="2147484029" r:id="rId9"/>
    <p:sldLayoutId id="2147484030" r:id="rId10"/>
    <p:sldLayoutId id="214748403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 spc="-1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9pPr>
    </p:titleStyle>
    <p:bodyStyle>
      <a:lvl1pPr marL="182563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0250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7450" indent="-1365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Arial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5913" y="762000"/>
            <a:ext cx="7532687" cy="183832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altLang="en-US" sz="4400"/>
            </a:br>
            <a:br>
              <a:rPr lang="en-US" altLang="en-US" sz="4400"/>
            </a:br>
            <a:br>
              <a:rPr lang="en-US" altLang="en-US" sz="4400"/>
            </a:br>
            <a:br>
              <a:rPr lang="en-US" altLang="en-US" sz="4400"/>
            </a:br>
            <a:endParaRPr lang="en-US" altLang="en-US" sz="440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886200"/>
            <a:ext cx="6248400" cy="15255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b="1" dirty="0">
                <a:solidFill>
                  <a:schemeClr val="tx2"/>
                </a:solidFill>
              </a:rPr>
              <a:t>Dr. </a:t>
            </a:r>
            <a:r>
              <a:rPr lang="en-US" altLang="en-US" b="1" dirty="0" err="1">
                <a:solidFill>
                  <a:schemeClr val="tx2"/>
                </a:solidFill>
              </a:rPr>
              <a:t>Syed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b="1" dirty="0" err="1">
                <a:solidFill>
                  <a:schemeClr val="tx2"/>
                </a:solidFill>
              </a:rPr>
              <a:t>Aun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b="1" dirty="0" err="1">
                <a:solidFill>
                  <a:schemeClr val="tx2"/>
                </a:solidFill>
              </a:rPr>
              <a:t>Irtaza</a:t>
            </a:r>
            <a:endParaRPr lang="en-US" altLang="en-US" b="1" dirty="0">
              <a:solidFill>
                <a:schemeClr val="tx2"/>
              </a:solidFill>
            </a:endParaRP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733425" y="1295400"/>
            <a:ext cx="6096000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4800" b="1" dirty="0">
                <a:solidFill>
                  <a:schemeClr val="tx2"/>
                </a:solidFill>
              </a:rPr>
              <a:t>Programming     Fundamentals</a:t>
            </a:r>
          </a:p>
          <a:p>
            <a:r>
              <a:rPr lang="en-US" altLang="en-US" sz="3200" dirty="0"/>
              <a:t>Lecture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Basic Program Construction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378825" cy="4876800"/>
          </a:xfrm>
        </p:spPr>
        <p:txBody>
          <a:bodyPr/>
          <a:lstStyle/>
          <a:p>
            <a:r>
              <a:rPr lang="en-US" altLang="en-US" dirty="0"/>
              <a:t>Let’s look at a very simple C++ program. It simply prints a sentence on the screen.</a:t>
            </a:r>
          </a:p>
          <a:p>
            <a:pPr marL="273050" lvl="1" indent="0">
              <a:buFont typeface="Arial" charset="0"/>
              <a:buNone/>
            </a:pPr>
            <a:endParaRPr lang="en-US" altLang="en-US" sz="2400" dirty="0">
              <a:solidFill>
                <a:srgbClr val="0070C0"/>
              </a:solidFill>
            </a:endParaRPr>
          </a:p>
          <a:p>
            <a:pPr marL="273050" lvl="1" indent="0">
              <a:buFont typeface="Arial" charset="0"/>
              <a:buNone/>
            </a:pPr>
            <a:r>
              <a:rPr lang="en-US" altLang="en-US" sz="2400" dirty="0">
                <a:solidFill>
                  <a:srgbClr val="0070C0"/>
                </a:solidFill>
              </a:rPr>
              <a:t>#include &lt;</a:t>
            </a:r>
            <a:r>
              <a:rPr lang="en-US" altLang="en-US" sz="2400" dirty="0" err="1">
                <a:solidFill>
                  <a:srgbClr val="0070C0"/>
                </a:solidFill>
              </a:rPr>
              <a:t>iostream</a:t>
            </a:r>
            <a:r>
              <a:rPr lang="en-US" altLang="en-US" sz="2400" dirty="0">
                <a:solidFill>
                  <a:srgbClr val="0070C0"/>
                </a:solidFill>
              </a:rPr>
              <a:t>&gt;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 sz="2400" dirty="0">
                <a:solidFill>
                  <a:srgbClr val="0070C0"/>
                </a:solidFill>
              </a:rPr>
              <a:t>using namespace std;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 sz="2400" dirty="0" err="1">
                <a:solidFill>
                  <a:srgbClr val="0070C0"/>
                </a:solidFill>
              </a:rPr>
              <a:t>int</a:t>
            </a:r>
            <a:r>
              <a:rPr lang="en-US" altLang="en-US" sz="2400" dirty="0">
                <a:solidFill>
                  <a:srgbClr val="0070C0"/>
                </a:solidFill>
              </a:rPr>
              <a:t> main()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 sz="2400" dirty="0">
                <a:solidFill>
                  <a:srgbClr val="0070C0"/>
                </a:solidFill>
              </a:rPr>
              <a:t>{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 sz="2400" dirty="0">
                <a:solidFill>
                  <a:srgbClr val="0070C0"/>
                </a:solidFill>
              </a:rPr>
              <a:t>   </a:t>
            </a:r>
            <a:r>
              <a:rPr lang="en-US" altLang="en-US" sz="2400" dirty="0" err="1">
                <a:solidFill>
                  <a:srgbClr val="0070C0"/>
                </a:solidFill>
              </a:rPr>
              <a:t>cout</a:t>
            </a:r>
            <a:r>
              <a:rPr lang="en-US" altLang="en-US" sz="2400" dirty="0">
                <a:solidFill>
                  <a:srgbClr val="0070C0"/>
                </a:solidFill>
              </a:rPr>
              <a:t> &lt;&lt; “Every age has a language of its own\n”;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 sz="2400" dirty="0">
                <a:solidFill>
                  <a:srgbClr val="0070C0"/>
                </a:solidFill>
              </a:rPr>
              <a:t>   return 0;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 sz="2400" dirty="0">
                <a:solidFill>
                  <a:srgbClr val="0070C0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Whitespace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378825" cy="4876800"/>
          </a:xfrm>
        </p:spPr>
        <p:txBody>
          <a:bodyPr>
            <a:normAutofit fontScale="92500"/>
          </a:bodyPr>
          <a:lstStyle/>
          <a:p>
            <a:pPr algn="just">
              <a:defRPr/>
            </a:pPr>
            <a:r>
              <a:rPr lang="en-US" sz="3400" dirty="0"/>
              <a:t>C++ compiler ignores whitespace almost completely. </a:t>
            </a:r>
            <a:r>
              <a:rPr lang="en-US" sz="3400" i="1" dirty="0"/>
              <a:t>Whitespace </a:t>
            </a:r>
            <a:r>
              <a:rPr lang="en-US" sz="3400" dirty="0"/>
              <a:t>is defined as spaces, carriage returns, linefeeds, tabs, etc. </a:t>
            </a:r>
          </a:p>
          <a:p>
            <a:pPr algn="just">
              <a:defRPr/>
            </a:pPr>
            <a:endParaRPr lang="en-US" sz="3400" dirty="0"/>
          </a:p>
          <a:p>
            <a:pPr algn="just">
              <a:defRPr/>
            </a:pPr>
            <a:r>
              <a:rPr lang="en-US" sz="3400" dirty="0"/>
              <a:t>These characters are invisible to the compiler. You can put several statements on one line, separated by any number of spaces or tabs, or you can run a statement over two or more lines. It’s all the same to the compiler. 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Whitespace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378825" cy="4876800"/>
          </a:xfrm>
        </p:spPr>
        <p:txBody>
          <a:bodyPr/>
          <a:lstStyle/>
          <a:p>
            <a:pPr marL="273050" lvl="1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#include &lt;iostream&gt;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using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namespace std;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int main () { cout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&lt;&lt;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“Every age has a language of its own\n”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; return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0;}</a:t>
            </a:r>
          </a:p>
          <a:p>
            <a:pPr marL="273050" lvl="1" indent="0">
              <a:buFont typeface="Arial" charset="0"/>
              <a:buNone/>
            </a:pPr>
            <a:endParaRPr lang="en-US" altLang="en-US"/>
          </a:p>
          <a:p>
            <a:pPr marL="273050" lvl="1" indent="0">
              <a:buFont typeface="Arial" charset="0"/>
              <a:buNone/>
            </a:pPr>
            <a:endParaRPr lang="en-US" altLang="en-US"/>
          </a:p>
          <a:p>
            <a:pPr marL="273050" lvl="1" indent="0">
              <a:buFont typeface="Arial" charset="0"/>
              <a:buNone/>
            </a:pPr>
            <a:r>
              <a:rPr lang="en-US" altLang="en-US" sz="2400"/>
              <a:t>But this syntax is not recommend—it’s nonstandard and hard to read—but it does compile correctly.</a:t>
            </a:r>
            <a:endParaRPr lang="en-US" altLang="en-US" sz="24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Whitespace: </a:t>
            </a:r>
            <a:r>
              <a:rPr lang="en-US" sz="3600" dirty="0"/>
              <a:t>exceptions to the rule</a:t>
            </a:r>
            <a:endParaRPr lang="en-US" sz="3600" b="1" dirty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378825" cy="4876800"/>
          </a:xfrm>
        </p:spPr>
        <p:txBody>
          <a:bodyPr/>
          <a:lstStyle/>
          <a:p>
            <a:pPr algn="just"/>
            <a:r>
              <a:rPr lang="en-US" altLang="en-US"/>
              <a:t>Following are the exceptions to whitespaces in C++</a:t>
            </a:r>
          </a:p>
          <a:p>
            <a:pPr lvl="1" algn="just"/>
            <a:endParaRPr lang="en-US" altLang="en-US"/>
          </a:p>
          <a:p>
            <a:pPr lvl="1" algn="just"/>
            <a:r>
              <a:rPr lang="en-US" altLang="en-US"/>
              <a:t>The first line of the program, starting with #include, is a preprocessor directive, which must be written on one line.</a:t>
            </a:r>
          </a:p>
          <a:p>
            <a:pPr lvl="1" algn="just"/>
            <a:endParaRPr lang="en-US" altLang="en-US"/>
          </a:p>
          <a:p>
            <a:pPr lvl="1" algn="just"/>
            <a:r>
              <a:rPr lang="en-US" altLang="en-US"/>
              <a:t>Also, string constants, such as “</a:t>
            </a:r>
            <a:r>
              <a:rPr lang="en-US" altLang="en-US" b="1"/>
              <a:t>Every age has a language of its own</a:t>
            </a:r>
            <a:r>
              <a:rPr lang="en-US" altLang="en-US"/>
              <a:t>”, cannot be broken into separate 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Output Using </a:t>
            </a:r>
            <a:r>
              <a:rPr lang="en-US" sz="3600" b="1" dirty="0" err="1"/>
              <a:t>cout</a:t>
            </a:r>
            <a:endParaRPr lang="en-US" sz="3600" b="1" dirty="0"/>
          </a:p>
        </p:txBody>
      </p:sp>
      <p:sp>
        <p:nvSpPr>
          <p:cNvPr id="1229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The identifier cout (pronounced “C out”) is actually an </a:t>
            </a:r>
            <a:r>
              <a:rPr lang="en-US" altLang="en-US" i="1"/>
              <a:t>object</a:t>
            </a:r>
            <a:r>
              <a:rPr lang="en-US" altLang="en-US"/>
              <a:t>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It is predefined in C++ to correspond to the </a:t>
            </a:r>
            <a:r>
              <a:rPr lang="en-US" altLang="en-US" i="1"/>
              <a:t>standard output stream</a:t>
            </a:r>
            <a:r>
              <a:rPr lang="en-US" altLang="en-US"/>
              <a:t>.  And a </a:t>
            </a:r>
            <a:r>
              <a:rPr lang="en-US" altLang="en-US" i="1"/>
              <a:t>stream </a:t>
            </a:r>
            <a:r>
              <a:rPr lang="en-US" altLang="en-US"/>
              <a:t>is an abstraction that refers to a flow of data.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The standard output stream normally flows to the screen display — although it can be redirected to other output devices.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The operator &lt;&lt; is called the </a:t>
            </a:r>
            <a:r>
              <a:rPr lang="en-US" altLang="en-US" i="1"/>
              <a:t>insertion </a:t>
            </a:r>
            <a:r>
              <a:rPr lang="en-US" altLang="en-US"/>
              <a:t>or </a:t>
            </a:r>
            <a:r>
              <a:rPr lang="en-US" altLang="en-US" i="1"/>
              <a:t>put to </a:t>
            </a:r>
            <a:r>
              <a:rPr lang="en-US" altLang="en-US"/>
              <a:t>operator.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Output Using </a:t>
            </a:r>
            <a:r>
              <a:rPr lang="en-US" sz="3600" b="1" dirty="0" err="1"/>
              <a:t>cout</a:t>
            </a:r>
            <a:endParaRPr lang="en-US" sz="3600" b="1" dirty="0"/>
          </a:p>
        </p:txBody>
      </p:sp>
      <p:pic>
        <p:nvPicPr>
          <p:cNvPr id="1331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133600"/>
            <a:ext cx="784225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String Constants</a:t>
            </a:r>
          </a:p>
        </p:txBody>
      </p:sp>
      <p:sp>
        <p:nvSpPr>
          <p:cNvPr id="1433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The phrase in quotation marks, “Every age has a language of its own\n”, is an example of a </a:t>
            </a:r>
            <a:r>
              <a:rPr lang="en-US" altLang="en-US" i="1"/>
              <a:t>string constant</a:t>
            </a:r>
            <a:r>
              <a:rPr lang="en-US" altLang="en-US"/>
              <a:t>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A constant, unlike a variable, cannot be given a new value as the program runs. Its value is set when the program is written, and it retains this value throughout the program’s existence.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Directives</a:t>
            </a:r>
          </a:p>
        </p:txBody>
      </p:sp>
      <p:sp>
        <p:nvSpPr>
          <p:cNvPr id="1536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The two lines that begin the FIRST program are </a:t>
            </a:r>
            <a:r>
              <a:rPr lang="en-US" altLang="en-US" i="1"/>
              <a:t>directives</a:t>
            </a:r>
            <a:r>
              <a:rPr lang="en-US" altLang="en-US"/>
              <a:t>. The first is a </a:t>
            </a:r>
            <a:r>
              <a:rPr lang="en-US" altLang="en-US" b="1" i="1">
                <a:solidFill>
                  <a:srgbClr val="0070C0"/>
                </a:solidFill>
              </a:rPr>
              <a:t>preprocessor directive</a:t>
            </a:r>
            <a:r>
              <a:rPr lang="en-US" altLang="en-US"/>
              <a:t>, and the second is a </a:t>
            </a:r>
            <a:r>
              <a:rPr lang="en-US" altLang="en-US" b="1" i="1">
                <a:solidFill>
                  <a:srgbClr val="0070C0"/>
                </a:solidFill>
              </a:rPr>
              <a:t>using directive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Directives: Preprocessor Directives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  <a:defRPr/>
            </a:pPr>
            <a:r>
              <a:rPr lang="en-US" dirty="0">
                <a:solidFill>
                  <a:srgbClr val="0070C0"/>
                </a:solidFill>
              </a:rPr>
              <a:t>#include &lt;</a:t>
            </a:r>
            <a:r>
              <a:rPr lang="en-US" dirty="0" err="1">
                <a:solidFill>
                  <a:srgbClr val="0070C0"/>
                </a:solidFill>
              </a:rPr>
              <a:t>iostream</a:t>
            </a:r>
            <a:r>
              <a:rPr lang="en-US" dirty="0">
                <a:solidFill>
                  <a:srgbClr val="0070C0"/>
                </a:solidFill>
              </a:rPr>
              <a:t>&gt; 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It isn’t part of a function body and doesn’t end with a semicolon, as program statements must. 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It’s called a </a:t>
            </a:r>
            <a:r>
              <a:rPr lang="en-US" b="1" i="1" dirty="0">
                <a:solidFill>
                  <a:srgbClr val="0070C0"/>
                </a:solidFill>
              </a:rPr>
              <a:t>preprocessor directive</a:t>
            </a:r>
            <a:r>
              <a:rPr lang="en-US" dirty="0"/>
              <a:t>. A preprocessor directive, on the other hand, is an instruction to the </a:t>
            </a:r>
            <a:r>
              <a:rPr lang="en-US" i="1" dirty="0"/>
              <a:t>compiler</a:t>
            </a:r>
            <a:r>
              <a:rPr lang="en-US" dirty="0"/>
              <a:t>.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A part of the compiler called the </a:t>
            </a:r>
            <a:r>
              <a:rPr lang="en-US" i="1" dirty="0"/>
              <a:t>preprocessor </a:t>
            </a:r>
            <a:r>
              <a:rPr lang="en-US" dirty="0"/>
              <a:t>deals with these directives before it begins the real compilation process.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Directives: Preprocessor Directives</a:t>
            </a:r>
          </a:p>
        </p:txBody>
      </p:sp>
      <p:sp>
        <p:nvSpPr>
          <p:cNvPr id="17411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76800"/>
          </a:xfrm>
        </p:spPr>
        <p:txBody>
          <a:bodyPr/>
          <a:lstStyle/>
          <a:p>
            <a:pPr algn="just"/>
            <a:r>
              <a:rPr lang="en-US" altLang="en-US"/>
              <a:t>The preprocessor directive </a:t>
            </a:r>
            <a:r>
              <a:rPr lang="en-US" altLang="en-US">
                <a:solidFill>
                  <a:srgbClr val="0070C0"/>
                </a:solidFill>
              </a:rPr>
              <a:t>#include </a:t>
            </a:r>
            <a:r>
              <a:rPr lang="en-US" altLang="en-US"/>
              <a:t>tells the compiler to insert another file into your source file.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In effect, the </a:t>
            </a:r>
            <a:r>
              <a:rPr lang="en-US" altLang="en-US">
                <a:solidFill>
                  <a:srgbClr val="0070C0"/>
                </a:solidFill>
              </a:rPr>
              <a:t>#include </a:t>
            </a:r>
            <a:r>
              <a:rPr lang="en-US" altLang="en-US"/>
              <a:t>directive is replaced by the contents of the file indicated.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Using an </a:t>
            </a:r>
            <a:r>
              <a:rPr lang="en-US" altLang="en-US">
                <a:solidFill>
                  <a:srgbClr val="0070C0"/>
                </a:solidFill>
              </a:rPr>
              <a:t>#include </a:t>
            </a:r>
            <a:r>
              <a:rPr lang="en-US" altLang="en-US"/>
              <a:t>directive to insert another file into your source file is similar to pasting a block of text into a document with your word processor.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Directives: Header Files</a:t>
            </a:r>
          </a:p>
        </p:txBody>
      </p:sp>
      <p:sp>
        <p:nvSpPr>
          <p:cNvPr id="18435" name="Content Placeholder 3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4876800"/>
          </a:xfrm>
        </p:spPr>
        <p:txBody>
          <a:bodyPr/>
          <a:lstStyle/>
          <a:p>
            <a:pPr algn="just"/>
            <a:r>
              <a:rPr lang="en-US" altLang="en-US" sz="2200"/>
              <a:t>IOSTREAM is an example of a </a:t>
            </a:r>
            <a:r>
              <a:rPr lang="en-US" altLang="en-US" sz="2200" i="1"/>
              <a:t>header file </a:t>
            </a:r>
            <a:r>
              <a:rPr lang="en-US" altLang="en-US" sz="2200"/>
              <a:t>(sometimes called an </a:t>
            </a:r>
            <a:r>
              <a:rPr lang="en-US" altLang="en-US" sz="2200" i="1"/>
              <a:t>include file</a:t>
            </a:r>
            <a:r>
              <a:rPr lang="en-US" altLang="en-US" sz="2200"/>
              <a:t>). </a:t>
            </a:r>
          </a:p>
          <a:p>
            <a:pPr algn="just"/>
            <a:endParaRPr lang="en-US" altLang="en-US" sz="2200"/>
          </a:p>
          <a:p>
            <a:pPr algn="just"/>
            <a:r>
              <a:rPr lang="en-US" altLang="en-US" sz="2200"/>
              <a:t>It’s concerned with basic input/output operations, and contains declarations that are needed by the cout identifier and the &lt;&lt; operator.</a:t>
            </a:r>
          </a:p>
          <a:p>
            <a:pPr algn="just"/>
            <a:endParaRPr lang="en-US" altLang="en-US" sz="2200"/>
          </a:p>
          <a:p>
            <a:pPr algn="just"/>
            <a:r>
              <a:rPr lang="en-US" altLang="en-US" sz="2200"/>
              <a:t>Without these declarations, the compiler won’t recognize cout and will think &lt;&lt; is being used incorrectly. </a:t>
            </a:r>
          </a:p>
          <a:p>
            <a:pPr algn="just"/>
            <a:endParaRPr lang="en-US" altLang="en-US" sz="2200"/>
          </a:p>
          <a:p>
            <a:pPr algn="just"/>
            <a:r>
              <a:rPr lang="en-US" altLang="en-US" sz="2200"/>
              <a:t>There are many such include files. The newer Standard C++ header files don’t have a file extension, but some older header files, left over from the days of the C language, have the extension .H.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Directives: The using Directive</a:t>
            </a:r>
          </a:p>
        </p:txBody>
      </p:sp>
      <p:sp>
        <p:nvSpPr>
          <p:cNvPr id="19459" name="Content Placeholder 3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4876800"/>
          </a:xfrm>
        </p:spPr>
        <p:txBody>
          <a:bodyPr/>
          <a:lstStyle/>
          <a:p>
            <a:pPr algn="just"/>
            <a:r>
              <a:rPr lang="en-US" altLang="en-US"/>
              <a:t>A C++ program can be divided into different </a:t>
            </a:r>
            <a:r>
              <a:rPr lang="en-US" altLang="en-US" i="1"/>
              <a:t>namespaces</a:t>
            </a:r>
            <a:r>
              <a:rPr lang="en-US" altLang="en-US"/>
              <a:t>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A namespace is a part of the program in which certain names are recognized; outside of the namespace they’re unknown.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The directive </a:t>
            </a:r>
            <a:r>
              <a:rPr lang="en-US" altLang="en-US" b="1">
                <a:solidFill>
                  <a:srgbClr val="0070C0"/>
                </a:solidFill>
              </a:rPr>
              <a:t>using namespace std </a:t>
            </a:r>
            <a:r>
              <a:rPr lang="en-US" altLang="en-US"/>
              <a:t>says that all the program statements that follow are within the std namespace.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Directives: The using Directive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4876800"/>
          </a:xfrm>
        </p:spPr>
        <p:txBody>
          <a:bodyPr/>
          <a:lstStyle/>
          <a:p>
            <a:pPr>
              <a:defRPr/>
            </a:pPr>
            <a:r>
              <a:rPr lang="en-US" dirty="0"/>
              <a:t>If we didn’t use the using directive, we would need to add the </a:t>
            </a:r>
            <a:r>
              <a:rPr lang="en-US" dirty="0" err="1"/>
              <a:t>std</a:t>
            </a:r>
            <a:r>
              <a:rPr lang="en-US" dirty="0"/>
              <a:t> name to many program elements. For example, in the FIRST program we’d need to say</a:t>
            </a:r>
          </a:p>
          <a:p>
            <a:pPr>
              <a:defRPr/>
            </a:pPr>
            <a:endParaRPr lang="en-US" dirty="0"/>
          </a:p>
          <a:p>
            <a:pPr marL="0" indent="0">
              <a:buFont typeface="Arial" charset="0"/>
              <a:buNone/>
              <a:defRPr/>
            </a:pPr>
            <a:r>
              <a:rPr lang="en-US" dirty="0">
                <a:solidFill>
                  <a:srgbClr val="0070C0"/>
                </a:solidFill>
              </a:rPr>
              <a:t>  </a:t>
            </a:r>
            <a:r>
              <a:rPr lang="en-US" dirty="0" err="1">
                <a:solidFill>
                  <a:srgbClr val="0070C0"/>
                </a:solidFill>
              </a:rPr>
              <a:t>std</a:t>
            </a:r>
            <a:r>
              <a:rPr lang="en-US" dirty="0">
                <a:solidFill>
                  <a:srgbClr val="0070C0"/>
                </a:solidFill>
              </a:rPr>
              <a:t>::</a:t>
            </a:r>
            <a:r>
              <a:rPr lang="en-US" dirty="0" err="1">
                <a:solidFill>
                  <a:srgbClr val="0070C0"/>
                </a:solidFill>
              </a:rPr>
              <a:t>cout</a:t>
            </a:r>
            <a:r>
              <a:rPr lang="en-US" dirty="0">
                <a:solidFill>
                  <a:srgbClr val="0070C0"/>
                </a:solidFill>
              </a:rPr>
              <a:t> &lt;&lt; “Every age has a language of its own.”;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Comments</a:t>
            </a:r>
          </a:p>
        </p:txBody>
      </p:sp>
      <p:sp>
        <p:nvSpPr>
          <p:cNvPr id="21507" name="Content Placeholder 3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4876800"/>
          </a:xfrm>
        </p:spPr>
        <p:txBody>
          <a:bodyPr/>
          <a:lstStyle/>
          <a:p>
            <a:pPr algn="just"/>
            <a:r>
              <a:rPr lang="en-US" altLang="en-US"/>
              <a:t>Comments are an important part of any program. They help the person writing a program, and anyone else who must read the source file, understand what’s going on.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The compiler ignores comments, so they do not add to the file size or execution time of the executable program.</a:t>
            </a:r>
          </a:p>
          <a:p>
            <a:pPr algn="just"/>
            <a:endParaRPr lang="en-US" altLang="en-US">
              <a:solidFill>
                <a:srgbClr val="0070C0"/>
              </a:solidFill>
            </a:endParaRPr>
          </a:p>
          <a:p>
            <a:pPr algn="just"/>
            <a:r>
              <a:rPr lang="en-US" altLang="en-US"/>
              <a:t>Comments start with a double slash symbol (//) and terminate at the end of the line.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A comment can start at the beginning of the line or on the same line following a program statement. </a:t>
            </a:r>
            <a:endParaRPr lang="en-US" altLang="en-US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Comments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447800"/>
            <a:ext cx="8458200" cy="5029200"/>
          </a:xfrm>
        </p:spPr>
        <p:txBody>
          <a:bodyPr/>
          <a:lstStyle/>
          <a:p>
            <a:pPr>
              <a:defRPr/>
            </a:pPr>
            <a:r>
              <a:rPr lang="en-US" dirty="0"/>
              <a:t>COMMENTS an example</a:t>
            </a:r>
          </a:p>
          <a:p>
            <a:pPr>
              <a:defRPr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Font typeface="Arial" charset="0"/>
              <a:buNone/>
              <a:defRPr/>
            </a:pPr>
            <a:r>
              <a:rPr lang="en-US" dirty="0">
                <a:solidFill>
                  <a:srgbClr val="0070C0"/>
                </a:solidFill>
              </a:rPr>
              <a:t>// this </a:t>
            </a:r>
            <a:r>
              <a:rPr lang="en-US" dirty="0" err="1">
                <a:solidFill>
                  <a:srgbClr val="0070C0"/>
                </a:solidFill>
              </a:rPr>
              <a:t>prog</a:t>
            </a:r>
            <a:r>
              <a:rPr lang="en-US" dirty="0">
                <a:solidFill>
                  <a:srgbClr val="0070C0"/>
                </a:solidFill>
              </a:rPr>
              <a:t> demonstrates comments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>
                <a:solidFill>
                  <a:srgbClr val="0070C0"/>
                </a:solidFill>
              </a:rPr>
              <a:t>#include &lt;</a:t>
            </a:r>
            <a:r>
              <a:rPr lang="en-US" dirty="0" err="1">
                <a:solidFill>
                  <a:srgbClr val="0070C0"/>
                </a:solidFill>
              </a:rPr>
              <a:t>iostream</a:t>
            </a:r>
            <a:r>
              <a:rPr lang="en-US" dirty="0">
                <a:solidFill>
                  <a:srgbClr val="0070C0"/>
                </a:solidFill>
              </a:rPr>
              <a:t>&gt; 	</a:t>
            </a:r>
            <a:r>
              <a:rPr lang="en-US" dirty="0"/>
              <a:t>// preprocessor directive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>
                <a:solidFill>
                  <a:srgbClr val="0070C0"/>
                </a:solidFill>
              </a:rPr>
              <a:t>using namespace </a:t>
            </a:r>
            <a:r>
              <a:rPr lang="en-US" dirty="0" err="1">
                <a:solidFill>
                  <a:srgbClr val="0070C0"/>
                </a:solidFill>
              </a:rPr>
              <a:t>std</a:t>
            </a:r>
            <a:r>
              <a:rPr lang="en-US" dirty="0">
                <a:solidFill>
                  <a:srgbClr val="0070C0"/>
                </a:solidFill>
              </a:rPr>
              <a:t>; 	</a:t>
            </a:r>
            <a:r>
              <a:rPr lang="en-US" dirty="0"/>
              <a:t>// using directive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 err="1">
                <a:solidFill>
                  <a:srgbClr val="0070C0"/>
                </a:solidFill>
              </a:rPr>
              <a:t>int</a:t>
            </a:r>
            <a:r>
              <a:rPr lang="en-US" dirty="0">
                <a:solidFill>
                  <a:srgbClr val="0070C0"/>
                </a:solidFill>
              </a:rPr>
              <a:t> main() 			</a:t>
            </a:r>
            <a:r>
              <a:rPr lang="en-US" dirty="0"/>
              <a:t>//function name “main”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>
                <a:solidFill>
                  <a:srgbClr val="0070C0"/>
                </a:solidFill>
              </a:rPr>
              <a:t>{ 				</a:t>
            </a:r>
            <a:r>
              <a:rPr lang="en-US" dirty="0"/>
              <a:t>//start function body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>
                <a:solidFill>
                  <a:srgbClr val="0070C0"/>
                </a:solidFill>
              </a:rPr>
              <a:t>   </a:t>
            </a:r>
            <a:r>
              <a:rPr lang="en-US" dirty="0" err="1">
                <a:solidFill>
                  <a:srgbClr val="0070C0"/>
                </a:solidFill>
              </a:rPr>
              <a:t>cout</a:t>
            </a:r>
            <a:r>
              <a:rPr lang="en-US" dirty="0">
                <a:solidFill>
                  <a:srgbClr val="0070C0"/>
                </a:solidFill>
              </a:rPr>
              <a:t> &lt;&lt; “Every age has a language of its own\n”;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>
                <a:solidFill>
                  <a:srgbClr val="0070C0"/>
                </a:solidFill>
              </a:rPr>
              <a:t>   return 0;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>
                <a:solidFill>
                  <a:srgbClr val="0070C0"/>
                </a:solidFill>
              </a:rPr>
              <a:t>} </a:t>
            </a:r>
            <a:r>
              <a:rPr lang="en-US" dirty="0"/>
              <a:t>//end function body</a:t>
            </a:r>
          </a:p>
          <a:p>
            <a:pPr algn="just">
              <a:defRPr/>
            </a:pP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Comments: Alternative Syntax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029200"/>
          </a:xfrm>
        </p:spPr>
        <p:txBody>
          <a:bodyPr/>
          <a:lstStyle/>
          <a:p>
            <a:pPr algn="just">
              <a:defRPr/>
            </a:pPr>
            <a:r>
              <a:rPr lang="en-US" dirty="0"/>
              <a:t>There’s a second comment style available in C++</a:t>
            </a:r>
          </a:p>
          <a:p>
            <a:pPr marL="0" indent="0" algn="just">
              <a:buFont typeface="Arial" charset="0"/>
              <a:buNone/>
              <a:defRPr/>
            </a:pPr>
            <a:r>
              <a:rPr lang="en-US" dirty="0">
                <a:solidFill>
                  <a:srgbClr val="0070C0"/>
                </a:solidFill>
              </a:rPr>
              <a:t>/* this is an old-style comment */</a:t>
            </a:r>
          </a:p>
          <a:p>
            <a:pPr marL="0" indent="0" algn="just">
              <a:buFont typeface="Arial" charset="0"/>
              <a:buNone/>
              <a:defRPr/>
            </a:pPr>
            <a:endParaRPr lang="en-US" dirty="0">
              <a:solidFill>
                <a:srgbClr val="0070C0"/>
              </a:solidFill>
            </a:endParaRPr>
          </a:p>
          <a:p>
            <a:pPr algn="just">
              <a:defRPr/>
            </a:pPr>
            <a:r>
              <a:rPr lang="en-US" dirty="0"/>
              <a:t>A programmer can write a multiline comment with only two comment symbols</a:t>
            </a:r>
          </a:p>
          <a:p>
            <a:pPr marL="0" indent="0" algn="just">
              <a:buFont typeface="Arial" charset="0"/>
              <a:buNone/>
              <a:defRPr/>
            </a:pPr>
            <a:r>
              <a:rPr lang="en-US" dirty="0">
                <a:solidFill>
                  <a:srgbClr val="0070C0"/>
                </a:solidFill>
              </a:rPr>
              <a:t>/* this</a:t>
            </a:r>
          </a:p>
          <a:p>
            <a:pPr marL="0" indent="0" algn="just">
              <a:buFont typeface="Arial" charset="0"/>
              <a:buNone/>
              <a:defRPr/>
            </a:pPr>
            <a:r>
              <a:rPr lang="en-US" dirty="0">
                <a:solidFill>
                  <a:srgbClr val="0070C0"/>
                </a:solidFill>
              </a:rPr>
              <a:t>is a</a:t>
            </a:r>
          </a:p>
          <a:p>
            <a:pPr marL="0" indent="0" algn="just">
              <a:buFont typeface="Arial" charset="0"/>
              <a:buNone/>
              <a:defRPr/>
            </a:pPr>
            <a:r>
              <a:rPr lang="en-US" dirty="0">
                <a:solidFill>
                  <a:srgbClr val="0070C0"/>
                </a:solidFill>
              </a:rPr>
              <a:t>potentially</a:t>
            </a:r>
          </a:p>
          <a:p>
            <a:pPr marL="0" indent="0" algn="just">
              <a:buFont typeface="Arial" charset="0"/>
              <a:buNone/>
              <a:defRPr/>
            </a:pPr>
            <a:r>
              <a:rPr lang="en-US" dirty="0">
                <a:solidFill>
                  <a:srgbClr val="0070C0"/>
                </a:solidFill>
              </a:rPr>
              <a:t>very long</a:t>
            </a:r>
          </a:p>
          <a:p>
            <a:pPr marL="0" indent="0" algn="just">
              <a:buFont typeface="Arial" charset="0"/>
              <a:buNone/>
              <a:defRPr/>
            </a:pPr>
            <a:r>
              <a:rPr lang="en-US" dirty="0">
                <a:solidFill>
                  <a:srgbClr val="0070C0"/>
                </a:solidFill>
              </a:rPr>
              <a:t>multiline</a:t>
            </a:r>
          </a:p>
          <a:p>
            <a:pPr marL="0" indent="0" algn="just">
              <a:buFont typeface="Arial" charset="0"/>
              <a:buNone/>
              <a:defRPr/>
            </a:pPr>
            <a:r>
              <a:rPr lang="en-US" dirty="0">
                <a:solidFill>
                  <a:srgbClr val="0070C0"/>
                </a:solidFill>
              </a:rPr>
              <a:t>comment</a:t>
            </a:r>
          </a:p>
          <a:p>
            <a:pPr marL="0" indent="0" algn="just">
              <a:buFont typeface="Arial" charset="0"/>
              <a:buNone/>
              <a:defRPr/>
            </a:pPr>
            <a:r>
              <a:rPr lang="en-US" dirty="0">
                <a:solidFill>
                  <a:srgbClr val="0070C0"/>
                </a:solidFill>
              </a:rPr>
              <a:t>*/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Special Symbols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876800"/>
          </a:xfrm>
        </p:spPr>
        <p:txBody>
          <a:bodyPr/>
          <a:lstStyle/>
          <a:p>
            <a:pPr algn="just"/>
            <a:r>
              <a:rPr lang="en-US" altLang="en-US"/>
              <a:t>The smallest individual unit of a program written in any language is called a token.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C++’s tokens are divided into </a:t>
            </a:r>
            <a:r>
              <a:rPr lang="en-US" altLang="en-US">
                <a:solidFill>
                  <a:srgbClr val="0070C0"/>
                </a:solidFill>
              </a:rPr>
              <a:t>special symbols</a:t>
            </a:r>
            <a:r>
              <a:rPr lang="en-US" altLang="en-US"/>
              <a:t>, </a:t>
            </a:r>
            <a:r>
              <a:rPr lang="en-US" altLang="en-US">
                <a:solidFill>
                  <a:srgbClr val="0070C0"/>
                </a:solidFill>
              </a:rPr>
              <a:t>keyword symbols</a:t>
            </a:r>
            <a:r>
              <a:rPr lang="en-US" altLang="en-US"/>
              <a:t>, and </a:t>
            </a:r>
            <a:r>
              <a:rPr lang="en-US" altLang="en-US">
                <a:solidFill>
                  <a:srgbClr val="0070C0"/>
                </a:solidFill>
              </a:rPr>
              <a:t>identifiers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Special Symbols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876800"/>
          </a:xfrm>
        </p:spPr>
        <p:txBody>
          <a:bodyPr/>
          <a:lstStyle/>
          <a:p>
            <a:pPr algn="just"/>
            <a:r>
              <a:rPr lang="en-US" altLang="en-US"/>
              <a:t>Following are some of the special symbols:</a:t>
            </a:r>
          </a:p>
          <a:p>
            <a:pPr algn="just"/>
            <a:endParaRPr lang="en-US" altLang="en-US"/>
          </a:p>
          <a:p>
            <a:pPr algn="just"/>
            <a:endParaRPr lang="en-US" altLang="en-US"/>
          </a:p>
          <a:p>
            <a:pPr algn="just"/>
            <a:endParaRPr lang="en-US" altLang="en-US"/>
          </a:p>
          <a:p>
            <a:pPr algn="just"/>
            <a:endParaRPr lang="en-US" altLang="en-US"/>
          </a:p>
          <a:p>
            <a:pPr algn="just"/>
            <a:endParaRPr lang="en-US" altLang="en-US"/>
          </a:p>
          <a:p>
            <a:pPr algn="just"/>
            <a:endParaRPr lang="en-US" altLang="en-US"/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Note that a blank, which is not shown above, is also a special symbol. You can create a blank symbol by pressing the space bar (only once) on the keyboard.</a:t>
            </a:r>
          </a:p>
          <a:p>
            <a:pPr algn="just"/>
            <a:endParaRPr lang="en-US" altLang="en-US"/>
          </a:p>
          <a:p>
            <a:pPr algn="just"/>
            <a:endParaRPr lang="en-US" altLang="en-US"/>
          </a:p>
        </p:txBody>
      </p:sp>
      <p:pic>
        <p:nvPicPr>
          <p:cNvPr id="2560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2590800"/>
            <a:ext cx="4876800" cy="160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Reserved Words (Keywords)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dirty="0"/>
              <a:t>Keyword symbols cannot be redefined within any program; that is, they cannot be used for anything other than their intended use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Some of the word symbols include the following:</a:t>
            </a:r>
          </a:p>
          <a:p>
            <a:pPr algn="just">
              <a:defRPr/>
            </a:pPr>
            <a:endParaRPr lang="en-US" dirty="0"/>
          </a:p>
          <a:p>
            <a:pPr marL="0" indent="0" algn="ctr">
              <a:buFont typeface="Arial" charset="0"/>
              <a:buNone/>
              <a:defRPr/>
            </a:pPr>
            <a:r>
              <a:rPr lang="en-US" dirty="0" err="1">
                <a:solidFill>
                  <a:srgbClr val="0070C0"/>
                </a:solidFill>
              </a:rPr>
              <a:t>int</a:t>
            </a:r>
            <a:r>
              <a:rPr lang="en-US" dirty="0">
                <a:solidFill>
                  <a:srgbClr val="0070C0"/>
                </a:solidFill>
              </a:rPr>
              <a:t>, float, double, char, </a:t>
            </a:r>
            <a:r>
              <a:rPr lang="en-US" dirty="0" err="1">
                <a:solidFill>
                  <a:srgbClr val="0070C0"/>
                </a:solidFill>
              </a:rPr>
              <a:t>const</a:t>
            </a:r>
            <a:r>
              <a:rPr lang="en-US" dirty="0">
                <a:solidFill>
                  <a:srgbClr val="0070C0"/>
                </a:solidFill>
              </a:rPr>
              <a:t>, void, return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Reserved words are also called keywords. The letters that make up a reserved word are always lowercase.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Reserved Words (Keywords)</a:t>
            </a:r>
          </a:p>
        </p:txBody>
      </p:sp>
      <p:pic>
        <p:nvPicPr>
          <p:cNvPr id="2765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447800"/>
            <a:ext cx="80010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Identifier/variables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Identifiers are names of things that appear in programs, such as variables, constants, and functions.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All identifiers must obey C++’s rules for identifiers.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A C++ identifier consists of letters, digits, and the underscore character ( _ ) and must begin with a letter or underscore.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200" b="1" dirty="0"/>
              <a:t>Rules For Naming Variables</a:t>
            </a:r>
            <a:endParaRPr lang="en-US" sz="3200" dirty="0"/>
          </a:p>
        </p:txBody>
      </p:sp>
      <p:sp>
        <p:nvSpPr>
          <p:cNvPr id="29699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029200"/>
          </a:xfrm>
        </p:spPr>
        <p:txBody>
          <a:bodyPr/>
          <a:lstStyle/>
          <a:p>
            <a:pPr marL="457200" indent="-457200" algn="just">
              <a:buFont typeface="Arial" charset="0"/>
              <a:buAutoNum type="arabicPeriod"/>
            </a:pPr>
            <a:r>
              <a:rPr lang="en-US" altLang="en-US" dirty="0"/>
              <a:t>Variable names must begin with a letter.</a:t>
            </a:r>
          </a:p>
          <a:p>
            <a:pPr marL="457200" indent="-457200" algn="just">
              <a:buFont typeface="Arial" charset="0"/>
              <a:buAutoNum type="arabicPeriod"/>
            </a:pPr>
            <a:r>
              <a:rPr lang="en-US" altLang="en-US" dirty="0"/>
              <a:t>Variable names can contain letters, numbers and the underscore.</a:t>
            </a:r>
          </a:p>
          <a:p>
            <a:pPr marL="457200" indent="-457200" algn="just">
              <a:buFont typeface="Arial" charset="0"/>
              <a:buAutoNum type="arabicPeriod"/>
            </a:pPr>
            <a:r>
              <a:rPr lang="en-US" altLang="en-US" dirty="0"/>
              <a:t>Variable names CANNOT CONTAIN SPACES</a:t>
            </a:r>
          </a:p>
          <a:p>
            <a:pPr marL="457200" indent="-457200" algn="just">
              <a:buFont typeface="Arial" charset="0"/>
              <a:buAutoNum type="arabicPeriod"/>
            </a:pPr>
            <a:r>
              <a:rPr lang="en-US" altLang="en-US" dirty="0"/>
              <a:t>Variable names must be less than 255 characters</a:t>
            </a:r>
          </a:p>
          <a:p>
            <a:pPr marL="457200" indent="-457200" algn="just">
              <a:buFont typeface="Arial" charset="0"/>
              <a:buAutoNum type="arabicPeriod"/>
            </a:pPr>
            <a:r>
              <a:rPr lang="en-US" altLang="en-US" dirty="0"/>
              <a:t>Variable name cannot be a reserved word</a:t>
            </a:r>
          </a:p>
          <a:p>
            <a:pPr marL="457200" indent="-457200" algn="just">
              <a:buFont typeface="Arial" charset="0"/>
              <a:buAutoNum type="arabicPeriod"/>
            </a:pPr>
            <a:r>
              <a:rPr lang="en-US" altLang="en-US" dirty="0"/>
              <a:t>Variable names CANNOT CONTAIN Special </a:t>
            </a:r>
            <a:r>
              <a:rPr lang="en-US" altLang="en-US" dirty="0" err="1"/>
              <a:t>Chracters</a:t>
            </a:r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Rules For Naming Variables</a:t>
            </a:r>
            <a:endParaRPr lang="en-US" dirty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C++ is case sensitive—uppercase and lowercase letters are considered different.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Thus, the identifier </a:t>
            </a:r>
            <a:r>
              <a:rPr lang="en-US" altLang="en-US">
                <a:solidFill>
                  <a:srgbClr val="0070C0"/>
                </a:solidFill>
              </a:rPr>
              <a:t>NUMBER</a:t>
            </a:r>
            <a:r>
              <a:rPr lang="en-US" altLang="en-US"/>
              <a:t> is not the same as the identifier </a:t>
            </a:r>
            <a:r>
              <a:rPr lang="en-US" altLang="en-US">
                <a:solidFill>
                  <a:srgbClr val="0070C0"/>
                </a:solidFill>
              </a:rPr>
              <a:t>number</a:t>
            </a:r>
            <a:r>
              <a:rPr lang="en-US" altLang="en-US"/>
              <a:t>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Similarly, the identifiers </a:t>
            </a:r>
            <a:r>
              <a:rPr lang="en-US" altLang="en-US">
                <a:solidFill>
                  <a:srgbClr val="0070C0"/>
                </a:solidFill>
              </a:rPr>
              <a:t>X</a:t>
            </a:r>
            <a:r>
              <a:rPr lang="en-US" altLang="en-US"/>
              <a:t> and </a:t>
            </a:r>
            <a:r>
              <a:rPr lang="en-US" altLang="en-US">
                <a:solidFill>
                  <a:srgbClr val="0070C0"/>
                </a:solidFill>
              </a:rPr>
              <a:t>x</a:t>
            </a:r>
            <a:r>
              <a:rPr lang="en-US" altLang="en-US"/>
              <a:t> are different.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Rules For Naming Variables</a:t>
            </a:r>
            <a:endParaRPr lang="en-US" dirty="0"/>
          </a:p>
        </p:txBody>
      </p:sp>
      <p:pic>
        <p:nvPicPr>
          <p:cNvPr id="3174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209800"/>
            <a:ext cx="8442325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DATA Type: Integer</a:t>
            </a:r>
          </a:p>
        </p:txBody>
      </p:sp>
      <p:sp>
        <p:nvSpPr>
          <p:cNvPr id="32771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029200"/>
          </a:xfrm>
        </p:spPr>
        <p:txBody>
          <a:bodyPr/>
          <a:lstStyle/>
          <a:p>
            <a:r>
              <a:rPr lang="en-US" altLang="en-US"/>
              <a:t>Variables are the most fundamental part of any language. A variable has a symbolic name and can be given a variety of values. </a:t>
            </a:r>
          </a:p>
          <a:p>
            <a:endParaRPr lang="en-US" altLang="en-US"/>
          </a:p>
          <a:p>
            <a:r>
              <a:rPr lang="en-US" altLang="en-US"/>
              <a:t>Variables are located in particular places in the computer’s memory.</a:t>
            </a:r>
          </a:p>
          <a:p>
            <a:endParaRPr lang="en-US" altLang="en-US">
              <a:solidFill>
                <a:srgbClr val="0070C0"/>
              </a:solidFill>
            </a:endParaRPr>
          </a:p>
          <a:p>
            <a:r>
              <a:rPr lang="en-US" altLang="en-US"/>
              <a:t>Integer variables represent integer numbers like 1, 30,000, and –27.</a:t>
            </a:r>
            <a:endParaRPr lang="en-US" altLang="en-US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Defining Integer Variables</a:t>
            </a:r>
          </a:p>
        </p:txBody>
      </p:sp>
      <p:sp>
        <p:nvSpPr>
          <p:cNvPr id="33795" name="Content Placeholder 3"/>
          <p:cNvSpPr>
            <a:spLocks noGrp="1"/>
          </p:cNvSpPr>
          <p:nvPr>
            <p:ph idx="1"/>
          </p:nvPr>
        </p:nvSpPr>
        <p:spPr>
          <a:xfrm>
            <a:off x="457200" y="1447800"/>
            <a:ext cx="8458200" cy="5029200"/>
          </a:xfrm>
        </p:spPr>
        <p:txBody>
          <a:bodyPr/>
          <a:lstStyle/>
          <a:p>
            <a:pPr algn="just"/>
            <a:r>
              <a:rPr lang="en-US" altLang="en-US">
                <a:solidFill>
                  <a:srgbClr val="0070C0"/>
                </a:solidFill>
              </a:rPr>
              <a:t>Integer</a:t>
            </a:r>
            <a:r>
              <a:rPr lang="en-US" altLang="en-US"/>
              <a:t> variables exist in several sizes, but the most commonly used is type int.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The amount of memory occupied by the integer types is system dependent. On a 32-bit system such as Windows, an </a:t>
            </a:r>
            <a:r>
              <a:rPr lang="en-US" altLang="en-US">
                <a:solidFill>
                  <a:srgbClr val="0070C0"/>
                </a:solidFill>
              </a:rPr>
              <a:t>int </a:t>
            </a:r>
            <a:r>
              <a:rPr lang="en-US" altLang="en-US"/>
              <a:t>occupies 4 bytes (which is 32 bits) of memory.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This allows an int to hold numbers in the range from –2,147,483,648    to    2,147,483,647.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It occupied only 2 bytes in MS-DOS and earlier versions of Windows. </a:t>
            </a:r>
            <a:endParaRPr lang="en-US" altLang="en-US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Defining Integer Variables</a:t>
            </a:r>
          </a:p>
        </p:txBody>
      </p:sp>
      <p:pic>
        <p:nvPicPr>
          <p:cNvPr id="3481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8475" y="1447800"/>
            <a:ext cx="5468938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Declarations and Initialization</a:t>
            </a:r>
          </a:p>
        </p:txBody>
      </p:sp>
      <p:sp>
        <p:nvSpPr>
          <p:cNvPr id="35843" name="Content Placeholder 3"/>
          <p:cNvSpPr>
            <a:spLocks noGrp="1"/>
          </p:cNvSpPr>
          <p:nvPr>
            <p:ph idx="1"/>
          </p:nvPr>
        </p:nvSpPr>
        <p:spPr>
          <a:xfrm>
            <a:off x="457200" y="1447800"/>
            <a:ext cx="8458200" cy="5029200"/>
          </a:xfrm>
        </p:spPr>
        <p:txBody>
          <a:bodyPr/>
          <a:lstStyle/>
          <a:p>
            <a:pPr algn="just"/>
            <a:r>
              <a:rPr lang="en-US" altLang="en-US"/>
              <a:t>To declare a variable you must supply a valid variable name, a datatype and a semicolon.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You may also assign a value at this time, this is called initialization. </a:t>
            </a:r>
          </a:p>
          <a:p>
            <a:pPr algn="just"/>
            <a:endParaRPr lang="en-US" altLang="en-US"/>
          </a:p>
          <a:p>
            <a:endParaRPr lang="en-US" altLang="en-US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Declarations and Initialization</a:t>
            </a:r>
          </a:p>
        </p:txBody>
      </p:sp>
      <p:sp>
        <p:nvSpPr>
          <p:cNvPr id="36867" name="Content Placeholder 3"/>
          <p:cNvSpPr>
            <a:spLocks noGrp="1"/>
          </p:cNvSpPr>
          <p:nvPr>
            <p:ph idx="1"/>
          </p:nvPr>
        </p:nvSpPr>
        <p:spPr>
          <a:xfrm>
            <a:off x="457200" y="1447800"/>
            <a:ext cx="8458200" cy="5029200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#include &lt;iostream&gt;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using namespace std;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int main()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{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  int var1; 			</a:t>
            </a:r>
            <a:r>
              <a:rPr lang="en-US" altLang="en-US"/>
              <a:t>//define var1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  int var2; 			</a:t>
            </a:r>
            <a:r>
              <a:rPr lang="en-US" altLang="en-US"/>
              <a:t>//define var2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  var1 = 20; 			</a:t>
            </a:r>
            <a:r>
              <a:rPr lang="en-US" altLang="en-US"/>
              <a:t>//assign value to var1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  var2 = var1 + 10; 		</a:t>
            </a:r>
            <a:r>
              <a:rPr lang="en-US" altLang="en-US"/>
              <a:t>//assign value to var2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  cout &lt;&lt; “var1+10 is “; 	</a:t>
            </a:r>
            <a:r>
              <a:rPr lang="en-US" altLang="en-US"/>
              <a:t>//output text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  cout &lt;&lt; var2 &lt;&lt; endl; 	</a:t>
            </a:r>
            <a:r>
              <a:rPr lang="en-US" altLang="en-US"/>
              <a:t>//output value of var2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  return 0;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Other Integer Types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533400" y="1600200"/>
          <a:ext cx="8153400" cy="392430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43">
                <a:tc>
                  <a:txBody>
                    <a:bodyPr/>
                    <a:lstStyle/>
                    <a:p>
                      <a:pPr algn="r"/>
                      <a:r>
                        <a:rPr lang="en-US" sz="1700" dirty="0" err="1">
                          <a:effectLst/>
                        </a:rPr>
                        <a:t>int</a:t>
                      </a:r>
                      <a:endParaRPr lang="en-US" sz="1700" dirty="0">
                        <a:effectLst/>
                      </a:endParaRP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effectLst/>
                        </a:rPr>
                        <a:t>4bytes</a:t>
                      </a: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>
                          <a:effectLst/>
                        </a:rPr>
                        <a:t>-2147483648 to 2147483647</a:t>
                      </a: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688">
                <a:tc>
                  <a:txBody>
                    <a:bodyPr/>
                    <a:lstStyle/>
                    <a:p>
                      <a:pPr algn="r"/>
                      <a:r>
                        <a:rPr lang="en-US" sz="1700" dirty="0">
                          <a:effectLst/>
                        </a:rPr>
                        <a:t>unsigned </a:t>
                      </a:r>
                      <a:r>
                        <a:rPr lang="en-US" sz="1700" dirty="0" err="1">
                          <a:effectLst/>
                        </a:rPr>
                        <a:t>int</a:t>
                      </a:r>
                      <a:endParaRPr lang="en-US" sz="1700" dirty="0">
                        <a:effectLst/>
                      </a:endParaRP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effectLst/>
                        </a:rPr>
                        <a:t>4bytes</a:t>
                      </a: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>
                          <a:effectLst/>
                        </a:rPr>
                        <a:t>0 to 4294967295</a:t>
                      </a: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250">
                <a:tc>
                  <a:txBody>
                    <a:bodyPr/>
                    <a:lstStyle/>
                    <a:p>
                      <a:pPr algn="r"/>
                      <a:r>
                        <a:rPr lang="en-US" sz="1700" dirty="0">
                          <a:effectLst/>
                        </a:rPr>
                        <a:t>short </a:t>
                      </a:r>
                      <a:r>
                        <a:rPr lang="en-US" sz="1700" dirty="0" err="1">
                          <a:effectLst/>
                        </a:rPr>
                        <a:t>int</a:t>
                      </a:r>
                      <a:endParaRPr lang="en-US" sz="1700" dirty="0">
                        <a:effectLst/>
                      </a:endParaRP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effectLst/>
                        </a:rPr>
                        <a:t>2bytes</a:t>
                      </a: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>
                          <a:effectLst/>
                        </a:rPr>
                        <a:t>-32768 to 32767</a:t>
                      </a: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688">
                <a:tc>
                  <a:txBody>
                    <a:bodyPr/>
                    <a:lstStyle/>
                    <a:p>
                      <a:pPr algn="r"/>
                      <a:r>
                        <a:rPr lang="en-US" sz="1700" dirty="0">
                          <a:effectLst/>
                        </a:rPr>
                        <a:t>unsigned short </a:t>
                      </a:r>
                      <a:r>
                        <a:rPr lang="en-US" sz="1700" dirty="0" err="1">
                          <a:effectLst/>
                        </a:rPr>
                        <a:t>int</a:t>
                      </a:r>
                      <a:endParaRPr lang="en-US" sz="1700" dirty="0">
                        <a:effectLst/>
                      </a:endParaRP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effectLst/>
                        </a:rPr>
                        <a:t>Range</a:t>
                      </a: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>
                          <a:effectLst/>
                        </a:rPr>
                        <a:t>0 to 65,535</a:t>
                      </a: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751">
                <a:tc>
                  <a:txBody>
                    <a:bodyPr/>
                    <a:lstStyle/>
                    <a:p>
                      <a:pPr algn="r"/>
                      <a:r>
                        <a:rPr lang="en-US" sz="1700" dirty="0">
                          <a:effectLst/>
                        </a:rPr>
                        <a:t>signed short </a:t>
                      </a:r>
                      <a:r>
                        <a:rPr lang="en-US" sz="1700" dirty="0" err="1">
                          <a:effectLst/>
                        </a:rPr>
                        <a:t>int</a:t>
                      </a:r>
                      <a:endParaRPr lang="en-US" sz="1700" dirty="0">
                        <a:effectLst/>
                      </a:endParaRP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effectLst/>
                        </a:rPr>
                        <a:t>Range</a:t>
                      </a: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>
                          <a:effectLst/>
                        </a:rPr>
                        <a:t>-32768 to 32767</a:t>
                      </a: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742">
                <a:tc>
                  <a:txBody>
                    <a:bodyPr/>
                    <a:lstStyle/>
                    <a:p>
                      <a:pPr algn="r"/>
                      <a:r>
                        <a:rPr lang="en-US" sz="1700" dirty="0">
                          <a:effectLst/>
                        </a:rPr>
                        <a:t>long </a:t>
                      </a:r>
                      <a:r>
                        <a:rPr lang="en-US" sz="1700" dirty="0" err="1">
                          <a:effectLst/>
                        </a:rPr>
                        <a:t>int</a:t>
                      </a:r>
                      <a:endParaRPr lang="en-US" sz="1700" dirty="0">
                        <a:effectLst/>
                      </a:endParaRP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effectLst/>
                        </a:rPr>
                        <a:t>4bytes</a:t>
                      </a: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>
                          <a:effectLst/>
                        </a:rPr>
                        <a:t>-2,147,483,647 to 2,147,483,647</a:t>
                      </a: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250">
                <a:tc>
                  <a:txBody>
                    <a:bodyPr/>
                    <a:lstStyle/>
                    <a:p>
                      <a:pPr algn="r"/>
                      <a:r>
                        <a:rPr lang="en-US" sz="1700" dirty="0">
                          <a:effectLst/>
                        </a:rPr>
                        <a:t>signed long </a:t>
                      </a:r>
                      <a:r>
                        <a:rPr lang="en-US" sz="1700" dirty="0" err="1">
                          <a:effectLst/>
                        </a:rPr>
                        <a:t>int</a:t>
                      </a:r>
                      <a:endParaRPr lang="en-US" sz="1700" dirty="0">
                        <a:effectLst/>
                      </a:endParaRP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effectLst/>
                        </a:rPr>
                        <a:t>4bytes</a:t>
                      </a: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>
                          <a:effectLst/>
                        </a:rPr>
                        <a:t>same as long int</a:t>
                      </a: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0688">
                <a:tc>
                  <a:txBody>
                    <a:bodyPr/>
                    <a:lstStyle/>
                    <a:p>
                      <a:pPr algn="r"/>
                      <a:r>
                        <a:rPr lang="en-US" sz="1700" dirty="0">
                          <a:effectLst/>
                        </a:rPr>
                        <a:t>unsigned long </a:t>
                      </a:r>
                      <a:r>
                        <a:rPr lang="en-US" sz="1700" dirty="0" err="1">
                          <a:effectLst/>
                        </a:rPr>
                        <a:t>int</a:t>
                      </a:r>
                      <a:endParaRPr lang="en-US" sz="1700" dirty="0">
                        <a:effectLst/>
                      </a:endParaRP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effectLst/>
                        </a:rPr>
                        <a:t>4bytes</a:t>
                      </a: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dirty="0">
                          <a:effectLst/>
                        </a:rPr>
                        <a:t>0 to 4,294,967,295</a:t>
                      </a:r>
                    </a:p>
                  </a:txBody>
                  <a:tcPr marL="45654" marR="45654" marT="45658" marB="45658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DATA Type: Floating Point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Floating-point variables represent numbers with a decimal place—like 3.1415927, 0.0000625, and –10.2.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They have both an integer part, to the left of the decimal point, and a fractional part, to the right.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Floating-point variables represent what mathematicians call </a:t>
            </a:r>
            <a:r>
              <a:rPr lang="en-US" altLang="en-US" i="1"/>
              <a:t>real numbers</a:t>
            </a:r>
            <a:r>
              <a:rPr lang="en-US" altLang="en-US"/>
              <a:t>, which are used for measurable quantities such as distance, area, and temperature.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DATA Type: Floating Point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876800"/>
          </a:xfrm>
        </p:spPr>
        <p:txBody>
          <a:bodyPr/>
          <a:lstStyle/>
          <a:p>
            <a:pPr algn="just">
              <a:defRPr/>
            </a:pPr>
            <a:r>
              <a:rPr lang="en-US" dirty="0"/>
              <a:t>There are three kinds of floating-point variables in C++ </a:t>
            </a:r>
          </a:p>
          <a:p>
            <a:pPr lvl="1" algn="just">
              <a:defRPr/>
            </a:pPr>
            <a:r>
              <a:rPr lang="en-US" dirty="0">
                <a:solidFill>
                  <a:srgbClr val="0070C0"/>
                </a:solidFill>
              </a:rPr>
              <a:t>Float</a:t>
            </a:r>
          </a:p>
          <a:p>
            <a:pPr lvl="1" algn="just">
              <a:defRPr/>
            </a:pPr>
            <a:r>
              <a:rPr lang="en-US" dirty="0">
                <a:solidFill>
                  <a:srgbClr val="0070C0"/>
                </a:solidFill>
              </a:rPr>
              <a:t>Double</a:t>
            </a:r>
          </a:p>
          <a:p>
            <a:pPr lvl="1" algn="just">
              <a:defRPr/>
            </a:pPr>
            <a:r>
              <a:rPr lang="en-US" dirty="0">
                <a:solidFill>
                  <a:srgbClr val="0070C0"/>
                </a:solidFill>
              </a:rPr>
              <a:t>Long double</a:t>
            </a:r>
          </a:p>
          <a:p>
            <a:pPr marL="0" indent="0" algn="just">
              <a:buFont typeface="Arial" charset="0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Floating Point Types: float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876800"/>
          </a:xfrm>
        </p:spPr>
        <p:txBody>
          <a:bodyPr/>
          <a:lstStyle/>
          <a:p>
            <a:pPr>
              <a:defRPr/>
            </a:pPr>
            <a:r>
              <a:rPr lang="en-US" dirty="0"/>
              <a:t>Type float stores numbers in the range of about </a:t>
            </a:r>
          </a:p>
          <a:p>
            <a:pPr marL="0" indent="0" algn="ctr">
              <a:buFont typeface="Arial" charset="0"/>
              <a:buNone/>
              <a:defRPr/>
            </a:pPr>
            <a:endParaRPr lang="en-US" dirty="0"/>
          </a:p>
          <a:p>
            <a:pPr marL="0" indent="0" algn="ctr">
              <a:buFont typeface="Arial" charset="0"/>
              <a:buNone/>
              <a:defRPr/>
            </a:pPr>
            <a:r>
              <a:rPr lang="en-US" sz="3600" dirty="0">
                <a:solidFill>
                  <a:srgbClr val="0070C0"/>
                </a:solidFill>
              </a:rPr>
              <a:t>3.4x10</a:t>
            </a:r>
            <a:r>
              <a:rPr lang="en-US" sz="3600" baseline="30000" dirty="0">
                <a:solidFill>
                  <a:srgbClr val="0070C0"/>
                </a:solidFill>
              </a:rPr>
              <a:t>–38</a:t>
            </a:r>
            <a:r>
              <a:rPr lang="en-US" sz="3600" dirty="0">
                <a:solidFill>
                  <a:srgbClr val="0070C0"/>
                </a:solidFill>
              </a:rPr>
              <a:t> to 3.4x10</a:t>
            </a:r>
            <a:r>
              <a:rPr lang="en-US" sz="3600" baseline="30000" dirty="0">
                <a:solidFill>
                  <a:srgbClr val="0070C0"/>
                </a:solidFill>
              </a:rPr>
              <a:t>+38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Float numbers with a precision of seven digits. 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It occupies 4 bytes (32 bits) in memory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Floating Point Types: float</a:t>
            </a:r>
          </a:p>
        </p:txBody>
      </p:sp>
      <p:pic>
        <p:nvPicPr>
          <p:cNvPr id="4198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641475"/>
            <a:ext cx="4986338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Floating Point Types: double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86400" cy="4876800"/>
          </a:xfrm>
        </p:spPr>
        <p:txBody>
          <a:bodyPr/>
          <a:lstStyle/>
          <a:p>
            <a:pPr algn="just">
              <a:defRPr/>
            </a:pPr>
            <a:r>
              <a:rPr lang="en-US" dirty="0"/>
              <a:t>The data type double is used in C++ to represent any real number between </a:t>
            </a:r>
            <a:r>
              <a:rPr lang="en-US" dirty="0">
                <a:solidFill>
                  <a:srgbClr val="0070C0"/>
                </a:solidFill>
              </a:rPr>
              <a:t>-1.7E+308 </a:t>
            </a:r>
            <a:r>
              <a:rPr lang="en-US" dirty="0"/>
              <a:t>and </a:t>
            </a:r>
            <a:r>
              <a:rPr lang="en-US" dirty="0">
                <a:solidFill>
                  <a:srgbClr val="0070C0"/>
                </a:solidFill>
              </a:rPr>
              <a:t>1.7E+308</a:t>
            </a:r>
            <a:r>
              <a:rPr lang="en-US" dirty="0"/>
              <a:t>. It can also be represented as follow</a:t>
            </a:r>
          </a:p>
          <a:p>
            <a:pPr algn="just">
              <a:defRPr/>
            </a:pPr>
            <a:endParaRPr lang="en-US" dirty="0"/>
          </a:p>
          <a:p>
            <a:pPr marL="0" indent="0" algn="just">
              <a:buFont typeface="Arial" charset="0"/>
              <a:buNone/>
              <a:defRPr/>
            </a:pPr>
            <a:r>
              <a:rPr lang="en-US" sz="2800" dirty="0">
                <a:solidFill>
                  <a:srgbClr val="0070C0"/>
                </a:solidFill>
              </a:rPr>
              <a:t>        1.7x10</a:t>
            </a:r>
            <a:r>
              <a:rPr lang="en-US" sz="2800" baseline="30000" dirty="0">
                <a:solidFill>
                  <a:srgbClr val="0070C0"/>
                </a:solidFill>
              </a:rPr>
              <a:t>–308</a:t>
            </a:r>
            <a:r>
              <a:rPr lang="en-US" sz="2800" dirty="0">
                <a:solidFill>
                  <a:srgbClr val="0070C0"/>
                </a:solidFill>
              </a:rPr>
              <a:t> to 1.7x10</a:t>
            </a:r>
            <a:r>
              <a:rPr lang="en-US" sz="2800" baseline="30000" dirty="0">
                <a:solidFill>
                  <a:srgbClr val="0070C0"/>
                </a:solidFill>
              </a:rPr>
              <a:t>308</a:t>
            </a:r>
            <a:r>
              <a:rPr lang="en-US" dirty="0"/>
              <a:t>.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The memory allocated for a value of the double data type is </a:t>
            </a:r>
            <a:r>
              <a:rPr lang="en-US" b="1" dirty="0">
                <a:solidFill>
                  <a:srgbClr val="0070C0"/>
                </a:solidFill>
              </a:rPr>
              <a:t>eight bytes</a:t>
            </a:r>
            <a:r>
              <a:rPr lang="en-US" dirty="0"/>
              <a:t>.</a:t>
            </a:r>
          </a:p>
        </p:txBody>
      </p:sp>
      <p:pic>
        <p:nvPicPr>
          <p:cNvPr id="430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1371600"/>
            <a:ext cx="2819400" cy="508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Floating Point Types: long double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53400" cy="4876800"/>
          </a:xfrm>
        </p:spPr>
        <p:txBody>
          <a:bodyPr/>
          <a:lstStyle/>
          <a:p>
            <a:pPr>
              <a:defRPr/>
            </a:pPr>
            <a:r>
              <a:rPr lang="en-US" dirty="0"/>
              <a:t>Type long double is compiler-dependent but is often the same as double.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It means long double can store value between </a:t>
            </a:r>
          </a:p>
          <a:p>
            <a:pPr algn="just">
              <a:defRPr/>
            </a:pPr>
            <a:endParaRPr lang="en-US" dirty="0"/>
          </a:p>
          <a:p>
            <a:pPr marL="0" indent="0" algn="just">
              <a:buFont typeface="Arial" charset="0"/>
              <a:buNone/>
              <a:defRPr/>
            </a:pPr>
            <a:r>
              <a:rPr lang="en-US" sz="2800" dirty="0">
                <a:solidFill>
                  <a:srgbClr val="0070C0"/>
                </a:solidFill>
              </a:rPr>
              <a:t>                    1.7x10</a:t>
            </a:r>
            <a:r>
              <a:rPr lang="en-US" sz="2800" baseline="30000" dirty="0">
                <a:solidFill>
                  <a:srgbClr val="0070C0"/>
                </a:solidFill>
              </a:rPr>
              <a:t>–308</a:t>
            </a:r>
            <a:r>
              <a:rPr lang="en-US" sz="2800" dirty="0">
                <a:solidFill>
                  <a:srgbClr val="0070C0"/>
                </a:solidFill>
              </a:rPr>
              <a:t> to 1.7x10</a:t>
            </a:r>
            <a:r>
              <a:rPr lang="en-US" sz="2800" baseline="30000" dirty="0">
                <a:solidFill>
                  <a:srgbClr val="0070C0"/>
                </a:solidFill>
              </a:rPr>
              <a:t>308</a:t>
            </a:r>
            <a:r>
              <a:rPr lang="en-US" dirty="0"/>
              <a:t>.</a:t>
            </a:r>
          </a:p>
          <a:p>
            <a:pPr algn="just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Floating Point Constant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153400" cy="5334000"/>
          </a:xfrm>
        </p:spPr>
        <p:txBody>
          <a:bodyPr/>
          <a:lstStyle/>
          <a:p>
            <a:pPr algn="just">
              <a:defRPr/>
            </a:pPr>
            <a:r>
              <a:rPr lang="en-US" dirty="0"/>
              <a:t>To represent a floating-point constant letter ‘</a:t>
            </a:r>
            <a:r>
              <a:rPr lang="en-US" dirty="0">
                <a:solidFill>
                  <a:srgbClr val="0070C0"/>
                </a:solidFill>
              </a:rPr>
              <a:t>F</a:t>
            </a:r>
            <a:r>
              <a:rPr lang="en-US" dirty="0"/>
              <a:t>’ is appended at the end of number which specifies that it’s type float, rather than double or long double.</a:t>
            </a:r>
          </a:p>
          <a:p>
            <a:pPr marL="0" indent="0" algn="ctr">
              <a:buFont typeface="Arial" charset="0"/>
              <a:buNone/>
              <a:defRPr/>
            </a:pPr>
            <a:r>
              <a:rPr lang="en-US" sz="2800" dirty="0">
                <a:solidFill>
                  <a:srgbClr val="0070C0"/>
                </a:solidFill>
              </a:rPr>
              <a:t> </a:t>
            </a:r>
          </a:p>
          <a:p>
            <a:pPr marL="0" indent="0" algn="ctr">
              <a:buFont typeface="Arial" charset="0"/>
              <a:buNone/>
              <a:defRPr/>
            </a:pPr>
            <a:r>
              <a:rPr lang="en-US" sz="2800" dirty="0">
                <a:solidFill>
                  <a:srgbClr val="0070C0"/>
                </a:solidFill>
              </a:rPr>
              <a:t>float PI = 3.14159F;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You don’t need a suffix letter with constants of type double. It’s the default.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With type long double, use the letter </a:t>
            </a:r>
            <a:r>
              <a:rPr lang="en-US" dirty="0">
                <a:solidFill>
                  <a:srgbClr val="0070C0"/>
                </a:solidFill>
              </a:rPr>
              <a:t>L</a:t>
            </a:r>
            <a:r>
              <a:rPr lang="en-US" dirty="0"/>
              <a:t>.</a:t>
            </a:r>
          </a:p>
          <a:p>
            <a:pPr algn="just">
              <a:defRPr/>
            </a:pPr>
            <a:endParaRPr lang="en-US" dirty="0"/>
          </a:p>
          <a:p>
            <a:pPr marL="0" indent="0" algn="ctr">
              <a:buFont typeface="Arial" charset="0"/>
              <a:buNone/>
              <a:defRPr/>
            </a:pPr>
            <a:r>
              <a:rPr lang="en-US" dirty="0">
                <a:solidFill>
                  <a:srgbClr val="0070C0"/>
                </a:solidFill>
              </a:rPr>
              <a:t>long double </a:t>
            </a:r>
            <a:r>
              <a:rPr lang="en-US" dirty="0" err="1">
                <a:solidFill>
                  <a:srgbClr val="0070C0"/>
                </a:solidFill>
              </a:rPr>
              <a:t>large_number</a:t>
            </a:r>
            <a:r>
              <a:rPr lang="en-US" dirty="0">
                <a:solidFill>
                  <a:srgbClr val="0070C0"/>
                </a:solidFill>
              </a:rPr>
              <a:t> = 42343.12342344159L;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DATA Type : </a:t>
            </a:r>
            <a:r>
              <a:rPr lang="en-US" dirty="0" err="1"/>
              <a:t>Bool</a:t>
            </a:r>
            <a:endParaRPr lang="en-US" dirty="0"/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The data type bool has only two values: </a:t>
            </a:r>
            <a:r>
              <a:rPr lang="en-US" altLang="en-US">
                <a:solidFill>
                  <a:srgbClr val="0070C0"/>
                </a:solidFill>
              </a:rPr>
              <a:t>true</a:t>
            </a:r>
            <a:r>
              <a:rPr lang="en-US" altLang="en-US"/>
              <a:t> and </a:t>
            </a:r>
            <a:r>
              <a:rPr lang="en-US" altLang="en-US">
                <a:solidFill>
                  <a:srgbClr val="0070C0"/>
                </a:solidFill>
              </a:rPr>
              <a:t>false</a:t>
            </a:r>
            <a:r>
              <a:rPr lang="en-US" altLang="en-US"/>
              <a:t>.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The central purpose of this data type is to manipulate logical (Boolean) expressions (we will discuss later during this course).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In C++, bool, </a:t>
            </a:r>
            <a:r>
              <a:rPr lang="en-US" altLang="en-US">
                <a:solidFill>
                  <a:srgbClr val="0070C0"/>
                </a:solidFill>
              </a:rPr>
              <a:t>true</a:t>
            </a:r>
            <a:r>
              <a:rPr lang="en-US" altLang="en-US"/>
              <a:t>, and </a:t>
            </a:r>
            <a:r>
              <a:rPr lang="en-US" altLang="en-US">
                <a:solidFill>
                  <a:srgbClr val="0070C0"/>
                </a:solidFill>
              </a:rPr>
              <a:t>false</a:t>
            </a:r>
            <a:r>
              <a:rPr lang="en-US" altLang="en-US"/>
              <a:t> are reserved words.</a:t>
            </a:r>
          </a:p>
          <a:p>
            <a:pPr algn="just"/>
            <a:endParaRPr lang="en-U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DATA Type : </a:t>
            </a:r>
            <a:r>
              <a:rPr lang="en-US" dirty="0" err="1"/>
              <a:t>Bool</a:t>
            </a:r>
            <a:endParaRPr lang="en-US" dirty="0"/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pPr algn="just"/>
            <a:r>
              <a:rPr lang="en-US" altLang="en-US"/>
              <a:t>In theory a </a:t>
            </a:r>
            <a:r>
              <a:rPr lang="en-US" altLang="en-US">
                <a:solidFill>
                  <a:srgbClr val="0070C0"/>
                </a:solidFill>
              </a:rPr>
              <a:t>bool </a:t>
            </a:r>
            <a:r>
              <a:rPr lang="en-US" altLang="en-US"/>
              <a:t>type requires only one bit (not byte) of storage, but in practice compilers often store them as bytes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Because a byte can be quickly accessed, while an individual bit must be extracted from a byte, which requires additional time.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Type </a:t>
            </a:r>
            <a:r>
              <a:rPr lang="en-US" altLang="en-US">
                <a:solidFill>
                  <a:srgbClr val="0070C0"/>
                </a:solidFill>
              </a:rPr>
              <a:t>bool </a:t>
            </a:r>
            <a:r>
              <a:rPr lang="en-US" altLang="en-US"/>
              <a:t>gets its name from George Boole, a 19th century English mathematician who invented the concept of using logical operators with true-or-false values. </a:t>
            </a:r>
          </a:p>
          <a:p>
            <a:pPr algn="just"/>
            <a:endParaRPr lang="en-US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/>
              <a:t>DATA Type : </a:t>
            </a:r>
            <a:r>
              <a:rPr lang="en-US" sz="3600" b="1" dirty="0"/>
              <a:t>Character </a:t>
            </a:r>
          </a:p>
        </p:txBody>
      </p:sp>
      <p:sp>
        <p:nvSpPr>
          <p:cNvPr id="36867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029200"/>
          </a:xfrm>
        </p:spPr>
        <p:txBody>
          <a:bodyPr/>
          <a:lstStyle/>
          <a:p>
            <a:pPr algn="just">
              <a:defRPr/>
            </a:pPr>
            <a:r>
              <a:rPr lang="en-US" dirty="0"/>
              <a:t>It is mainly used to represent characters—that is, letters, digits, and special symbols. 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Thus, the char data type can represent every key on your keyboard. 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When using the char data type, you enclose each character represented within single quotation marks. 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Examples of values belonging to the char data type include the following:</a:t>
            </a:r>
          </a:p>
          <a:p>
            <a:pPr marL="0" indent="0" algn="ctr">
              <a:buFont typeface="Arial" charset="0"/>
              <a:buNone/>
              <a:defRPr/>
            </a:pPr>
            <a:r>
              <a:rPr lang="en-US" dirty="0">
                <a:solidFill>
                  <a:srgbClr val="0070C0"/>
                </a:solidFill>
              </a:rPr>
              <a:t>'A', 'a', '0', '*', '+', '$', '&amp;', ' '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/>
              <a:t>DATA Type : </a:t>
            </a:r>
            <a:r>
              <a:rPr lang="en-US" sz="3600" b="1" dirty="0"/>
              <a:t>Character </a:t>
            </a:r>
          </a:p>
        </p:txBody>
      </p:sp>
      <p:sp>
        <p:nvSpPr>
          <p:cNvPr id="49155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029200"/>
          </a:xfrm>
        </p:spPr>
        <p:txBody>
          <a:bodyPr/>
          <a:lstStyle/>
          <a:p>
            <a:pPr algn="just"/>
            <a:r>
              <a:rPr lang="en-US" altLang="en-US"/>
              <a:t>Variables of this type occupy only 1 byte (eight bits) of memory. </a:t>
            </a:r>
          </a:p>
          <a:p>
            <a:pPr algn="just"/>
            <a:endParaRPr lang="en-US" altLang="en-US" b="1"/>
          </a:p>
          <a:p>
            <a:pPr algn="just"/>
            <a:r>
              <a:rPr lang="en-US" altLang="en-US"/>
              <a:t>When the C++ compiler encounters such a character constant, it translates it into the corresponding ASCII code.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For example, the value representing </a:t>
            </a:r>
            <a:r>
              <a:rPr lang="en-US" altLang="en-US">
                <a:solidFill>
                  <a:srgbClr val="0070C0"/>
                </a:solidFill>
              </a:rPr>
              <a:t>'B</a:t>
            </a:r>
            <a:r>
              <a:rPr lang="en-US" altLang="en-US"/>
              <a:t>' is </a:t>
            </a:r>
            <a:r>
              <a:rPr lang="en-US" altLang="en-US">
                <a:solidFill>
                  <a:srgbClr val="0070C0"/>
                </a:solidFill>
              </a:rPr>
              <a:t>66</a:t>
            </a:r>
            <a:r>
              <a:rPr lang="en-US" altLang="en-US"/>
              <a:t>, so 'A' is smaller than 'B'. Similarly, '+' is smaller than 'A' because 43 is smaller than 65.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/>
              <a:t>DATA Type : </a:t>
            </a:r>
            <a:r>
              <a:rPr lang="en-US" sz="3600" b="1" dirty="0"/>
              <a:t>Character </a:t>
            </a:r>
          </a:p>
        </p:txBody>
      </p:sp>
      <p:sp>
        <p:nvSpPr>
          <p:cNvPr id="50179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1066800"/>
          </a:xfrm>
        </p:spPr>
        <p:txBody>
          <a:bodyPr/>
          <a:lstStyle/>
          <a:p>
            <a:r>
              <a:rPr lang="en-US" altLang="en-US"/>
              <a:t>The constant ‘a’ appearing in a program, for example, will be translated into 97</a:t>
            </a:r>
          </a:p>
        </p:txBody>
      </p:sp>
      <p:pic>
        <p:nvPicPr>
          <p:cNvPr id="5018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36838" y="2819400"/>
            <a:ext cx="3981450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Variable Type Summary</a:t>
            </a:r>
            <a:endParaRPr lang="en-US" dirty="0"/>
          </a:p>
        </p:txBody>
      </p:sp>
      <p:grpSp>
        <p:nvGrpSpPr>
          <p:cNvPr id="52227" name="Group 3"/>
          <p:cNvGrpSpPr>
            <a:grpSpLocks/>
          </p:cNvGrpSpPr>
          <p:nvPr/>
        </p:nvGrpSpPr>
        <p:grpSpPr bwMode="auto">
          <a:xfrm>
            <a:off x="138113" y="1441450"/>
            <a:ext cx="9005887" cy="3454400"/>
            <a:chOff x="138277" y="1440903"/>
            <a:chExt cx="9005723" cy="3454947"/>
          </a:xfrm>
        </p:grpSpPr>
        <p:pic>
          <p:nvPicPr>
            <p:cNvPr id="52228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38277" y="1440903"/>
              <a:ext cx="8982075" cy="1990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2229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52400" y="3200400"/>
              <a:ext cx="8991600" cy="1695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Variable Type Summary</a:t>
            </a:r>
            <a:endParaRPr lang="en-US" dirty="0"/>
          </a:p>
        </p:txBody>
      </p:sp>
      <p:pic>
        <p:nvPicPr>
          <p:cNvPr id="5325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363" y="1676400"/>
            <a:ext cx="8682037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Escape Sequences</a:t>
            </a:r>
            <a:endParaRPr lang="en-US" dirty="0"/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The name reflects the fact that the backslash causes an “</a:t>
            </a:r>
            <a:r>
              <a:rPr lang="en-US" altLang="en-US">
                <a:solidFill>
                  <a:srgbClr val="0070C0"/>
                </a:solidFill>
              </a:rPr>
              <a:t>escape</a:t>
            </a:r>
            <a:r>
              <a:rPr lang="en-US" altLang="en-US"/>
              <a:t>” from the normal way characters are interpreted</a:t>
            </a:r>
          </a:p>
          <a:p>
            <a:pPr algn="just"/>
            <a:endParaRPr lang="en-US" altLang="en-US">
              <a:solidFill>
                <a:srgbClr val="0070C0"/>
              </a:solidFill>
            </a:endParaRPr>
          </a:p>
          <a:p>
            <a:pPr algn="just"/>
            <a:r>
              <a:rPr lang="en-US" altLang="en-US"/>
              <a:t>Escape sequences can be used as separate characters or embedded in string constants.</a:t>
            </a:r>
          </a:p>
          <a:p>
            <a:pPr algn="just"/>
            <a:endParaRPr lang="en-US" altLang="en-US">
              <a:solidFill>
                <a:srgbClr val="0070C0"/>
              </a:solidFill>
            </a:endParaRPr>
          </a:p>
          <a:p>
            <a:pPr algn="just"/>
            <a:r>
              <a:rPr lang="en-US" altLang="en-US">
                <a:solidFill>
                  <a:srgbClr val="0070C0"/>
                </a:solidFill>
              </a:rPr>
              <a:t>For example</a:t>
            </a:r>
          </a:p>
          <a:p>
            <a:pPr algn="just"/>
            <a:endParaRPr lang="en-US" altLang="en-US">
              <a:solidFill>
                <a:srgbClr val="0070C0"/>
              </a:solidFill>
            </a:endParaRPr>
          </a:p>
          <a:p>
            <a:pPr lvl="1"/>
            <a:r>
              <a:rPr lang="en-US" altLang="en-US" sz="2400"/>
              <a:t>‘\n’ new line</a:t>
            </a:r>
          </a:p>
          <a:p>
            <a:pPr lvl="1"/>
            <a:r>
              <a:rPr lang="en-US" altLang="en-US" sz="2400"/>
              <a:t>‘\t’   Tab</a:t>
            </a:r>
          </a:p>
          <a:p>
            <a:pPr lvl="1"/>
            <a:endParaRPr lang="en-US" altLang="en-US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Escape Sequences</a:t>
            </a:r>
            <a:endParaRPr lang="en-US" dirty="0"/>
          </a:p>
        </p:txBody>
      </p:sp>
      <p:grpSp>
        <p:nvGrpSpPr>
          <p:cNvPr id="55299" name="Group 4"/>
          <p:cNvGrpSpPr>
            <a:grpSpLocks/>
          </p:cNvGrpSpPr>
          <p:nvPr/>
        </p:nvGrpSpPr>
        <p:grpSpPr bwMode="auto">
          <a:xfrm>
            <a:off x="152400" y="1752600"/>
            <a:ext cx="8839200" cy="5105400"/>
            <a:chOff x="152399" y="1752601"/>
            <a:chExt cx="8839306" cy="5105399"/>
          </a:xfrm>
        </p:grpSpPr>
        <p:pic>
          <p:nvPicPr>
            <p:cNvPr id="55300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2400" y="3157538"/>
              <a:ext cx="8839305" cy="37004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5301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52399" y="1752601"/>
              <a:ext cx="8839305" cy="2285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Use of Character Variables and Escape Sequences </a:t>
            </a:r>
            <a:endParaRPr lang="en-US" dirty="0"/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int main()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{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  char charvar1 = ‘A’; 	</a:t>
            </a:r>
            <a:r>
              <a:rPr lang="en-US" altLang="en-US" sz="1400"/>
              <a:t>//define char variable as character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  char charvar2 = ‘\t’; 	</a:t>
            </a:r>
            <a:r>
              <a:rPr lang="en-US" altLang="en-US" sz="1400"/>
              <a:t>//define char variable as tab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  cout &lt;&lt; charvar1; 		</a:t>
            </a:r>
            <a:r>
              <a:rPr lang="en-US" altLang="en-US" sz="1400"/>
              <a:t>//display character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  cout &lt;&lt; charvar2; 		</a:t>
            </a:r>
            <a:r>
              <a:rPr lang="en-US" altLang="en-US" sz="1400"/>
              <a:t>//display character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  charvar1 = ‘B’; 		</a:t>
            </a:r>
            <a:r>
              <a:rPr lang="en-US" altLang="en-US" sz="1400"/>
              <a:t>//set char variable to char constant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  cout &lt;&lt; charvar1;		</a:t>
            </a:r>
            <a:r>
              <a:rPr lang="en-US" altLang="en-US" sz="1400"/>
              <a:t>//display character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  cout &lt;&lt; ‘\n’; 			</a:t>
            </a:r>
            <a:r>
              <a:rPr lang="en-US" altLang="en-US" sz="1400"/>
              <a:t>//display newline character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  return 0;</a:t>
            </a:r>
          </a:p>
          <a:p>
            <a:pPr marL="0" indent="0">
              <a:buFont typeface="Arial" charset="0"/>
              <a:buNone/>
            </a:pPr>
            <a:r>
              <a:rPr lang="en-US" altLang="en-US">
                <a:solidFill>
                  <a:srgbClr val="0070C0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Arithmetic Operators</a:t>
            </a:r>
            <a:endParaRPr lang="en-US" b="1" dirty="0"/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You can use the standard arithmetic operators to manipulate integral and floating-point data types. There are five arithmetic operators</a:t>
            </a:r>
          </a:p>
          <a:p>
            <a:pPr algn="just"/>
            <a:endParaRPr lang="en-US" altLang="en-US"/>
          </a:p>
          <a:p>
            <a:r>
              <a:rPr lang="en-US" altLang="en-US" sz="3200"/>
              <a:t> </a:t>
            </a:r>
            <a:r>
              <a:rPr lang="en-US" altLang="en-US" sz="2800"/>
              <a:t>+ 		</a:t>
            </a:r>
            <a:r>
              <a:rPr lang="en-US" altLang="en-US"/>
              <a:t>addition</a:t>
            </a:r>
          </a:p>
          <a:p>
            <a:r>
              <a:rPr lang="en-US" altLang="en-US" sz="2800"/>
              <a:t> - 		</a:t>
            </a:r>
            <a:r>
              <a:rPr lang="en-US" altLang="en-US"/>
              <a:t>subtraction or negation</a:t>
            </a:r>
          </a:p>
          <a:p>
            <a:r>
              <a:rPr lang="en-US" altLang="en-US" sz="2800"/>
              <a:t> * 		</a:t>
            </a:r>
            <a:r>
              <a:rPr lang="en-US" altLang="en-US"/>
              <a:t>multiplication</a:t>
            </a:r>
          </a:p>
          <a:p>
            <a:r>
              <a:rPr lang="en-US" altLang="en-US" sz="2800"/>
              <a:t> /		</a:t>
            </a:r>
            <a:r>
              <a:rPr lang="en-US" altLang="en-US"/>
              <a:t>division</a:t>
            </a:r>
          </a:p>
          <a:p>
            <a:r>
              <a:rPr lang="en-US" altLang="en-US" sz="2800"/>
              <a:t> % 		</a:t>
            </a:r>
            <a:r>
              <a:rPr lang="en-US" altLang="en-US"/>
              <a:t>mod, (modulus or remainder)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Expressions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Any arrangement of variables, constants, and operators that specifies a computation is called an </a:t>
            </a:r>
            <a:r>
              <a:rPr lang="en-US" altLang="en-US" i="1"/>
              <a:t>expression</a:t>
            </a:r>
            <a:r>
              <a:rPr lang="en-US" altLang="en-US"/>
              <a:t>.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Examples of expression are</a:t>
            </a:r>
          </a:p>
          <a:p>
            <a:pPr lvl="1" algn="just"/>
            <a:r>
              <a:rPr lang="en-US" altLang="en-US" sz="2200">
                <a:solidFill>
                  <a:srgbClr val="0070C0"/>
                </a:solidFill>
              </a:rPr>
              <a:t>alpha+12</a:t>
            </a:r>
          </a:p>
          <a:p>
            <a:pPr lvl="1" algn="just"/>
            <a:r>
              <a:rPr lang="en-US" altLang="en-US" sz="2200">
                <a:solidFill>
                  <a:srgbClr val="0070C0"/>
                </a:solidFill>
              </a:rPr>
              <a:t>(alpha-37)*beta/2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Parts of expressions may also be expressions. In the second example, alpha-37 and beta/2 are expressions.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Even single variables and constants, like alpha and 37, are considered to be expressions.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Expressions</a:t>
            </a:r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Note that expressions aren’t the same as statements.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Statements tell the compiler to do something and terminate with a semicolon, while expressions specify a computation.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There can be several expressions in a statement.</a:t>
            </a:r>
            <a:endParaRPr lang="en-US" altLang="en-US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Expressions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>
          <a:xfrm>
            <a:off x="457200" y="3124200"/>
            <a:ext cx="8229600" cy="762000"/>
          </a:xfrm>
        </p:spPr>
        <p:txBody>
          <a:bodyPr/>
          <a:lstStyle/>
          <a:p>
            <a:pPr marL="0" indent="0" algn="ctr">
              <a:buFont typeface="Arial" charset="0"/>
              <a:buNone/>
            </a:pPr>
            <a:r>
              <a:rPr lang="es-ES" altLang="en-US" sz="3600"/>
              <a:t>x </a:t>
            </a:r>
            <a:r>
              <a:rPr lang="es-ES" altLang="en-US" sz="3600">
                <a:solidFill>
                  <a:srgbClr val="C00000"/>
                </a:solidFill>
              </a:rPr>
              <a:t>+</a:t>
            </a:r>
            <a:r>
              <a:rPr lang="es-ES" altLang="en-US" sz="3600"/>
              <a:t> 2 </a:t>
            </a:r>
            <a:r>
              <a:rPr lang="es-ES" altLang="en-US" sz="3600">
                <a:solidFill>
                  <a:srgbClr val="C00000"/>
                </a:solidFill>
              </a:rPr>
              <a:t>*</a:t>
            </a:r>
            <a:r>
              <a:rPr lang="es-ES" altLang="en-US" sz="3600"/>
              <a:t>5 </a:t>
            </a:r>
            <a:r>
              <a:rPr lang="es-ES" altLang="en-US" sz="3600">
                <a:solidFill>
                  <a:srgbClr val="C00000"/>
                </a:solidFill>
              </a:rPr>
              <a:t>+</a:t>
            </a:r>
            <a:r>
              <a:rPr lang="es-ES" altLang="en-US" sz="3600"/>
              <a:t> 6 </a:t>
            </a:r>
            <a:r>
              <a:rPr lang="es-ES" altLang="en-US" sz="3600">
                <a:solidFill>
                  <a:srgbClr val="C00000"/>
                </a:solidFill>
              </a:rPr>
              <a:t>/</a:t>
            </a:r>
            <a:r>
              <a:rPr lang="es-ES" altLang="en-US" sz="3600"/>
              <a:t> y</a:t>
            </a:r>
            <a:endParaRPr lang="en-US" altLang="en-US" sz="3600">
              <a:solidFill>
                <a:srgbClr val="0070C0"/>
              </a:solidFill>
            </a:endParaRPr>
          </a:p>
        </p:txBody>
      </p:sp>
      <p:sp>
        <p:nvSpPr>
          <p:cNvPr id="3" name="Line Callout 1 2"/>
          <p:cNvSpPr/>
          <p:nvPr/>
        </p:nvSpPr>
        <p:spPr>
          <a:xfrm>
            <a:off x="6553200" y="1371600"/>
            <a:ext cx="1828800" cy="762000"/>
          </a:xfrm>
          <a:prstGeom prst="borderCallout1">
            <a:avLst>
              <a:gd name="adj1" fmla="val 45646"/>
              <a:gd name="adj2" fmla="val -7471"/>
              <a:gd name="adj3" fmla="val 242845"/>
              <a:gd name="adj4" fmla="val -1064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operands</a:t>
            </a:r>
          </a:p>
        </p:txBody>
      </p:sp>
      <p:grpSp>
        <p:nvGrpSpPr>
          <p:cNvPr id="60421" name="Group 14"/>
          <p:cNvGrpSpPr>
            <a:grpSpLocks/>
          </p:cNvGrpSpPr>
          <p:nvPr/>
        </p:nvGrpSpPr>
        <p:grpSpPr bwMode="auto">
          <a:xfrm>
            <a:off x="3200400" y="1676400"/>
            <a:ext cx="3200400" cy="1600200"/>
            <a:chOff x="3200400" y="1676400"/>
            <a:chExt cx="3200400" cy="1600200"/>
          </a:xfrm>
        </p:grpSpPr>
        <p:cxnSp>
          <p:nvCxnSpPr>
            <p:cNvPr id="5" name="Straight Connector 4"/>
            <p:cNvCxnSpPr/>
            <p:nvPr/>
          </p:nvCxnSpPr>
          <p:spPr>
            <a:xfrm flipV="1">
              <a:off x="3200400" y="1676400"/>
              <a:ext cx="3200400" cy="16002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3886200" y="1752600"/>
              <a:ext cx="2362200" cy="15240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5334000" y="1752600"/>
              <a:ext cx="1066800" cy="13716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5867400" y="1752600"/>
              <a:ext cx="533400" cy="13716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Line Callout 1 16"/>
          <p:cNvSpPr/>
          <p:nvPr/>
        </p:nvSpPr>
        <p:spPr>
          <a:xfrm>
            <a:off x="982663" y="5257800"/>
            <a:ext cx="1828800" cy="762000"/>
          </a:xfrm>
          <a:prstGeom prst="borderCallout1">
            <a:avLst>
              <a:gd name="adj1" fmla="val -6078"/>
              <a:gd name="adj2" fmla="val 82184"/>
              <a:gd name="adj3" fmla="val -214397"/>
              <a:gd name="adj4" fmla="val 140978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/>
              <a:t>operators</a:t>
            </a:r>
            <a:endParaRPr lang="en-US" sz="2400" b="1" dirty="0"/>
          </a:p>
        </p:txBody>
      </p:sp>
      <p:grpSp>
        <p:nvGrpSpPr>
          <p:cNvPr id="60423" name="Group 43008"/>
          <p:cNvGrpSpPr>
            <a:grpSpLocks/>
          </p:cNvGrpSpPr>
          <p:nvPr/>
        </p:nvGrpSpPr>
        <p:grpSpPr bwMode="auto">
          <a:xfrm>
            <a:off x="2438400" y="3657600"/>
            <a:ext cx="3086100" cy="1600200"/>
            <a:chOff x="2438400" y="3657600"/>
            <a:chExt cx="3086100" cy="1600200"/>
          </a:xfrm>
        </p:grpSpPr>
        <p:cxnSp>
          <p:nvCxnSpPr>
            <p:cNvPr id="19" name="Straight Connector 18"/>
            <p:cNvCxnSpPr/>
            <p:nvPr/>
          </p:nvCxnSpPr>
          <p:spPr>
            <a:xfrm flipV="1">
              <a:off x="2438400" y="3657600"/>
              <a:ext cx="1828800" cy="1600200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2438400" y="3657600"/>
              <a:ext cx="2362200" cy="1600200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2514600" y="3657600"/>
              <a:ext cx="3009900" cy="1524000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Expressions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038600"/>
          </a:xfrm>
        </p:spPr>
        <p:txBody>
          <a:bodyPr/>
          <a:lstStyle/>
          <a:p>
            <a:pPr>
              <a:defRPr/>
            </a:pPr>
            <a:r>
              <a:rPr lang="en-US" b="1" dirty="0"/>
              <a:t>Unary operator</a:t>
            </a:r>
            <a:r>
              <a:rPr lang="en-US" dirty="0"/>
              <a:t>: An operator that has only one operand.</a:t>
            </a:r>
          </a:p>
          <a:p>
            <a:pPr>
              <a:defRPr/>
            </a:pPr>
            <a:endParaRPr lang="en-US" dirty="0"/>
          </a:p>
          <a:p>
            <a:pPr marL="0" indent="0" algn="ctr">
              <a:buFont typeface="Arial" charset="0"/>
              <a:buNone/>
              <a:defRPr/>
            </a:pPr>
            <a:r>
              <a:rPr lang="en-US" sz="3600" dirty="0">
                <a:solidFill>
                  <a:srgbClr val="0070C0"/>
                </a:solidFill>
              </a:rPr>
              <a:t>(-5)+7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b="1" dirty="0"/>
              <a:t>Binary operator</a:t>
            </a:r>
            <a:r>
              <a:rPr lang="en-US" dirty="0"/>
              <a:t>: An operator that has two operands.</a:t>
            </a:r>
          </a:p>
          <a:p>
            <a:pPr>
              <a:defRPr/>
            </a:pPr>
            <a:endParaRPr lang="en-US" altLang="en-US" dirty="0">
              <a:solidFill>
                <a:srgbClr val="0070C0"/>
              </a:solidFill>
            </a:endParaRPr>
          </a:p>
          <a:p>
            <a:pPr marL="0" indent="0" algn="ctr">
              <a:buFont typeface="Arial" charset="0"/>
              <a:buNone/>
              <a:defRPr/>
            </a:pPr>
            <a:r>
              <a:rPr lang="en-US" sz="3600" dirty="0">
                <a:solidFill>
                  <a:srgbClr val="0070C0"/>
                </a:solidFill>
              </a:rPr>
              <a:t>2 + 3 *5</a:t>
            </a:r>
            <a:endParaRPr lang="en-US" altLang="en-US" sz="36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85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Expressions</a:t>
            </a:r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5334000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en-US" sz="2200">
                <a:solidFill>
                  <a:srgbClr val="0070C0"/>
                </a:solidFill>
              </a:rPr>
              <a:t>int main()</a:t>
            </a:r>
          </a:p>
          <a:p>
            <a:pPr marL="0" indent="0">
              <a:buFont typeface="Arial" charset="0"/>
              <a:buNone/>
            </a:pPr>
            <a:r>
              <a:rPr lang="en-US" altLang="en-US" sz="2200">
                <a:solidFill>
                  <a:srgbClr val="0070C0"/>
                </a:solidFill>
              </a:rPr>
              <a:t>{</a:t>
            </a:r>
          </a:p>
          <a:p>
            <a:pPr marL="273050" lvl="1" indent="0">
              <a:buFont typeface="Arial" charset="0"/>
              <a:buNone/>
            </a:pPr>
            <a:r>
              <a:rPr lang="fr-FR" altLang="en-US" sz="2200">
                <a:solidFill>
                  <a:srgbClr val="0070C0"/>
                </a:solidFill>
              </a:rPr>
              <a:t>cout &lt;&lt; "2 + 5 = " &lt;&lt; 2 + 5 &lt;&lt; endl;	 </a:t>
            </a:r>
          </a:p>
          <a:p>
            <a:pPr marL="273050" lvl="1" indent="0">
              <a:buFont typeface="Arial" charset="0"/>
              <a:buNone/>
            </a:pPr>
            <a:r>
              <a:rPr lang="fr-FR" altLang="en-US" sz="2200">
                <a:solidFill>
                  <a:srgbClr val="0070C0"/>
                </a:solidFill>
              </a:rPr>
              <a:t>cout &lt;&lt; "13 + 89 = " &lt;&lt; 13 + 89 &lt;&lt; endl;	</a:t>
            </a:r>
            <a:endParaRPr lang="fr-FR" altLang="en-US" sz="2400">
              <a:solidFill>
                <a:srgbClr val="C00000"/>
              </a:solidFill>
            </a:endParaRPr>
          </a:p>
          <a:p>
            <a:pPr marL="273050" lvl="1" indent="0">
              <a:buFont typeface="Arial" charset="0"/>
              <a:buNone/>
            </a:pPr>
            <a:r>
              <a:rPr lang="fr-FR" altLang="en-US" sz="2200">
                <a:solidFill>
                  <a:srgbClr val="0070C0"/>
                </a:solidFill>
              </a:rPr>
              <a:t>cout &lt;&lt; "34 - 20 = " &lt;&lt; 34 - 20 &lt;&lt; endl;	</a:t>
            </a:r>
            <a:endParaRPr lang="fr-FR" altLang="en-US" sz="2400">
              <a:solidFill>
                <a:srgbClr val="C00000"/>
              </a:solidFill>
            </a:endParaRPr>
          </a:p>
          <a:p>
            <a:pPr marL="273050" lvl="1" indent="0">
              <a:buFont typeface="Arial" charset="0"/>
              <a:buNone/>
            </a:pPr>
            <a:r>
              <a:rPr lang="fr-FR" altLang="en-US" sz="2200">
                <a:solidFill>
                  <a:srgbClr val="0070C0"/>
                </a:solidFill>
              </a:rPr>
              <a:t>cout &lt;&lt; "45 - 90 = " &lt;&lt; 45 - 90 &lt;&lt; endl;	</a:t>
            </a:r>
            <a:endParaRPr lang="fr-FR" altLang="en-US" sz="2400">
              <a:solidFill>
                <a:srgbClr val="C00000"/>
              </a:solidFill>
            </a:endParaRPr>
          </a:p>
          <a:p>
            <a:pPr marL="273050" lvl="1" indent="0">
              <a:buFont typeface="Arial" charset="0"/>
              <a:buNone/>
            </a:pPr>
            <a:r>
              <a:rPr lang="fr-FR" altLang="en-US" sz="2200">
                <a:solidFill>
                  <a:srgbClr val="0070C0"/>
                </a:solidFill>
              </a:rPr>
              <a:t>cout &lt;&lt; "2 * 7 = " &lt;&lt; 2 * 7 &lt;&lt; endl;		</a:t>
            </a:r>
            <a:endParaRPr lang="fr-FR" altLang="en-US" sz="2400">
              <a:solidFill>
                <a:srgbClr val="C00000"/>
              </a:solidFill>
            </a:endParaRPr>
          </a:p>
          <a:p>
            <a:pPr marL="273050" lvl="1" indent="0">
              <a:buFont typeface="Arial" charset="0"/>
              <a:buNone/>
            </a:pPr>
            <a:r>
              <a:rPr lang="fr-FR" altLang="en-US" sz="2200">
                <a:solidFill>
                  <a:srgbClr val="0070C0"/>
                </a:solidFill>
              </a:rPr>
              <a:t>cout &lt;&lt; "5 / 2 = " &lt;&lt; 5 / 2 &lt;&lt; endl;		</a:t>
            </a:r>
            <a:r>
              <a:rPr lang="fr-FR" altLang="en-US" sz="2400">
                <a:solidFill>
                  <a:srgbClr val="C00000"/>
                </a:solidFill>
              </a:rPr>
              <a:t>	</a:t>
            </a:r>
            <a:r>
              <a:rPr lang="fr-FR" altLang="en-US" sz="2200">
                <a:solidFill>
                  <a:srgbClr val="0070C0"/>
                </a:solidFill>
              </a:rPr>
              <a:t> </a:t>
            </a:r>
          </a:p>
          <a:p>
            <a:pPr marL="273050" lvl="1" indent="0">
              <a:buFont typeface="Arial" charset="0"/>
              <a:buNone/>
            </a:pPr>
            <a:r>
              <a:rPr lang="fr-FR" altLang="en-US" sz="2200">
                <a:solidFill>
                  <a:srgbClr val="0070C0"/>
                </a:solidFill>
              </a:rPr>
              <a:t>cout &lt;&lt; "14 / 7 = " &lt;&lt; 14 / 7 &lt;&lt; endl;	</a:t>
            </a:r>
            <a:endParaRPr lang="fr-FR" altLang="en-US" sz="2400">
              <a:solidFill>
                <a:srgbClr val="C00000"/>
              </a:solidFill>
            </a:endParaRPr>
          </a:p>
          <a:p>
            <a:pPr marL="273050" lvl="1" indent="0">
              <a:buFont typeface="Arial" charset="0"/>
              <a:buNone/>
            </a:pPr>
            <a:r>
              <a:rPr lang="fr-FR" altLang="en-US" sz="2200">
                <a:solidFill>
                  <a:srgbClr val="0070C0"/>
                </a:solidFill>
              </a:rPr>
              <a:t>cout &lt;&lt; "34 % 5 = " &lt;&lt; 34 % 5 &lt;&lt; endl;	</a:t>
            </a:r>
            <a:endParaRPr lang="fr-FR" altLang="en-US" sz="2400">
              <a:solidFill>
                <a:srgbClr val="C00000"/>
              </a:solidFill>
            </a:endParaRPr>
          </a:p>
          <a:p>
            <a:pPr marL="273050" lvl="1" indent="0">
              <a:buFont typeface="Arial" charset="0"/>
              <a:buNone/>
            </a:pPr>
            <a:r>
              <a:rPr lang="fr-FR" altLang="en-US" sz="2200">
                <a:solidFill>
                  <a:srgbClr val="0070C0"/>
                </a:solidFill>
              </a:rPr>
              <a:t>cout &lt;&lt; "4 % 6 = " &lt;&lt; 4 % 6 &lt;&lt; endl;	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 sz="2200">
                <a:solidFill>
                  <a:srgbClr val="0070C0"/>
                </a:solidFill>
              </a:rPr>
              <a:t>return 0;</a:t>
            </a:r>
          </a:p>
          <a:p>
            <a:pPr marL="0" indent="0">
              <a:buFont typeface="Arial" charset="0"/>
              <a:buNone/>
            </a:pPr>
            <a:r>
              <a:rPr lang="en-US" altLang="en-US" sz="2200">
                <a:solidFill>
                  <a:srgbClr val="0070C0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85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Expressions</a:t>
            </a:r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5334000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en-US" altLang="en-US" sz="2200">
                <a:solidFill>
                  <a:srgbClr val="0070C0"/>
                </a:solidFill>
              </a:rPr>
              <a:t>int main()</a:t>
            </a:r>
          </a:p>
          <a:p>
            <a:pPr marL="0" indent="0">
              <a:buFont typeface="Arial" charset="0"/>
              <a:buNone/>
            </a:pPr>
            <a:r>
              <a:rPr lang="en-US" altLang="en-US" sz="2200">
                <a:solidFill>
                  <a:srgbClr val="0070C0"/>
                </a:solidFill>
              </a:rPr>
              <a:t>{</a:t>
            </a:r>
          </a:p>
          <a:p>
            <a:pPr marL="273050" lvl="1" indent="0">
              <a:buFont typeface="Arial" charset="0"/>
              <a:buNone/>
            </a:pPr>
            <a:r>
              <a:rPr lang="fr-FR" altLang="en-US" sz="2200">
                <a:solidFill>
                  <a:srgbClr val="0070C0"/>
                </a:solidFill>
              </a:rPr>
              <a:t>cout &lt;&lt; "2 + 5 = " &lt;&lt; 2 + 5 &lt;&lt; endl;	 </a:t>
            </a:r>
            <a:r>
              <a:rPr lang="en-US" altLang="en-US" sz="2400">
                <a:solidFill>
                  <a:srgbClr val="C00000"/>
                </a:solidFill>
              </a:rPr>
              <a:t>2 + 5 = 7</a:t>
            </a:r>
            <a:endParaRPr lang="fr-FR" altLang="en-US" sz="2200">
              <a:solidFill>
                <a:srgbClr val="C00000"/>
              </a:solidFill>
            </a:endParaRPr>
          </a:p>
          <a:p>
            <a:pPr marL="273050" lvl="1" indent="0">
              <a:buFont typeface="Arial" charset="0"/>
              <a:buNone/>
            </a:pPr>
            <a:r>
              <a:rPr lang="fr-FR" altLang="en-US" sz="2200">
                <a:solidFill>
                  <a:srgbClr val="0070C0"/>
                </a:solidFill>
              </a:rPr>
              <a:t>cout &lt;&lt; "13 + 89 = " &lt;&lt; 13 + 89 &lt;&lt; endl;	</a:t>
            </a:r>
            <a:r>
              <a:rPr lang="en-US" altLang="en-US" sz="2400">
                <a:solidFill>
                  <a:srgbClr val="C00000"/>
                </a:solidFill>
              </a:rPr>
              <a:t>13 + 89 = 102</a:t>
            </a:r>
            <a:endParaRPr lang="fr-FR" altLang="en-US" sz="2400">
              <a:solidFill>
                <a:srgbClr val="C00000"/>
              </a:solidFill>
            </a:endParaRPr>
          </a:p>
          <a:p>
            <a:pPr marL="273050" lvl="1" indent="0">
              <a:buFont typeface="Arial" charset="0"/>
              <a:buNone/>
            </a:pPr>
            <a:r>
              <a:rPr lang="fr-FR" altLang="en-US" sz="2200">
                <a:solidFill>
                  <a:srgbClr val="0070C0"/>
                </a:solidFill>
              </a:rPr>
              <a:t>cout &lt;&lt; "34 - 20 = " &lt;&lt; 34 - 20 &lt;&lt; endl;	 </a:t>
            </a:r>
            <a:r>
              <a:rPr lang="en-US" altLang="en-US" sz="2400">
                <a:solidFill>
                  <a:srgbClr val="C00000"/>
                </a:solidFill>
              </a:rPr>
              <a:t>34 - 20 = 14</a:t>
            </a:r>
            <a:endParaRPr lang="fr-FR" altLang="en-US" sz="2400">
              <a:solidFill>
                <a:srgbClr val="C00000"/>
              </a:solidFill>
            </a:endParaRPr>
          </a:p>
          <a:p>
            <a:pPr marL="273050" lvl="1" indent="0">
              <a:buFont typeface="Arial" charset="0"/>
              <a:buNone/>
            </a:pPr>
            <a:r>
              <a:rPr lang="fr-FR" altLang="en-US" sz="2200">
                <a:solidFill>
                  <a:srgbClr val="0070C0"/>
                </a:solidFill>
              </a:rPr>
              <a:t>cout &lt;&lt; "45 - 90 = " &lt;&lt; 45 - 90 &lt;&lt; endl;	 </a:t>
            </a:r>
            <a:r>
              <a:rPr lang="en-US" altLang="en-US" sz="2400">
                <a:solidFill>
                  <a:srgbClr val="C00000"/>
                </a:solidFill>
              </a:rPr>
              <a:t>45 - 90 = -45</a:t>
            </a:r>
            <a:endParaRPr lang="fr-FR" altLang="en-US" sz="2400">
              <a:solidFill>
                <a:srgbClr val="C00000"/>
              </a:solidFill>
            </a:endParaRPr>
          </a:p>
          <a:p>
            <a:pPr marL="273050" lvl="1" indent="0">
              <a:buFont typeface="Arial" charset="0"/>
              <a:buNone/>
            </a:pPr>
            <a:r>
              <a:rPr lang="fr-FR" altLang="en-US" sz="2200">
                <a:solidFill>
                  <a:srgbClr val="0070C0"/>
                </a:solidFill>
              </a:rPr>
              <a:t>cout &lt;&lt; "2 * 7 = " &lt;&lt; 2 * 7 &lt;&lt; endl;		 </a:t>
            </a:r>
            <a:r>
              <a:rPr lang="en-US" altLang="en-US" sz="2400">
                <a:solidFill>
                  <a:srgbClr val="C00000"/>
                </a:solidFill>
              </a:rPr>
              <a:t>2 * 7 = 14</a:t>
            </a:r>
            <a:endParaRPr lang="fr-FR" altLang="en-US" sz="2400">
              <a:solidFill>
                <a:srgbClr val="C00000"/>
              </a:solidFill>
            </a:endParaRPr>
          </a:p>
          <a:p>
            <a:pPr marL="273050" lvl="1" indent="0">
              <a:buFont typeface="Arial" charset="0"/>
              <a:buNone/>
            </a:pPr>
            <a:r>
              <a:rPr lang="fr-FR" altLang="en-US" sz="2200">
                <a:solidFill>
                  <a:srgbClr val="0070C0"/>
                </a:solidFill>
              </a:rPr>
              <a:t>cout &lt;&lt; "5 / 2 = " &lt;&lt; 5 / 2 &lt;&lt; endl;		</a:t>
            </a:r>
            <a:r>
              <a:rPr lang="fr-FR" altLang="en-US" sz="2400">
                <a:solidFill>
                  <a:srgbClr val="C00000"/>
                </a:solidFill>
              </a:rPr>
              <a:t> </a:t>
            </a:r>
            <a:r>
              <a:rPr lang="en-US" altLang="en-US" sz="2400">
                <a:solidFill>
                  <a:srgbClr val="C00000"/>
                </a:solidFill>
              </a:rPr>
              <a:t>5 / 2 = 2</a:t>
            </a:r>
            <a:r>
              <a:rPr lang="fr-FR" altLang="en-US" sz="2400">
                <a:solidFill>
                  <a:srgbClr val="C00000"/>
                </a:solidFill>
              </a:rPr>
              <a:t>	</a:t>
            </a:r>
            <a:r>
              <a:rPr lang="fr-FR" altLang="en-US" sz="2200">
                <a:solidFill>
                  <a:srgbClr val="0070C0"/>
                </a:solidFill>
              </a:rPr>
              <a:t> </a:t>
            </a:r>
          </a:p>
          <a:p>
            <a:pPr marL="273050" lvl="1" indent="0">
              <a:buFont typeface="Arial" charset="0"/>
              <a:buNone/>
            </a:pPr>
            <a:r>
              <a:rPr lang="fr-FR" altLang="en-US" sz="2200">
                <a:solidFill>
                  <a:srgbClr val="0070C0"/>
                </a:solidFill>
              </a:rPr>
              <a:t>cout &lt;&lt; "14 / 7 = " &lt;&lt; 14 / 7 &lt;&lt; endl;	 </a:t>
            </a:r>
            <a:r>
              <a:rPr lang="en-US" altLang="en-US" sz="2400">
                <a:solidFill>
                  <a:srgbClr val="C00000"/>
                </a:solidFill>
              </a:rPr>
              <a:t>14 / 7 = 2</a:t>
            </a:r>
            <a:endParaRPr lang="fr-FR" altLang="en-US" sz="2400">
              <a:solidFill>
                <a:srgbClr val="C00000"/>
              </a:solidFill>
            </a:endParaRPr>
          </a:p>
          <a:p>
            <a:pPr marL="273050" lvl="1" indent="0">
              <a:buFont typeface="Arial" charset="0"/>
              <a:buNone/>
            </a:pPr>
            <a:r>
              <a:rPr lang="fr-FR" altLang="en-US" sz="2200">
                <a:solidFill>
                  <a:srgbClr val="0070C0"/>
                </a:solidFill>
              </a:rPr>
              <a:t>cout &lt;&lt; "34 % 5 = " &lt;&lt; 34 % 5 &lt;&lt; endl;	 </a:t>
            </a:r>
            <a:r>
              <a:rPr lang="en-US" altLang="en-US" sz="2400">
                <a:solidFill>
                  <a:srgbClr val="C00000"/>
                </a:solidFill>
              </a:rPr>
              <a:t>34 % 5 = 4</a:t>
            </a:r>
            <a:endParaRPr lang="fr-FR" altLang="en-US" sz="2400">
              <a:solidFill>
                <a:srgbClr val="C00000"/>
              </a:solidFill>
            </a:endParaRPr>
          </a:p>
          <a:p>
            <a:pPr marL="273050" lvl="1" indent="0">
              <a:buFont typeface="Arial" charset="0"/>
              <a:buNone/>
            </a:pPr>
            <a:r>
              <a:rPr lang="fr-FR" altLang="en-US" sz="2200">
                <a:solidFill>
                  <a:srgbClr val="0070C0"/>
                </a:solidFill>
              </a:rPr>
              <a:t>cout &lt;&lt; "4 % 6 = " &lt;&lt; 4 % 6 &lt;&lt; endl;	 </a:t>
            </a:r>
            <a:r>
              <a:rPr lang="en-US" altLang="en-US" sz="2400">
                <a:solidFill>
                  <a:srgbClr val="C00000"/>
                </a:solidFill>
              </a:rPr>
              <a:t>4 % 6 = 4</a:t>
            </a:r>
            <a:endParaRPr lang="fr-FR" altLang="en-US" sz="2400">
              <a:solidFill>
                <a:srgbClr val="C00000"/>
              </a:solidFill>
            </a:endParaRPr>
          </a:p>
          <a:p>
            <a:pPr marL="273050" lvl="1" indent="0">
              <a:buFont typeface="Arial" charset="0"/>
              <a:buNone/>
            </a:pPr>
            <a:r>
              <a:rPr lang="en-US" altLang="en-US" sz="2200">
                <a:solidFill>
                  <a:srgbClr val="0070C0"/>
                </a:solidFill>
              </a:rPr>
              <a:t>return 0;</a:t>
            </a:r>
          </a:p>
          <a:p>
            <a:pPr marL="0" indent="0">
              <a:buFont typeface="Arial" charset="0"/>
              <a:buNone/>
            </a:pPr>
            <a:r>
              <a:rPr lang="en-US" altLang="en-US" sz="2200">
                <a:solidFill>
                  <a:srgbClr val="0070C0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sz="3600" b="1" dirty="0"/>
              <a:t>Arithmetic Operators: precedence</a:t>
            </a:r>
          </a:p>
        </p:txBody>
      </p:sp>
      <p:pic>
        <p:nvPicPr>
          <p:cNvPr id="6451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292350"/>
            <a:ext cx="8504238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sz="3600" b="1" dirty="0"/>
              <a:t>Arithmetic Operators: precedence</a:t>
            </a:r>
          </a:p>
        </p:txBody>
      </p:sp>
      <p:sp>
        <p:nvSpPr>
          <p:cNvPr id="65539" name="Rectangle 2"/>
          <p:cNvSpPr>
            <a:spLocks noChangeArrowheads="1"/>
          </p:cNvSpPr>
          <p:nvPr/>
        </p:nvSpPr>
        <p:spPr bwMode="auto">
          <a:xfrm>
            <a:off x="609600" y="1885950"/>
            <a:ext cx="444817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3600"/>
              <a:t>3 * 7 - 6 + 2 * 5 / 4 + 6</a:t>
            </a:r>
          </a:p>
        </p:txBody>
      </p:sp>
      <p:pic>
        <p:nvPicPr>
          <p:cNvPr id="65540" name="Picture 6" descr="http://ak8.picdn.net/shutterstock/videos/591625/preview/stock-footage--d-character-and-question-mark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3124200"/>
            <a:ext cx="512445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sz="3600" b="1" dirty="0"/>
              <a:t>Arithmetic Operators: precedence</a:t>
            </a:r>
          </a:p>
        </p:txBody>
      </p:sp>
      <p:sp>
        <p:nvSpPr>
          <p:cNvPr id="66563" name="Rectangle 2"/>
          <p:cNvSpPr>
            <a:spLocks noChangeArrowheads="1"/>
          </p:cNvSpPr>
          <p:nvPr/>
        </p:nvSpPr>
        <p:spPr bwMode="auto">
          <a:xfrm>
            <a:off x="762000" y="1828800"/>
            <a:ext cx="39735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3200"/>
              <a:t>3 * 7 - 6 + 2 * 5 / 4 + 6</a:t>
            </a:r>
          </a:p>
        </p:txBody>
      </p:sp>
      <p:pic>
        <p:nvPicPr>
          <p:cNvPr id="6656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2362200"/>
            <a:ext cx="8763000" cy="282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Arithmetic Operators: precedence</a:t>
            </a:r>
          </a:p>
        </p:txBody>
      </p:sp>
      <p:pic>
        <p:nvPicPr>
          <p:cNvPr id="6758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468438"/>
            <a:ext cx="8524875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Type Conversion</a:t>
            </a:r>
            <a:endParaRPr lang="en-US" dirty="0"/>
          </a:p>
        </p:txBody>
      </p:sp>
      <p:sp>
        <p:nvSpPr>
          <p:cNvPr id="68611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81600"/>
          </a:xfrm>
        </p:spPr>
        <p:txBody>
          <a:bodyPr/>
          <a:lstStyle/>
          <a:p>
            <a:pPr algn="just"/>
            <a:r>
              <a:rPr lang="en-US" altLang="en-US"/>
              <a:t>C++, like C, is more forgiving than some languages in the way it treats expressions involving several different data types. As an example, consider the following program</a:t>
            </a:r>
          </a:p>
          <a:p>
            <a:pPr algn="just"/>
            <a:endParaRPr lang="en-US" altLang="en-US"/>
          </a:p>
          <a:p>
            <a:pPr marL="273050" lvl="1" indent="0">
              <a:buFont typeface="Arial" charset="0"/>
              <a:buNone/>
            </a:pPr>
            <a:r>
              <a:rPr lang="en-US" altLang="en-US" sz="2400">
                <a:solidFill>
                  <a:srgbClr val="0070C0"/>
                </a:solidFill>
              </a:rPr>
              <a:t>int main()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 sz="2400">
                <a:solidFill>
                  <a:srgbClr val="0070C0"/>
                </a:solidFill>
              </a:rPr>
              <a:t>{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 sz="2400">
                <a:solidFill>
                  <a:srgbClr val="0070C0"/>
                </a:solidFill>
              </a:rPr>
              <a:t>   int count = 7;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 sz="2400">
                <a:solidFill>
                  <a:srgbClr val="0070C0"/>
                </a:solidFill>
              </a:rPr>
              <a:t>   float avgWeight = 155.5F;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 sz="2400">
                <a:solidFill>
                  <a:srgbClr val="0070C0"/>
                </a:solidFill>
              </a:rPr>
              <a:t>   </a:t>
            </a:r>
            <a:r>
              <a:rPr lang="en-US" altLang="en-US" sz="2400">
                <a:solidFill>
                  <a:srgbClr val="C00000"/>
                </a:solidFill>
              </a:rPr>
              <a:t>double totalWeight = count * avgWeight;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 sz="2400">
                <a:solidFill>
                  <a:srgbClr val="0070C0"/>
                </a:solidFill>
              </a:rPr>
              <a:t>   cout &lt;&lt; “totalWeight=” &lt;&lt; totalWeight &lt;&lt; endl;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 sz="2400">
                <a:solidFill>
                  <a:srgbClr val="0070C0"/>
                </a:solidFill>
              </a:rPr>
              <a:t>   return 0;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 sz="2400">
                <a:solidFill>
                  <a:srgbClr val="0070C0"/>
                </a:solidFill>
              </a:rPr>
              <a:t>}</a:t>
            </a:r>
          </a:p>
        </p:txBody>
      </p:sp>
      <p:sp>
        <p:nvSpPr>
          <p:cNvPr id="5" name="Line Callout 2 4"/>
          <p:cNvSpPr/>
          <p:nvPr/>
        </p:nvSpPr>
        <p:spPr>
          <a:xfrm>
            <a:off x="5029200" y="2686050"/>
            <a:ext cx="3962400" cy="165735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4842"/>
              <a:gd name="adj6" fmla="val -462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r>
              <a:rPr lang="en-US" sz="2400" dirty="0"/>
              <a:t>Here a variable of type </a:t>
            </a:r>
            <a:r>
              <a:rPr lang="en-US" sz="2400" dirty="0" err="1"/>
              <a:t>int</a:t>
            </a:r>
            <a:r>
              <a:rPr lang="en-US" sz="2400" dirty="0"/>
              <a:t> is multiplied by a variable of type float to yield a result of type double.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Automatic Conversions</a:t>
            </a:r>
            <a:endParaRPr lang="en-US" dirty="0"/>
          </a:p>
        </p:txBody>
      </p:sp>
      <p:pic>
        <p:nvPicPr>
          <p:cNvPr id="6963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3505200"/>
            <a:ext cx="41148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9636" name="Rectangle 5"/>
          <p:cNvSpPr>
            <a:spLocks noChangeArrowheads="1"/>
          </p:cNvSpPr>
          <p:nvPr/>
        </p:nvSpPr>
        <p:spPr bwMode="auto">
          <a:xfrm>
            <a:off x="533400" y="1447800"/>
            <a:ext cx="81534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altLang="en-US" sz="2400"/>
              <a:t>When two operands of different types are encountered in the same expression, the lower-type variable is converted to the type of the higher-type variable.</a:t>
            </a:r>
          </a:p>
        </p:txBody>
      </p:sp>
      <p:sp>
        <p:nvSpPr>
          <p:cNvPr id="69637" name="Rectangle 6"/>
          <p:cNvSpPr>
            <a:spLocks noChangeArrowheads="1"/>
          </p:cNvSpPr>
          <p:nvPr/>
        </p:nvSpPr>
        <p:spPr bwMode="auto">
          <a:xfrm>
            <a:off x="546100" y="2749550"/>
            <a:ext cx="5249863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400">
                <a:solidFill>
                  <a:srgbClr val="0070C0"/>
                </a:solidFill>
              </a:rPr>
              <a:t>double totalWeight = count * avgWeight;</a:t>
            </a:r>
          </a:p>
        </p:txBody>
      </p:sp>
      <p:sp>
        <p:nvSpPr>
          <p:cNvPr id="8" name="Line Callout 1 7"/>
          <p:cNvSpPr/>
          <p:nvPr/>
        </p:nvSpPr>
        <p:spPr>
          <a:xfrm>
            <a:off x="546100" y="4114800"/>
            <a:ext cx="4254500" cy="2514600"/>
          </a:xfrm>
          <a:prstGeom prst="borderCallout1">
            <a:avLst>
              <a:gd name="adj1" fmla="val -1668"/>
              <a:gd name="adj2" fmla="val 53737"/>
              <a:gd name="adj3" fmla="val -36763"/>
              <a:gd name="adj4" fmla="val 740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defRPr/>
            </a:pPr>
            <a:r>
              <a:rPr lang="en-US" sz="2400" dirty="0"/>
              <a:t>the </a:t>
            </a:r>
            <a:r>
              <a:rPr lang="en-US" sz="2400" dirty="0" err="1"/>
              <a:t>int</a:t>
            </a:r>
            <a:r>
              <a:rPr lang="en-US" sz="2400" dirty="0"/>
              <a:t> value of count is converted to type float and stored in a temporary variable before being multiplied by the float variable </a:t>
            </a:r>
            <a:r>
              <a:rPr lang="en-US" sz="2400" dirty="0" err="1"/>
              <a:t>avgWeight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381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000" b="1" dirty="0">
                <a:solidFill>
                  <a:schemeClr val="bg1"/>
                </a:solidFill>
              </a:rPr>
              <a:t>Automatic Conversions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065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84175"/>
            <a:ext cx="91440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3657600" cy="990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Mixed Expression</a:t>
            </a:r>
          </a:p>
        </p:txBody>
      </p:sp>
      <p:pic>
        <p:nvPicPr>
          <p:cNvPr id="7168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81200"/>
            <a:ext cx="8229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684" name="Picture 6" descr="http://ak8.picdn.net/shutterstock/videos/591625/preview/stock-footage--d-character-and-question-mark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48125" y="1828800"/>
            <a:ext cx="512445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3657600" cy="990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Mixed Expression</a:t>
            </a:r>
          </a:p>
        </p:txBody>
      </p:sp>
      <p:pic>
        <p:nvPicPr>
          <p:cNvPr id="7270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81200"/>
            <a:ext cx="8229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3657600" cy="990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Mixed Expression</a:t>
            </a:r>
          </a:p>
        </p:txBody>
      </p:sp>
      <p:pic>
        <p:nvPicPr>
          <p:cNvPr id="7373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524000"/>
            <a:ext cx="8448675" cy="465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b="1" dirty="0"/>
              <a:t>Assignment Statements</a:t>
            </a:r>
          </a:p>
        </p:txBody>
      </p:sp>
      <p:sp>
        <p:nvSpPr>
          <p:cNvPr id="74755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029200"/>
          </a:xfrm>
        </p:spPr>
        <p:txBody>
          <a:bodyPr/>
          <a:lstStyle/>
          <a:p>
            <a:pPr algn="just"/>
            <a:r>
              <a:rPr lang="en-US" altLang="en-US"/>
              <a:t>The statements</a:t>
            </a:r>
          </a:p>
          <a:p>
            <a:pPr marL="273050" lvl="1" indent="0" algn="just">
              <a:buFont typeface="Arial" charset="0"/>
              <a:buNone/>
            </a:pPr>
            <a:endParaRPr lang="en-US" altLang="en-US">
              <a:solidFill>
                <a:srgbClr val="0070C0"/>
              </a:solidFill>
            </a:endParaRPr>
          </a:p>
          <a:p>
            <a:pPr marL="273050" lvl="1" indent="0" algn="just">
              <a:buFont typeface="Arial" charset="0"/>
              <a:buNone/>
            </a:pPr>
            <a:r>
              <a:rPr lang="en-US" altLang="en-US" sz="2400">
                <a:solidFill>
                  <a:srgbClr val="0070C0"/>
                </a:solidFill>
              </a:rPr>
              <a:t>var1 = 20;</a:t>
            </a:r>
          </a:p>
          <a:p>
            <a:pPr marL="273050" lvl="1" indent="0" algn="just">
              <a:buFont typeface="Arial" charset="0"/>
              <a:buNone/>
            </a:pPr>
            <a:r>
              <a:rPr lang="en-US" altLang="en-US" sz="2400">
                <a:solidFill>
                  <a:srgbClr val="0070C0"/>
                </a:solidFill>
              </a:rPr>
              <a:t>var2 = var1 + 10;</a:t>
            </a:r>
          </a:p>
          <a:p>
            <a:pPr marL="273050" lvl="1" indent="0" algn="just">
              <a:buFont typeface="Arial" charset="0"/>
              <a:buNone/>
            </a:pPr>
            <a:endParaRPr lang="en-US" altLang="en-US">
              <a:solidFill>
                <a:srgbClr val="0070C0"/>
              </a:solidFill>
            </a:endParaRPr>
          </a:p>
          <a:p>
            <a:pPr algn="just"/>
            <a:r>
              <a:rPr lang="en-US" altLang="en-US"/>
              <a:t>Assign values to the two variables. The equal sign (</a:t>
            </a:r>
            <a:r>
              <a:rPr lang="en-US" altLang="en-US" sz="1800"/>
              <a:t>=</a:t>
            </a:r>
            <a:r>
              <a:rPr lang="en-US" altLang="en-US"/>
              <a:t>), as you might guess, causes the value on the right to be assigned to the variable on the left.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In the first line shown here, </a:t>
            </a:r>
            <a:r>
              <a:rPr lang="en-US" altLang="en-US" sz="1800"/>
              <a:t>var1</a:t>
            </a:r>
            <a:r>
              <a:rPr lang="en-US" altLang="en-US"/>
              <a:t>, which previously had no value, is given the value 20.</a:t>
            </a:r>
            <a:endParaRPr lang="en-US" altLang="en-US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381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400" b="1" dirty="0">
                <a:solidFill>
                  <a:schemeClr val="bg1"/>
                </a:solidFill>
              </a:rPr>
              <a:t>Assignment Statements</a:t>
            </a:r>
          </a:p>
        </p:txBody>
      </p:sp>
      <p:pic>
        <p:nvPicPr>
          <p:cNvPr id="7577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66713"/>
            <a:ext cx="9144000" cy="6491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Assignment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4876800"/>
          </a:xfrm>
        </p:spPr>
        <p:txBody>
          <a:bodyPr/>
          <a:lstStyle/>
          <a:p>
            <a:pPr>
              <a:defRPr/>
            </a:pPr>
            <a:r>
              <a:rPr lang="en-US" dirty="0"/>
              <a:t>There are arithmetic assignment operators corresponding to all the arithmetic operations: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3200" dirty="0">
                <a:solidFill>
                  <a:srgbClr val="0070C0"/>
                </a:solidFill>
              </a:rPr>
              <a:t>+=,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3200" dirty="0">
                <a:solidFill>
                  <a:srgbClr val="0070C0"/>
                </a:solidFill>
              </a:rPr>
              <a:t> -=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3200" dirty="0">
                <a:solidFill>
                  <a:srgbClr val="0070C0"/>
                </a:solidFill>
              </a:rPr>
              <a:t> *=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3200" dirty="0">
                <a:solidFill>
                  <a:srgbClr val="0070C0"/>
                </a:solidFill>
              </a:rPr>
              <a:t> /=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3200" dirty="0">
                <a:solidFill>
                  <a:srgbClr val="0070C0"/>
                </a:solidFill>
              </a:rPr>
              <a:t>%= 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Increment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876800"/>
          </a:xfrm>
        </p:spPr>
        <p:txBody>
          <a:bodyPr/>
          <a:lstStyle/>
          <a:p>
            <a:pPr>
              <a:defRPr/>
            </a:pPr>
            <a:r>
              <a:rPr lang="en-US" dirty="0"/>
              <a:t>You often need to add 1 to the value of an existing variable.  You can do this the “normal” way:</a:t>
            </a:r>
          </a:p>
          <a:p>
            <a:pPr marL="0" indent="0" algn="ctr">
              <a:buFont typeface="Arial" charset="0"/>
              <a:buNone/>
              <a:defRPr/>
            </a:pPr>
            <a:r>
              <a:rPr lang="en-US" sz="3200" dirty="0">
                <a:solidFill>
                  <a:srgbClr val="0070C0"/>
                </a:solidFill>
              </a:rPr>
              <a:t>count = count + 1;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Or you can use an arithmetic assignment operator:</a:t>
            </a:r>
          </a:p>
          <a:p>
            <a:pPr marL="0" indent="0" algn="ctr">
              <a:buFont typeface="Arial" charset="0"/>
              <a:buNone/>
              <a:defRPr/>
            </a:pPr>
            <a:r>
              <a:rPr lang="en-US" sz="3200" dirty="0">
                <a:solidFill>
                  <a:srgbClr val="0070C0"/>
                </a:solidFill>
              </a:rPr>
              <a:t>count += 1;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But there’s an even more condensed approach: </a:t>
            </a:r>
          </a:p>
          <a:p>
            <a:pPr marL="0" indent="0" algn="ctr">
              <a:buFont typeface="Arial" charset="0"/>
              <a:buNone/>
              <a:defRPr/>
            </a:pPr>
            <a:r>
              <a:rPr lang="en-US" sz="3200" dirty="0">
                <a:solidFill>
                  <a:srgbClr val="0070C0"/>
                </a:solidFill>
              </a:rPr>
              <a:t>++count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6868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Increment Operators: Prefix and Postfix</a:t>
            </a:r>
            <a:endParaRPr lang="en-US" dirty="0"/>
          </a:p>
        </p:txBody>
      </p:sp>
      <p:sp>
        <p:nvSpPr>
          <p:cNvPr id="7885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76800"/>
          </a:xfrm>
        </p:spPr>
        <p:txBody>
          <a:bodyPr/>
          <a:lstStyle/>
          <a:p>
            <a:pPr algn="just"/>
            <a:r>
              <a:rPr lang="en-US" altLang="en-US"/>
              <a:t>The increment operator can be used in two ways as </a:t>
            </a:r>
          </a:p>
          <a:p>
            <a:pPr algn="just"/>
            <a:endParaRPr lang="en-US" altLang="en-US" b="1" i="1">
              <a:solidFill>
                <a:srgbClr val="0070C0"/>
              </a:solidFill>
            </a:endParaRPr>
          </a:p>
          <a:p>
            <a:pPr algn="just"/>
            <a:r>
              <a:rPr lang="en-US" altLang="en-US" b="1" i="1">
                <a:solidFill>
                  <a:srgbClr val="0070C0"/>
                </a:solidFill>
              </a:rPr>
              <a:t>Prefix: </a:t>
            </a:r>
            <a:r>
              <a:rPr lang="en-US" altLang="en-US"/>
              <a:t>meaning that the operator precedes the variable. </a:t>
            </a:r>
          </a:p>
          <a:p>
            <a:pPr algn="just"/>
            <a:r>
              <a:rPr lang="en-US" altLang="en-US" b="1" i="1">
                <a:solidFill>
                  <a:srgbClr val="0070C0"/>
                </a:solidFill>
              </a:rPr>
              <a:t>Postfix</a:t>
            </a:r>
            <a:r>
              <a:rPr lang="en-US" altLang="en-US"/>
              <a:t>, meaning that the operator follows the variable. </a:t>
            </a:r>
          </a:p>
          <a:p>
            <a:pPr algn="just"/>
            <a:endParaRPr lang="en-US" altLang="en-US"/>
          </a:p>
          <a:p>
            <a:pPr algn="just"/>
            <a:r>
              <a:rPr lang="en-US" altLang="en-US"/>
              <a:t>What’s the difference? </a:t>
            </a:r>
            <a:endParaRPr lang="en-US" altLang="en-US" sz="32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6868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Increment Operators: Prefix and Postfix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76800"/>
          </a:xfrm>
        </p:spPr>
        <p:txBody>
          <a:bodyPr/>
          <a:lstStyle/>
          <a:p>
            <a:pPr algn="just">
              <a:defRPr/>
            </a:pPr>
            <a:r>
              <a:rPr lang="en-US" dirty="0"/>
              <a:t>What’s the difference? Lets have an example 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 err="1">
                <a:solidFill>
                  <a:srgbClr val="0070C0"/>
                </a:solidFill>
              </a:rPr>
              <a:t>int</a:t>
            </a:r>
            <a:r>
              <a:rPr lang="en-US" sz="2400" dirty="0">
                <a:solidFill>
                  <a:srgbClr val="0070C0"/>
                </a:solidFill>
              </a:rPr>
              <a:t> main(){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int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avgWeight</a:t>
            </a:r>
            <a:r>
              <a:rPr lang="en-US" sz="2400" dirty="0">
                <a:solidFill>
                  <a:srgbClr val="0070C0"/>
                </a:solidFill>
              </a:rPr>
              <a:t> = 5, count = 10, </a:t>
            </a:r>
            <a:r>
              <a:rPr lang="en-US" sz="2400" dirty="0" err="1">
                <a:solidFill>
                  <a:srgbClr val="0070C0"/>
                </a:solidFill>
              </a:rPr>
              <a:t>totalWeight</a:t>
            </a:r>
            <a:r>
              <a:rPr lang="en-US" sz="2400" dirty="0">
                <a:solidFill>
                  <a:srgbClr val="0070C0"/>
                </a:solidFill>
              </a:rPr>
              <a:t> = 0;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totalWeight</a:t>
            </a:r>
            <a:r>
              <a:rPr lang="en-US" sz="2400" dirty="0">
                <a:solidFill>
                  <a:srgbClr val="0070C0"/>
                </a:solidFill>
              </a:rPr>
              <a:t> = </a:t>
            </a:r>
            <a:r>
              <a:rPr lang="en-US" sz="2400" dirty="0" err="1">
                <a:solidFill>
                  <a:srgbClr val="0070C0"/>
                </a:solidFill>
              </a:rPr>
              <a:t>avgWeight</a:t>
            </a:r>
            <a:r>
              <a:rPr lang="en-US" sz="2400" dirty="0">
                <a:solidFill>
                  <a:srgbClr val="0070C0"/>
                </a:solidFill>
              </a:rPr>
              <a:t> * ++count;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cout</a:t>
            </a:r>
            <a:r>
              <a:rPr lang="en-US" sz="2400" dirty="0">
                <a:solidFill>
                  <a:srgbClr val="0070C0"/>
                </a:solidFill>
              </a:rPr>
              <a:t> &lt;&lt;  “</a:t>
            </a:r>
            <a:r>
              <a:rPr lang="en-US" sz="2400" dirty="0" err="1">
                <a:solidFill>
                  <a:srgbClr val="0070C0"/>
                </a:solidFill>
              </a:rPr>
              <a:t>totalWeight</a:t>
            </a:r>
            <a:r>
              <a:rPr lang="en-US" sz="2400" dirty="0">
                <a:solidFill>
                  <a:srgbClr val="0070C0"/>
                </a:solidFill>
              </a:rPr>
              <a:t> =“&lt;&lt;</a:t>
            </a:r>
            <a:r>
              <a:rPr lang="en-US" sz="2400" dirty="0" err="1">
                <a:solidFill>
                  <a:srgbClr val="0070C0"/>
                </a:solidFill>
              </a:rPr>
              <a:t>totalWeight</a:t>
            </a:r>
            <a:r>
              <a:rPr lang="en-US" sz="2400" dirty="0">
                <a:solidFill>
                  <a:srgbClr val="0070C0"/>
                </a:solidFill>
              </a:rPr>
              <a:t>&lt;&lt;</a:t>
            </a:r>
            <a:r>
              <a:rPr lang="en-US" sz="2400" dirty="0" err="1">
                <a:solidFill>
                  <a:srgbClr val="0070C0"/>
                </a:solidFill>
              </a:rPr>
              <a:t>endl</a:t>
            </a:r>
            <a:r>
              <a:rPr lang="en-US" sz="2400" dirty="0">
                <a:solidFill>
                  <a:srgbClr val="0070C0"/>
                </a:solidFill>
              </a:rPr>
              <a:t>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cout</a:t>
            </a:r>
            <a:r>
              <a:rPr lang="en-US" sz="2400" dirty="0">
                <a:solidFill>
                  <a:srgbClr val="0070C0"/>
                </a:solidFill>
              </a:rPr>
              <a:t> &lt;&lt;  “</a:t>
            </a:r>
            <a:r>
              <a:rPr lang="en-US" sz="2400" dirty="0" err="1">
                <a:solidFill>
                  <a:srgbClr val="0070C0"/>
                </a:solidFill>
              </a:rPr>
              <a:t>avgWeight</a:t>
            </a:r>
            <a:r>
              <a:rPr lang="en-US" sz="2400" dirty="0">
                <a:solidFill>
                  <a:srgbClr val="0070C0"/>
                </a:solidFill>
              </a:rPr>
              <a:t> =“&lt;&lt; </a:t>
            </a:r>
            <a:r>
              <a:rPr lang="en-US" sz="2400" dirty="0" err="1">
                <a:solidFill>
                  <a:srgbClr val="0070C0"/>
                </a:solidFill>
              </a:rPr>
              <a:t>avgWeight</a:t>
            </a:r>
            <a:r>
              <a:rPr lang="en-US" sz="2400" dirty="0">
                <a:solidFill>
                  <a:srgbClr val="0070C0"/>
                </a:solidFill>
              </a:rPr>
              <a:t>&lt;&lt;</a:t>
            </a:r>
            <a:r>
              <a:rPr lang="en-US" sz="2400" dirty="0" err="1">
                <a:solidFill>
                  <a:srgbClr val="0070C0"/>
                </a:solidFill>
              </a:rPr>
              <a:t>endl</a:t>
            </a:r>
            <a:r>
              <a:rPr lang="en-US" sz="2400" dirty="0">
                <a:solidFill>
                  <a:srgbClr val="0070C0"/>
                </a:solidFill>
              </a:rPr>
              <a:t>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cout</a:t>
            </a:r>
            <a:r>
              <a:rPr lang="en-US" sz="2400" dirty="0">
                <a:solidFill>
                  <a:srgbClr val="0070C0"/>
                </a:solidFill>
              </a:rPr>
              <a:t> &lt;&lt;  “count =“&lt;&lt; count&lt;&lt;</a:t>
            </a:r>
            <a:r>
              <a:rPr lang="en-US" sz="2400" dirty="0" err="1">
                <a:solidFill>
                  <a:srgbClr val="0070C0"/>
                </a:solidFill>
              </a:rPr>
              <a:t>endl</a:t>
            </a:r>
            <a:r>
              <a:rPr lang="en-US" sz="2400" dirty="0">
                <a:solidFill>
                  <a:srgbClr val="0070C0"/>
                </a:solidFill>
              </a:rPr>
              <a:t>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return 0;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}</a:t>
            </a:r>
          </a:p>
          <a:p>
            <a:pPr marL="457200" indent="-457200">
              <a:buFont typeface="+mj-lt"/>
              <a:buAutoNum type="arabicPeriod"/>
              <a:defRPr/>
            </a:pPr>
            <a:endParaRPr lang="en-US" dirty="0">
              <a:solidFill>
                <a:srgbClr val="0070C0"/>
              </a:solidFill>
            </a:endParaRPr>
          </a:p>
          <a:p>
            <a:pPr marL="457200" indent="-457200">
              <a:buFont typeface="+mj-lt"/>
              <a:buAutoNum type="arabicPeriod"/>
              <a:defRPr/>
            </a:pPr>
            <a:endParaRPr lang="en-US" dirty="0">
              <a:solidFill>
                <a:srgbClr val="0070C0"/>
              </a:solidFill>
            </a:endParaRPr>
          </a:p>
          <a:p>
            <a:pPr marL="0" indent="0" algn="ctr">
              <a:buFont typeface="Arial" charset="0"/>
              <a:buNone/>
              <a:defRPr/>
            </a:pPr>
            <a:endParaRPr lang="en-US" sz="32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6868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Increment Operators: Prefix and Postfix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4876800"/>
          </a:xfrm>
        </p:spPr>
        <p:txBody>
          <a:bodyPr/>
          <a:lstStyle/>
          <a:p>
            <a:pPr algn="just">
              <a:defRPr/>
            </a:pPr>
            <a:r>
              <a:rPr lang="en-US" dirty="0"/>
              <a:t>What’s the difference? Lets have an example 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 err="1">
                <a:solidFill>
                  <a:srgbClr val="0070C0"/>
                </a:solidFill>
              </a:rPr>
              <a:t>int</a:t>
            </a:r>
            <a:r>
              <a:rPr lang="en-US" sz="2400" dirty="0">
                <a:solidFill>
                  <a:srgbClr val="0070C0"/>
                </a:solidFill>
              </a:rPr>
              <a:t> main(){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int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avgWeight</a:t>
            </a:r>
            <a:r>
              <a:rPr lang="en-US" sz="2400" dirty="0">
                <a:solidFill>
                  <a:srgbClr val="0070C0"/>
                </a:solidFill>
              </a:rPr>
              <a:t> = 5, count = 10, </a:t>
            </a:r>
            <a:r>
              <a:rPr lang="en-US" sz="2400" dirty="0" err="1">
                <a:solidFill>
                  <a:srgbClr val="0070C0"/>
                </a:solidFill>
              </a:rPr>
              <a:t>totalWeight</a:t>
            </a:r>
            <a:r>
              <a:rPr lang="en-US" sz="2400" dirty="0">
                <a:solidFill>
                  <a:srgbClr val="0070C0"/>
                </a:solidFill>
              </a:rPr>
              <a:t> = 0;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totalWeight</a:t>
            </a:r>
            <a:r>
              <a:rPr lang="en-US" sz="2400" dirty="0">
                <a:solidFill>
                  <a:srgbClr val="0070C0"/>
                </a:solidFill>
              </a:rPr>
              <a:t> = </a:t>
            </a:r>
            <a:r>
              <a:rPr lang="en-US" sz="2400" dirty="0" err="1">
                <a:solidFill>
                  <a:srgbClr val="0070C0"/>
                </a:solidFill>
              </a:rPr>
              <a:t>avgWeight</a:t>
            </a:r>
            <a:r>
              <a:rPr lang="en-US" sz="2400" dirty="0">
                <a:solidFill>
                  <a:srgbClr val="0070C0"/>
                </a:solidFill>
              </a:rPr>
              <a:t> * ++count;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cout</a:t>
            </a:r>
            <a:r>
              <a:rPr lang="en-US" sz="2400" dirty="0">
                <a:solidFill>
                  <a:srgbClr val="0070C0"/>
                </a:solidFill>
              </a:rPr>
              <a:t> &lt;&lt;  “</a:t>
            </a:r>
            <a:r>
              <a:rPr lang="en-US" sz="2400" dirty="0" err="1">
                <a:solidFill>
                  <a:srgbClr val="0070C0"/>
                </a:solidFill>
              </a:rPr>
              <a:t>totalWeight</a:t>
            </a:r>
            <a:r>
              <a:rPr lang="en-US" sz="2400" dirty="0">
                <a:solidFill>
                  <a:srgbClr val="0070C0"/>
                </a:solidFill>
              </a:rPr>
              <a:t> =“&lt;&lt;</a:t>
            </a:r>
            <a:r>
              <a:rPr lang="en-US" sz="2400" dirty="0" err="1">
                <a:solidFill>
                  <a:srgbClr val="0070C0"/>
                </a:solidFill>
              </a:rPr>
              <a:t>totalWeight</a:t>
            </a:r>
            <a:r>
              <a:rPr lang="en-US" sz="2400" dirty="0">
                <a:solidFill>
                  <a:srgbClr val="0070C0"/>
                </a:solidFill>
              </a:rPr>
              <a:t>&lt;&lt;</a:t>
            </a:r>
            <a:r>
              <a:rPr lang="en-US" sz="2400" dirty="0" err="1">
                <a:solidFill>
                  <a:srgbClr val="0070C0"/>
                </a:solidFill>
              </a:rPr>
              <a:t>endl</a:t>
            </a:r>
            <a:r>
              <a:rPr lang="en-US" sz="2400" dirty="0">
                <a:solidFill>
                  <a:srgbClr val="0070C0"/>
                </a:solidFill>
              </a:rPr>
              <a:t>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cout</a:t>
            </a:r>
            <a:r>
              <a:rPr lang="en-US" sz="2400" dirty="0">
                <a:solidFill>
                  <a:srgbClr val="0070C0"/>
                </a:solidFill>
              </a:rPr>
              <a:t> &lt;&lt;  “</a:t>
            </a:r>
            <a:r>
              <a:rPr lang="en-US" sz="2400" dirty="0" err="1">
                <a:solidFill>
                  <a:srgbClr val="0070C0"/>
                </a:solidFill>
              </a:rPr>
              <a:t>avgWeight</a:t>
            </a:r>
            <a:r>
              <a:rPr lang="en-US" sz="2400" dirty="0">
                <a:solidFill>
                  <a:srgbClr val="0070C0"/>
                </a:solidFill>
              </a:rPr>
              <a:t> =“&lt;&lt; </a:t>
            </a:r>
            <a:r>
              <a:rPr lang="en-US" sz="2400" dirty="0" err="1">
                <a:solidFill>
                  <a:srgbClr val="0070C0"/>
                </a:solidFill>
              </a:rPr>
              <a:t>avgWeight</a:t>
            </a:r>
            <a:r>
              <a:rPr lang="en-US" sz="2400" dirty="0">
                <a:solidFill>
                  <a:srgbClr val="0070C0"/>
                </a:solidFill>
              </a:rPr>
              <a:t>&lt;&lt;</a:t>
            </a:r>
            <a:r>
              <a:rPr lang="en-US" sz="2400" dirty="0" err="1">
                <a:solidFill>
                  <a:srgbClr val="0070C0"/>
                </a:solidFill>
              </a:rPr>
              <a:t>endl</a:t>
            </a:r>
            <a:r>
              <a:rPr lang="en-US" sz="2400" dirty="0">
                <a:solidFill>
                  <a:srgbClr val="0070C0"/>
                </a:solidFill>
              </a:rPr>
              <a:t>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cout</a:t>
            </a:r>
            <a:r>
              <a:rPr lang="en-US" sz="2400" dirty="0">
                <a:solidFill>
                  <a:srgbClr val="0070C0"/>
                </a:solidFill>
              </a:rPr>
              <a:t> &lt;&lt;  “count =“&lt;&lt; count&lt;&lt;</a:t>
            </a:r>
            <a:r>
              <a:rPr lang="en-US" sz="2400" dirty="0" err="1">
                <a:solidFill>
                  <a:srgbClr val="0070C0"/>
                </a:solidFill>
              </a:rPr>
              <a:t>endl</a:t>
            </a:r>
            <a:r>
              <a:rPr lang="en-US" sz="2400" dirty="0">
                <a:solidFill>
                  <a:srgbClr val="0070C0"/>
                </a:solidFill>
              </a:rPr>
              <a:t>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return 0;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}</a:t>
            </a:r>
          </a:p>
          <a:p>
            <a:pPr marL="457200" indent="-457200">
              <a:buFont typeface="+mj-lt"/>
              <a:buAutoNum type="arabicPeriod"/>
              <a:defRPr/>
            </a:pPr>
            <a:endParaRPr lang="en-US" dirty="0">
              <a:solidFill>
                <a:srgbClr val="0070C0"/>
              </a:solidFill>
            </a:endParaRPr>
          </a:p>
          <a:p>
            <a:pPr marL="457200" indent="-457200">
              <a:buFont typeface="+mj-lt"/>
              <a:buAutoNum type="arabicPeriod"/>
              <a:defRPr/>
            </a:pPr>
            <a:endParaRPr lang="en-US" dirty="0">
              <a:solidFill>
                <a:srgbClr val="0070C0"/>
              </a:solidFill>
            </a:endParaRPr>
          </a:p>
          <a:p>
            <a:pPr marL="0" indent="0" algn="ctr">
              <a:buFont typeface="Arial" charset="0"/>
              <a:buNone/>
              <a:defRPr/>
            </a:pPr>
            <a:endParaRPr lang="en-US" sz="3200" dirty="0">
              <a:solidFill>
                <a:srgbClr val="0070C0"/>
              </a:solidFill>
            </a:endParaRPr>
          </a:p>
        </p:txBody>
      </p:sp>
      <p:pic>
        <p:nvPicPr>
          <p:cNvPr id="8090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0" y="4724400"/>
            <a:ext cx="535305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6868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Increment Operators: Prefix and Postfix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76800"/>
          </a:xfrm>
        </p:spPr>
        <p:txBody>
          <a:bodyPr/>
          <a:lstStyle/>
          <a:p>
            <a:pPr algn="just">
              <a:defRPr/>
            </a:pPr>
            <a:r>
              <a:rPr lang="en-US" dirty="0"/>
              <a:t>What’s the difference? Lets have an example 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 err="1">
                <a:solidFill>
                  <a:srgbClr val="0070C0"/>
                </a:solidFill>
              </a:rPr>
              <a:t>int</a:t>
            </a:r>
            <a:r>
              <a:rPr lang="en-US" sz="2400" dirty="0">
                <a:solidFill>
                  <a:srgbClr val="0070C0"/>
                </a:solidFill>
              </a:rPr>
              <a:t> main(){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int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avgWeight</a:t>
            </a:r>
            <a:r>
              <a:rPr lang="en-US" sz="2400" dirty="0">
                <a:solidFill>
                  <a:srgbClr val="0070C0"/>
                </a:solidFill>
              </a:rPr>
              <a:t> = 5, count = 10, </a:t>
            </a:r>
            <a:r>
              <a:rPr lang="en-US" sz="2400" dirty="0" err="1">
                <a:solidFill>
                  <a:srgbClr val="0070C0"/>
                </a:solidFill>
              </a:rPr>
              <a:t>totalWeight</a:t>
            </a:r>
            <a:r>
              <a:rPr lang="en-US" sz="2400" dirty="0">
                <a:solidFill>
                  <a:srgbClr val="0070C0"/>
                </a:solidFill>
              </a:rPr>
              <a:t> = 0;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totalWeight</a:t>
            </a:r>
            <a:r>
              <a:rPr lang="en-US" sz="2400" dirty="0">
                <a:solidFill>
                  <a:srgbClr val="0070C0"/>
                </a:solidFill>
              </a:rPr>
              <a:t> = </a:t>
            </a:r>
            <a:r>
              <a:rPr lang="en-US" sz="2400" dirty="0" err="1">
                <a:solidFill>
                  <a:srgbClr val="0070C0"/>
                </a:solidFill>
              </a:rPr>
              <a:t>avgWeight</a:t>
            </a:r>
            <a:r>
              <a:rPr lang="en-US" sz="2400" dirty="0">
                <a:solidFill>
                  <a:srgbClr val="0070C0"/>
                </a:solidFill>
              </a:rPr>
              <a:t> * count++;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cout</a:t>
            </a:r>
            <a:r>
              <a:rPr lang="en-US" sz="2400" dirty="0">
                <a:solidFill>
                  <a:srgbClr val="0070C0"/>
                </a:solidFill>
              </a:rPr>
              <a:t> &lt;&lt;  “</a:t>
            </a:r>
            <a:r>
              <a:rPr lang="en-US" sz="2400" dirty="0" err="1">
                <a:solidFill>
                  <a:srgbClr val="0070C0"/>
                </a:solidFill>
              </a:rPr>
              <a:t>totalWeight</a:t>
            </a:r>
            <a:r>
              <a:rPr lang="en-US" sz="2400" dirty="0">
                <a:solidFill>
                  <a:srgbClr val="0070C0"/>
                </a:solidFill>
              </a:rPr>
              <a:t> =“&lt;&lt;</a:t>
            </a:r>
            <a:r>
              <a:rPr lang="en-US" sz="2400" dirty="0" err="1">
                <a:solidFill>
                  <a:srgbClr val="0070C0"/>
                </a:solidFill>
              </a:rPr>
              <a:t>totalWeight</a:t>
            </a:r>
            <a:r>
              <a:rPr lang="en-US" sz="2400" dirty="0">
                <a:solidFill>
                  <a:srgbClr val="0070C0"/>
                </a:solidFill>
              </a:rPr>
              <a:t>&lt;&lt;</a:t>
            </a:r>
            <a:r>
              <a:rPr lang="en-US" sz="2400" dirty="0" err="1">
                <a:solidFill>
                  <a:srgbClr val="0070C0"/>
                </a:solidFill>
              </a:rPr>
              <a:t>endl</a:t>
            </a:r>
            <a:r>
              <a:rPr lang="en-US" sz="2400" dirty="0">
                <a:solidFill>
                  <a:srgbClr val="0070C0"/>
                </a:solidFill>
              </a:rPr>
              <a:t>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cout</a:t>
            </a:r>
            <a:r>
              <a:rPr lang="en-US" sz="2400" dirty="0">
                <a:solidFill>
                  <a:srgbClr val="0070C0"/>
                </a:solidFill>
              </a:rPr>
              <a:t> &lt;&lt;  “</a:t>
            </a:r>
            <a:r>
              <a:rPr lang="en-US" sz="2400" dirty="0" err="1">
                <a:solidFill>
                  <a:srgbClr val="0070C0"/>
                </a:solidFill>
              </a:rPr>
              <a:t>avgWeight</a:t>
            </a:r>
            <a:r>
              <a:rPr lang="en-US" sz="2400" dirty="0">
                <a:solidFill>
                  <a:srgbClr val="0070C0"/>
                </a:solidFill>
              </a:rPr>
              <a:t> =“&lt;&lt; </a:t>
            </a:r>
            <a:r>
              <a:rPr lang="en-US" sz="2400" dirty="0" err="1">
                <a:solidFill>
                  <a:srgbClr val="0070C0"/>
                </a:solidFill>
              </a:rPr>
              <a:t>avgWeight</a:t>
            </a:r>
            <a:r>
              <a:rPr lang="en-US" sz="2400" dirty="0">
                <a:solidFill>
                  <a:srgbClr val="0070C0"/>
                </a:solidFill>
              </a:rPr>
              <a:t>&lt;&lt;</a:t>
            </a:r>
            <a:r>
              <a:rPr lang="en-US" sz="2400" dirty="0" err="1">
                <a:solidFill>
                  <a:srgbClr val="0070C0"/>
                </a:solidFill>
              </a:rPr>
              <a:t>endl</a:t>
            </a:r>
            <a:r>
              <a:rPr lang="en-US" sz="2400" dirty="0">
                <a:solidFill>
                  <a:srgbClr val="0070C0"/>
                </a:solidFill>
              </a:rPr>
              <a:t>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cout</a:t>
            </a:r>
            <a:r>
              <a:rPr lang="en-US" sz="2400" dirty="0">
                <a:solidFill>
                  <a:srgbClr val="0070C0"/>
                </a:solidFill>
              </a:rPr>
              <a:t> &lt;&lt;  “count =“&lt;&lt; count&lt;&lt;</a:t>
            </a:r>
            <a:r>
              <a:rPr lang="en-US" sz="2400" dirty="0" err="1">
                <a:solidFill>
                  <a:srgbClr val="0070C0"/>
                </a:solidFill>
              </a:rPr>
              <a:t>endl</a:t>
            </a:r>
            <a:r>
              <a:rPr lang="en-US" sz="2400" dirty="0">
                <a:solidFill>
                  <a:srgbClr val="0070C0"/>
                </a:solidFill>
              </a:rPr>
              <a:t>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return 0;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}</a:t>
            </a:r>
          </a:p>
          <a:p>
            <a:pPr marL="457200" indent="-457200">
              <a:buFont typeface="+mj-lt"/>
              <a:buAutoNum type="arabicPeriod"/>
              <a:defRPr/>
            </a:pPr>
            <a:endParaRPr lang="en-US" dirty="0">
              <a:solidFill>
                <a:srgbClr val="0070C0"/>
              </a:solidFill>
            </a:endParaRPr>
          </a:p>
          <a:p>
            <a:pPr marL="457200" indent="-457200">
              <a:buFont typeface="+mj-lt"/>
              <a:buAutoNum type="arabicPeriod"/>
              <a:defRPr/>
            </a:pPr>
            <a:endParaRPr lang="en-US" dirty="0">
              <a:solidFill>
                <a:srgbClr val="0070C0"/>
              </a:solidFill>
            </a:endParaRPr>
          </a:p>
          <a:p>
            <a:pPr marL="0" indent="0" algn="ctr">
              <a:buFont typeface="Arial" charset="0"/>
              <a:buNone/>
              <a:defRPr/>
            </a:pPr>
            <a:endParaRPr lang="en-US" sz="32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6868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/>
              <a:t>Increment Operators: Prefix and Postfix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76800"/>
          </a:xfrm>
        </p:spPr>
        <p:txBody>
          <a:bodyPr/>
          <a:lstStyle/>
          <a:p>
            <a:pPr algn="just">
              <a:defRPr/>
            </a:pPr>
            <a:r>
              <a:rPr lang="en-US" dirty="0"/>
              <a:t>What’s the difference? Lets have an example 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 err="1">
                <a:solidFill>
                  <a:srgbClr val="0070C0"/>
                </a:solidFill>
              </a:rPr>
              <a:t>int</a:t>
            </a:r>
            <a:r>
              <a:rPr lang="en-US" sz="2400" dirty="0">
                <a:solidFill>
                  <a:srgbClr val="0070C0"/>
                </a:solidFill>
              </a:rPr>
              <a:t> main(){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int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avgWeight</a:t>
            </a:r>
            <a:r>
              <a:rPr lang="en-US" sz="2400" dirty="0">
                <a:solidFill>
                  <a:srgbClr val="0070C0"/>
                </a:solidFill>
              </a:rPr>
              <a:t> = 5, count = 10, </a:t>
            </a:r>
            <a:r>
              <a:rPr lang="en-US" sz="2400" dirty="0" err="1">
                <a:solidFill>
                  <a:srgbClr val="0070C0"/>
                </a:solidFill>
              </a:rPr>
              <a:t>totalWeight</a:t>
            </a:r>
            <a:r>
              <a:rPr lang="en-US" sz="2400" dirty="0">
                <a:solidFill>
                  <a:srgbClr val="0070C0"/>
                </a:solidFill>
              </a:rPr>
              <a:t> = 0;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totalWeight</a:t>
            </a:r>
            <a:r>
              <a:rPr lang="en-US" sz="2400" dirty="0">
                <a:solidFill>
                  <a:srgbClr val="0070C0"/>
                </a:solidFill>
              </a:rPr>
              <a:t> = </a:t>
            </a:r>
            <a:r>
              <a:rPr lang="en-US" sz="2400" dirty="0" err="1">
                <a:solidFill>
                  <a:srgbClr val="0070C0"/>
                </a:solidFill>
              </a:rPr>
              <a:t>avgWeight</a:t>
            </a:r>
            <a:r>
              <a:rPr lang="en-US" sz="2400" dirty="0">
                <a:solidFill>
                  <a:srgbClr val="0070C0"/>
                </a:solidFill>
              </a:rPr>
              <a:t> * count++;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cout</a:t>
            </a:r>
            <a:r>
              <a:rPr lang="en-US" sz="2400" dirty="0">
                <a:solidFill>
                  <a:srgbClr val="0070C0"/>
                </a:solidFill>
              </a:rPr>
              <a:t> &lt;&lt;  “</a:t>
            </a:r>
            <a:r>
              <a:rPr lang="en-US" sz="2400" dirty="0" err="1">
                <a:solidFill>
                  <a:srgbClr val="0070C0"/>
                </a:solidFill>
              </a:rPr>
              <a:t>totalWeight</a:t>
            </a:r>
            <a:r>
              <a:rPr lang="en-US" sz="2400" dirty="0">
                <a:solidFill>
                  <a:srgbClr val="0070C0"/>
                </a:solidFill>
              </a:rPr>
              <a:t> =“&lt;&lt;</a:t>
            </a:r>
            <a:r>
              <a:rPr lang="en-US" sz="2400" dirty="0" err="1">
                <a:solidFill>
                  <a:srgbClr val="0070C0"/>
                </a:solidFill>
              </a:rPr>
              <a:t>totalWeight</a:t>
            </a:r>
            <a:r>
              <a:rPr lang="en-US" sz="2400" dirty="0">
                <a:solidFill>
                  <a:srgbClr val="0070C0"/>
                </a:solidFill>
              </a:rPr>
              <a:t>&lt;&lt;</a:t>
            </a:r>
            <a:r>
              <a:rPr lang="en-US" sz="2400" dirty="0" err="1">
                <a:solidFill>
                  <a:srgbClr val="0070C0"/>
                </a:solidFill>
              </a:rPr>
              <a:t>endl</a:t>
            </a:r>
            <a:r>
              <a:rPr lang="en-US" sz="2400" dirty="0">
                <a:solidFill>
                  <a:srgbClr val="0070C0"/>
                </a:solidFill>
              </a:rPr>
              <a:t>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cout</a:t>
            </a:r>
            <a:r>
              <a:rPr lang="en-US" sz="2400" dirty="0">
                <a:solidFill>
                  <a:srgbClr val="0070C0"/>
                </a:solidFill>
              </a:rPr>
              <a:t> &lt;&lt;  “</a:t>
            </a:r>
            <a:r>
              <a:rPr lang="en-US" sz="2400" dirty="0" err="1">
                <a:solidFill>
                  <a:srgbClr val="0070C0"/>
                </a:solidFill>
              </a:rPr>
              <a:t>avgWeight</a:t>
            </a:r>
            <a:r>
              <a:rPr lang="en-US" sz="2400" dirty="0">
                <a:solidFill>
                  <a:srgbClr val="0070C0"/>
                </a:solidFill>
              </a:rPr>
              <a:t> =“&lt;&lt; </a:t>
            </a:r>
            <a:r>
              <a:rPr lang="en-US" sz="2400" dirty="0" err="1">
                <a:solidFill>
                  <a:srgbClr val="0070C0"/>
                </a:solidFill>
              </a:rPr>
              <a:t>avgWeight</a:t>
            </a:r>
            <a:r>
              <a:rPr lang="en-US" sz="2400" dirty="0">
                <a:solidFill>
                  <a:srgbClr val="0070C0"/>
                </a:solidFill>
              </a:rPr>
              <a:t>&lt;&lt;</a:t>
            </a:r>
            <a:r>
              <a:rPr lang="en-US" sz="2400" dirty="0" err="1">
                <a:solidFill>
                  <a:srgbClr val="0070C0"/>
                </a:solidFill>
              </a:rPr>
              <a:t>endl</a:t>
            </a:r>
            <a:r>
              <a:rPr lang="en-US" sz="2400" dirty="0">
                <a:solidFill>
                  <a:srgbClr val="0070C0"/>
                </a:solidFill>
              </a:rPr>
              <a:t>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err="1">
                <a:solidFill>
                  <a:srgbClr val="0070C0"/>
                </a:solidFill>
              </a:rPr>
              <a:t>cout</a:t>
            </a:r>
            <a:r>
              <a:rPr lang="en-US" sz="2400" dirty="0">
                <a:solidFill>
                  <a:srgbClr val="0070C0"/>
                </a:solidFill>
              </a:rPr>
              <a:t> &lt;&lt;  “count =“&lt;&lt; count&lt;&lt;</a:t>
            </a:r>
            <a:r>
              <a:rPr lang="en-US" sz="2400" dirty="0" err="1">
                <a:solidFill>
                  <a:srgbClr val="0070C0"/>
                </a:solidFill>
              </a:rPr>
              <a:t>endl</a:t>
            </a:r>
            <a:r>
              <a:rPr lang="en-US" sz="2400" dirty="0">
                <a:solidFill>
                  <a:srgbClr val="0070C0"/>
                </a:solidFill>
              </a:rPr>
              <a:t>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	return 0;</a:t>
            </a:r>
          </a:p>
          <a:p>
            <a:pPr marL="274637" lvl="1" indent="0">
              <a:buFont typeface="Arial" charset="0"/>
              <a:buNone/>
              <a:defRPr/>
            </a:pPr>
            <a:r>
              <a:rPr lang="en-US" sz="2400" dirty="0">
                <a:solidFill>
                  <a:srgbClr val="0070C0"/>
                </a:solidFill>
              </a:rPr>
              <a:t>}</a:t>
            </a:r>
          </a:p>
          <a:p>
            <a:pPr marL="457200" indent="-457200">
              <a:buFont typeface="+mj-lt"/>
              <a:buAutoNum type="arabicPeriod"/>
              <a:defRPr/>
            </a:pPr>
            <a:endParaRPr lang="en-US" dirty="0">
              <a:solidFill>
                <a:srgbClr val="0070C0"/>
              </a:solidFill>
            </a:endParaRPr>
          </a:p>
          <a:p>
            <a:pPr marL="457200" indent="-457200">
              <a:buFont typeface="+mj-lt"/>
              <a:buAutoNum type="arabicPeriod"/>
              <a:defRPr/>
            </a:pPr>
            <a:endParaRPr lang="en-US" dirty="0">
              <a:solidFill>
                <a:srgbClr val="0070C0"/>
              </a:solidFill>
            </a:endParaRPr>
          </a:p>
          <a:p>
            <a:pPr marL="0" indent="0" algn="ctr">
              <a:buFont typeface="Arial" charset="0"/>
              <a:buNone/>
              <a:defRPr/>
            </a:pPr>
            <a:endParaRPr lang="en-US" sz="3200" dirty="0">
              <a:solidFill>
                <a:srgbClr val="0070C0"/>
              </a:solidFill>
            </a:endParaRPr>
          </a:p>
        </p:txBody>
      </p:sp>
      <p:pic>
        <p:nvPicPr>
          <p:cNvPr id="8294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4662488"/>
            <a:ext cx="5467350" cy="217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The Decrement (--)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dirty="0"/>
              <a:t>The decrement operator, --, behaves very much like the increment operator, except that it subtracts 1 from its operand. 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It too can be used in both prefix and postfix forms.</a:t>
            </a:r>
          </a:p>
          <a:p>
            <a:pPr algn="just">
              <a:defRPr/>
            </a:pPr>
            <a:endParaRPr lang="en-US" dirty="0"/>
          </a:p>
          <a:p>
            <a:pPr marL="0" indent="0" algn="ctr">
              <a:buFont typeface="Arial" charset="0"/>
              <a:buNone/>
              <a:defRPr/>
            </a:pPr>
            <a:r>
              <a:rPr lang="en-US" sz="3200" dirty="0">
                <a:solidFill>
                  <a:srgbClr val="0070C0"/>
                </a:solidFill>
              </a:rPr>
              <a:t>count --; </a:t>
            </a:r>
            <a:r>
              <a:rPr lang="en-US" sz="3200" dirty="0"/>
              <a:t>and</a:t>
            </a:r>
            <a:r>
              <a:rPr lang="en-US" sz="3200" dirty="0">
                <a:solidFill>
                  <a:srgbClr val="0070C0"/>
                </a:solidFill>
              </a:rPr>
              <a:t> --count;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You are enough capable to write </a:t>
            </a:r>
            <a:endParaRPr lang="en-US" dirty="0"/>
          </a:p>
        </p:txBody>
      </p:sp>
      <p:sp>
        <p:nvSpPr>
          <p:cNvPr id="8499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371600"/>
          </a:xfrm>
        </p:spPr>
        <p:txBody>
          <a:bodyPr/>
          <a:lstStyle/>
          <a:p>
            <a:pPr algn="just"/>
            <a:r>
              <a:rPr lang="en-US" altLang="en-US"/>
              <a:t>The total time for work (in minutes) and rate per hour is input through the keyboard. Write a program to calculate and print total pay.</a:t>
            </a:r>
          </a:p>
          <a:p>
            <a:pPr algn="just"/>
            <a:endParaRPr lang="en-US" altLang="en-US" sz="32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14400"/>
          </a:xfrm>
        </p:spPr>
        <p:txBody>
          <a:bodyPr/>
          <a:lstStyle/>
          <a:p>
            <a:pPr>
              <a:defRPr/>
            </a:pPr>
            <a:r>
              <a:rPr lang="en-US" b="1" dirty="0"/>
              <a:t>Input using </a:t>
            </a:r>
            <a:r>
              <a:rPr lang="en-US" b="1" dirty="0" err="1"/>
              <a:t>Cin</a:t>
            </a:r>
            <a:endParaRPr lang="en-US" dirty="0"/>
          </a:p>
        </p:txBody>
      </p:sp>
      <p:sp>
        <p:nvSpPr>
          <p:cNvPr id="86019" name="Content Placeholder 2"/>
          <p:cNvSpPr txBox="1">
            <a:spLocks/>
          </p:cNvSpPr>
          <p:nvPr/>
        </p:nvSpPr>
        <p:spPr bwMode="auto">
          <a:xfrm>
            <a:off x="304800" y="1219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3050" lvl="1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None/>
            </a:pPr>
            <a:endParaRPr lang="en-US" altLang="en-US" sz="2000" dirty="0">
              <a:solidFill>
                <a:srgbClr val="0070C0"/>
              </a:solidFill>
              <a:latin typeface="Arial" charset="0"/>
            </a:endParaRPr>
          </a:p>
          <a:p>
            <a:pPr marL="273050" lvl="1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None/>
            </a:pPr>
            <a:r>
              <a:rPr lang="en-US" altLang="en-US" sz="2000" dirty="0" err="1">
                <a:solidFill>
                  <a:srgbClr val="0070C0"/>
                </a:solidFill>
                <a:latin typeface="Arial" charset="0"/>
              </a:rPr>
              <a:t>int</a:t>
            </a: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 main(){</a:t>
            </a:r>
          </a:p>
          <a:p>
            <a:pPr marL="273050" lvl="1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None/>
            </a:pP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  </a:t>
            </a:r>
            <a:r>
              <a:rPr lang="en-US" altLang="en-US" sz="2000" dirty="0" err="1">
                <a:solidFill>
                  <a:srgbClr val="0070C0"/>
                </a:solidFill>
                <a:latin typeface="Arial" charset="0"/>
              </a:rPr>
              <a:t>int</a:t>
            </a: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 </a:t>
            </a:r>
            <a:r>
              <a:rPr lang="en-US" altLang="en-US" sz="2000" dirty="0" err="1">
                <a:solidFill>
                  <a:srgbClr val="0070C0"/>
                </a:solidFill>
                <a:latin typeface="Arial" charset="0"/>
              </a:rPr>
              <a:t>timeinmin</a:t>
            </a: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, </a:t>
            </a:r>
            <a:r>
              <a:rPr lang="en-US" altLang="en-US" sz="2000" dirty="0" err="1">
                <a:solidFill>
                  <a:srgbClr val="0070C0"/>
                </a:solidFill>
                <a:latin typeface="Arial" charset="0"/>
              </a:rPr>
              <a:t>totalpay</a:t>
            </a: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=0, </a:t>
            </a:r>
            <a:r>
              <a:rPr lang="en-US" altLang="en-US" sz="2000" dirty="0" err="1">
                <a:solidFill>
                  <a:srgbClr val="0070C0"/>
                </a:solidFill>
                <a:latin typeface="Arial" charset="0"/>
              </a:rPr>
              <a:t>rateperhr</a:t>
            </a: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;</a:t>
            </a:r>
          </a:p>
          <a:p>
            <a:pPr marL="273050" lvl="1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None/>
            </a:pP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  float </a:t>
            </a:r>
            <a:r>
              <a:rPr lang="en-US" altLang="en-US" sz="2000" dirty="0" err="1">
                <a:solidFill>
                  <a:srgbClr val="0070C0"/>
                </a:solidFill>
                <a:latin typeface="Arial" charset="0"/>
              </a:rPr>
              <a:t>timeinhr</a:t>
            </a: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;</a:t>
            </a:r>
          </a:p>
          <a:p>
            <a:pPr marL="273050" lvl="1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None/>
            </a:pP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  </a:t>
            </a:r>
            <a:r>
              <a:rPr lang="en-US" altLang="en-US" sz="2000" dirty="0" err="1">
                <a:solidFill>
                  <a:srgbClr val="0070C0"/>
                </a:solidFill>
                <a:latin typeface="Arial" charset="0"/>
              </a:rPr>
              <a:t>cout</a:t>
            </a: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 &lt;&lt;  “Enter total minutes you worked”;	</a:t>
            </a:r>
          </a:p>
          <a:p>
            <a:pPr marL="273050" lvl="1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None/>
            </a:pP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  </a:t>
            </a:r>
            <a:r>
              <a:rPr lang="en-US" altLang="en-US" sz="2000" dirty="0" err="1">
                <a:solidFill>
                  <a:srgbClr val="0070C0"/>
                </a:solidFill>
                <a:latin typeface="Arial" charset="0"/>
              </a:rPr>
              <a:t>cin</a:t>
            </a: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&gt;&gt;</a:t>
            </a:r>
            <a:r>
              <a:rPr lang="en-US" altLang="en-US" sz="2000" dirty="0" err="1">
                <a:solidFill>
                  <a:srgbClr val="0070C0"/>
                </a:solidFill>
                <a:latin typeface="Arial" charset="0"/>
              </a:rPr>
              <a:t>timeinmin</a:t>
            </a: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;</a:t>
            </a:r>
          </a:p>
          <a:p>
            <a:pPr marL="273050" lvl="1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None/>
            </a:pP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  </a:t>
            </a:r>
            <a:r>
              <a:rPr lang="en-US" altLang="en-US" sz="2000" dirty="0" err="1">
                <a:solidFill>
                  <a:srgbClr val="0070C0"/>
                </a:solidFill>
                <a:latin typeface="Arial" charset="0"/>
              </a:rPr>
              <a:t>cout</a:t>
            </a: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 &lt;&lt;  “Enter rate per hour”;		</a:t>
            </a:r>
          </a:p>
          <a:p>
            <a:pPr marL="273050" lvl="1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None/>
            </a:pP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  </a:t>
            </a:r>
            <a:r>
              <a:rPr lang="en-US" altLang="en-US" sz="2000" dirty="0" err="1">
                <a:solidFill>
                  <a:srgbClr val="0070C0"/>
                </a:solidFill>
                <a:latin typeface="Arial" charset="0"/>
              </a:rPr>
              <a:t>cin</a:t>
            </a: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&gt;&gt;</a:t>
            </a:r>
            <a:r>
              <a:rPr lang="en-US" altLang="en-US" sz="2000" dirty="0" err="1">
                <a:solidFill>
                  <a:srgbClr val="0070C0"/>
                </a:solidFill>
                <a:latin typeface="Arial" charset="0"/>
              </a:rPr>
              <a:t>rateperhr</a:t>
            </a: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;</a:t>
            </a:r>
          </a:p>
          <a:p>
            <a:pPr marL="273050" lvl="1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None/>
            </a:pPr>
            <a:endParaRPr lang="en-US" altLang="en-US" sz="2000" dirty="0">
              <a:solidFill>
                <a:srgbClr val="0070C0"/>
              </a:solidFill>
              <a:latin typeface="Arial" charset="0"/>
            </a:endParaRPr>
          </a:p>
          <a:p>
            <a:pPr marL="273050" lvl="1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None/>
            </a:pP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  </a:t>
            </a:r>
            <a:r>
              <a:rPr lang="en-US" altLang="en-US" sz="2000" dirty="0" err="1">
                <a:solidFill>
                  <a:srgbClr val="0070C0"/>
                </a:solidFill>
                <a:latin typeface="Arial" charset="0"/>
              </a:rPr>
              <a:t>timeinhour</a:t>
            </a: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 = </a:t>
            </a:r>
            <a:r>
              <a:rPr lang="en-US" altLang="en-US" sz="2000" dirty="0" err="1">
                <a:solidFill>
                  <a:srgbClr val="0070C0"/>
                </a:solidFill>
                <a:latin typeface="Arial" charset="0"/>
              </a:rPr>
              <a:t>timeinmin</a:t>
            </a: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/60;</a:t>
            </a:r>
          </a:p>
          <a:p>
            <a:pPr marL="273050" lvl="1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None/>
            </a:pP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  </a:t>
            </a:r>
            <a:r>
              <a:rPr lang="en-US" altLang="en-US" sz="2000" dirty="0" err="1">
                <a:solidFill>
                  <a:srgbClr val="0070C0"/>
                </a:solidFill>
                <a:latin typeface="Arial" charset="0"/>
              </a:rPr>
              <a:t>totalpay</a:t>
            </a: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 = </a:t>
            </a:r>
            <a:r>
              <a:rPr lang="en-US" altLang="en-US" sz="2000" dirty="0" err="1">
                <a:solidFill>
                  <a:srgbClr val="0070C0"/>
                </a:solidFill>
                <a:latin typeface="Arial" charset="0"/>
              </a:rPr>
              <a:t>timeinhour</a:t>
            </a: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 * </a:t>
            </a:r>
            <a:r>
              <a:rPr lang="en-US" altLang="en-US" sz="2000" dirty="0" err="1">
                <a:solidFill>
                  <a:srgbClr val="0070C0"/>
                </a:solidFill>
                <a:latin typeface="Arial" charset="0"/>
              </a:rPr>
              <a:t>rateperhr</a:t>
            </a: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;</a:t>
            </a:r>
          </a:p>
          <a:p>
            <a:pPr marL="273050" lvl="1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None/>
            </a:pP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  </a:t>
            </a:r>
          </a:p>
          <a:p>
            <a:pPr marL="273050" lvl="1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None/>
            </a:pP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  </a:t>
            </a:r>
            <a:r>
              <a:rPr lang="en-US" altLang="en-US" sz="2000" dirty="0" err="1">
                <a:solidFill>
                  <a:srgbClr val="0070C0"/>
                </a:solidFill>
                <a:latin typeface="Arial" charset="0"/>
              </a:rPr>
              <a:t>cout</a:t>
            </a: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 &lt;&lt;  “Your Total Pay =”&lt;&lt; </a:t>
            </a:r>
            <a:r>
              <a:rPr lang="en-US" altLang="en-US" sz="2000" dirty="0" err="1">
                <a:solidFill>
                  <a:srgbClr val="0070C0"/>
                </a:solidFill>
                <a:latin typeface="Arial" charset="0"/>
              </a:rPr>
              <a:t>totalpay</a:t>
            </a: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 &lt;&lt;</a:t>
            </a:r>
            <a:r>
              <a:rPr lang="en-US" altLang="en-US" sz="2000" dirty="0" err="1">
                <a:solidFill>
                  <a:srgbClr val="0070C0"/>
                </a:solidFill>
                <a:latin typeface="Arial" charset="0"/>
              </a:rPr>
              <a:t>endl</a:t>
            </a: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;</a:t>
            </a:r>
          </a:p>
          <a:p>
            <a:pPr marL="273050" lvl="1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None/>
            </a:pP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  return 0;</a:t>
            </a:r>
          </a:p>
          <a:p>
            <a:pPr marL="273050" lvl="1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None/>
            </a:pPr>
            <a:r>
              <a:rPr lang="en-US" altLang="en-US" sz="2000" dirty="0">
                <a:solidFill>
                  <a:srgbClr val="0070C0"/>
                </a:solidFill>
                <a:latin typeface="Arial" charset="0"/>
              </a:rPr>
              <a:t>}</a:t>
            </a:r>
          </a:p>
          <a:p>
            <a:pPr algn="ctr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None/>
            </a:pPr>
            <a:endParaRPr lang="en-US" altLang="en-US" sz="3200" dirty="0">
              <a:solidFill>
                <a:srgbClr val="0070C0"/>
              </a:solidFill>
              <a:latin typeface="Arial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larity">
    <a:dk1>
      <a:srgbClr val="292934"/>
    </a:dk1>
    <a:lt1>
      <a:srgbClr val="FFFFFF"/>
    </a:lt1>
    <a:dk2>
      <a:srgbClr val="D2533C"/>
    </a:dk2>
    <a:lt2>
      <a:srgbClr val="F3F2DC"/>
    </a:lt2>
    <a:accent1>
      <a:srgbClr val="93A299"/>
    </a:accent1>
    <a:accent2>
      <a:srgbClr val="AD8F67"/>
    </a:accent2>
    <a:accent3>
      <a:srgbClr val="726056"/>
    </a:accent3>
    <a:accent4>
      <a:srgbClr val="4C5A6A"/>
    </a:accent4>
    <a:accent5>
      <a:srgbClr val="808DA0"/>
    </a:accent5>
    <a:accent6>
      <a:srgbClr val="79463D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14175</TotalTime>
  <Words>3796</Words>
  <Application>Microsoft Office PowerPoint</Application>
  <PresentationFormat>On-screen Show (4:3)</PresentationFormat>
  <Paragraphs>501</Paragraphs>
  <Slides>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1" baseType="lpstr">
      <vt:lpstr>Arial</vt:lpstr>
      <vt:lpstr>Calibri</vt:lpstr>
      <vt:lpstr>Times New Roman</vt:lpstr>
      <vt:lpstr>Clarity</vt:lpstr>
      <vt:lpstr>    </vt:lpstr>
      <vt:lpstr>Basic Program Construction</vt:lpstr>
      <vt:lpstr>Whitespace</vt:lpstr>
      <vt:lpstr>Whitespace</vt:lpstr>
      <vt:lpstr>Whitespace: exceptions to the rule</vt:lpstr>
      <vt:lpstr>Output Using cout</vt:lpstr>
      <vt:lpstr>Output Using cout</vt:lpstr>
      <vt:lpstr>String Constants</vt:lpstr>
      <vt:lpstr>Directives</vt:lpstr>
      <vt:lpstr>Directives: Preprocessor Directives</vt:lpstr>
      <vt:lpstr>Directives: Preprocessor Directives</vt:lpstr>
      <vt:lpstr>Directives: Header Files</vt:lpstr>
      <vt:lpstr>Directives: The using Directive</vt:lpstr>
      <vt:lpstr>Directives: The using Directive</vt:lpstr>
      <vt:lpstr>Comments</vt:lpstr>
      <vt:lpstr>Comments</vt:lpstr>
      <vt:lpstr>Comments: Alternative Syntax</vt:lpstr>
      <vt:lpstr>Special Symbols</vt:lpstr>
      <vt:lpstr>Special Symbols</vt:lpstr>
      <vt:lpstr>Reserved Words (Keywords)</vt:lpstr>
      <vt:lpstr>Reserved Words (Keywords)</vt:lpstr>
      <vt:lpstr>Identifier/variables</vt:lpstr>
      <vt:lpstr>Rules For Naming Variables</vt:lpstr>
      <vt:lpstr>Rules For Naming Variables</vt:lpstr>
      <vt:lpstr>Rules For Naming Variables</vt:lpstr>
      <vt:lpstr>DATA Type: Integer</vt:lpstr>
      <vt:lpstr>Defining Integer Variables</vt:lpstr>
      <vt:lpstr>Defining Integer Variables</vt:lpstr>
      <vt:lpstr>Declarations and Initialization</vt:lpstr>
      <vt:lpstr>Declarations and Initialization</vt:lpstr>
      <vt:lpstr>Other Integer Types</vt:lpstr>
      <vt:lpstr>DATA Type: Floating Point</vt:lpstr>
      <vt:lpstr>DATA Type: Floating Point</vt:lpstr>
      <vt:lpstr>Floating Point Types: float</vt:lpstr>
      <vt:lpstr>Floating Point Types: float</vt:lpstr>
      <vt:lpstr>Floating Point Types: double</vt:lpstr>
      <vt:lpstr>Floating Point Types: long double</vt:lpstr>
      <vt:lpstr>Floating Point Constant</vt:lpstr>
      <vt:lpstr>DATA Type : Bool</vt:lpstr>
      <vt:lpstr>DATA Type : Bool</vt:lpstr>
      <vt:lpstr>DATA Type : Character </vt:lpstr>
      <vt:lpstr>DATA Type : Character </vt:lpstr>
      <vt:lpstr>DATA Type : Character </vt:lpstr>
      <vt:lpstr>Variable Type Summary</vt:lpstr>
      <vt:lpstr>Variable Type Summary</vt:lpstr>
      <vt:lpstr>Escape Sequences</vt:lpstr>
      <vt:lpstr>Escape Sequences</vt:lpstr>
      <vt:lpstr>Use of Character Variables and Escape Sequences </vt:lpstr>
      <vt:lpstr>Arithmetic Operators</vt:lpstr>
      <vt:lpstr>Expressions</vt:lpstr>
      <vt:lpstr>Expressions</vt:lpstr>
      <vt:lpstr>Expressions</vt:lpstr>
      <vt:lpstr>Expressions</vt:lpstr>
      <vt:lpstr>Expressions</vt:lpstr>
      <vt:lpstr>Expressions</vt:lpstr>
      <vt:lpstr>Arithmetic Operators: precedence</vt:lpstr>
      <vt:lpstr>Arithmetic Operators: precedence</vt:lpstr>
      <vt:lpstr>Arithmetic Operators: precedence</vt:lpstr>
      <vt:lpstr>Arithmetic Operators: precedence</vt:lpstr>
      <vt:lpstr>Type Conversion</vt:lpstr>
      <vt:lpstr>Automatic Conversions</vt:lpstr>
      <vt:lpstr>Automatic Conversions</vt:lpstr>
      <vt:lpstr>Mixed Expression</vt:lpstr>
      <vt:lpstr>Mixed Expression</vt:lpstr>
      <vt:lpstr>Mixed Expression</vt:lpstr>
      <vt:lpstr>Assignment Statements</vt:lpstr>
      <vt:lpstr>Assignment Statements</vt:lpstr>
      <vt:lpstr>Assignment Statements</vt:lpstr>
      <vt:lpstr>Increment Operators</vt:lpstr>
      <vt:lpstr>Increment Operators: Prefix and Postfix</vt:lpstr>
      <vt:lpstr>Increment Operators: Prefix and Postfix</vt:lpstr>
      <vt:lpstr>Increment Operators: Prefix and Postfix</vt:lpstr>
      <vt:lpstr>Increment Operators: Prefix and Postfix</vt:lpstr>
      <vt:lpstr>Increment Operators: Prefix and Postfix</vt:lpstr>
      <vt:lpstr>The Decrement (--) Operator</vt:lpstr>
      <vt:lpstr>You are enough capable to write </vt:lpstr>
      <vt:lpstr>Input using Cin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</dc:title>
  <dc:creator>madiha</dc:creator>
  <cp:lastModifiedBy>Syed Aun Irtaza</cp:lastModifiedBy>
  <cp:revision>239</cp:revision>
  <dcterms:created xsi:type="dcterms:W3CDTF">2009-10-05T03:09:05Z</dcterms:created>
  <dcterms:modified xsi:type="dcterms:W3CDTF">2022-10-25T07:24:20Z</dcterms:modified>
</cp:coreProperties>
</file>