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embeddedFontLst>
    <p:embeddedFont>
      <p:font typeface="Arial Black" panose="020B0A04020102020204" pitchFamily="34" charset="0"/>
      <p:regular r:id="rId28"/>
      <p:bold r:id="rId29"/>
    </p:embeddedFont>
    <p:embeddedFont>
      <p:font typeface="Century Gothic" panose="020B0502020202020204" pitchFamily="34" charset="0"/>
      <p:regular r:id="rId30"/>
      <p:bold r:id="rId31"/>
      <p:italic r:id="rId32"/>
      <p:boldItalic r:id="rId33"/>
    </p:embeddedFont>
    <p:embeddedFont>
      <p:font typeface="Franklin Gothic" panose="020B0604020202020204" charset="0"/>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47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22"/>
        <p:cNvGrpSpPr/>
        <p:nvPr/>
      </p:nvGrpSpPr>
      <p:grpSpPr>
        <a:xfrm>
          <a:off x="0" y="0"/>
          <a:ext cx="0" cy="0"/>
          <a:chOff x="0" y="0"/>
          <a:chExt cx="0" cy="0"/>
        </a:xfrm>
      </p:grpSpPr>
      <p:grpSp>
        <p:nvGrpSpPr>
          <p:cNvPr id="23" name="Google Shape;23;p2"/>
          <p:cNvGrpSpPr/>
          <p:nvPr/>
        </p:nvGrpSpPr>
        <p:grpSpPr>
          <a:xfrm>
            <a:off x="0" y="0"/>
            <a:ext cx="12192000" cy="6858000"/>
            <a:chOff x="0" y="0"/>
            <a:chExt cx="12192000" cy="6858000"/>
          </a:xfrm>
        </p:grpSpPr>
        <p:sp>
          <p:nvSpPr>
            <p:cNvPr id="24" name="Google Shape;24;p2"/>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rot="-589932">
              <a:off x="8490951" y="4193583"/>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455612" y="4241801"/>
              <a:ext cx="11277600" cy="2337161"/>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32" name="Google Shape;32;p2"/>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3" name="Google Shape;33;p2"/>
          <p:cNvSpPr txBox="1">
            <a:spLocks noGrp="1"/>
          </p:cNvSpPr>
          <p:nvPr>
            <p:ph type="title"/>
          </p:nvPr>
        </p:nvSpPr>
        <p:spPr>
          <a:xfrm>
            <a:off x="1154954" y="2370667"/>
            <a:ext cx="8825660" cy="182251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
          <p:cNvSpPr txBox="1">
            <a:spLocks noGrp="1"/>
          </p:cNvSpPr>
          <p:nvPr>
            <p:ph type="body" idx="1"/>
          </p:nvPr>
        </p:nvSpPr>
        <p:spPr>
          <a:xfrm>
            <a:off x="1154954" y="5024967"/>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35" name="Google Shape;35;p2"/>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3"/>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45"/>
        <p:cNvGrpSpPr/>
        <p:nvPr/>
      </p:nvGrpSpPr>
      <p:grpSpPr>
        <a:xfrm>
          <a:off x="0" y="0"/>
          <a:ext cx="0" cy="0"/>
          <a:chOff x="0" y="0"/>
          <a:chExt cx="0" cy="0"/>
        </a:xfrm>
      </p:grpSpPr>
      <p:grpSp>
        <p:nvGrpSpPr>
          <p:cNvPr id="46" name="Google Shape;46;p4"/>
          <p:cNvGrpSpPr/>
          <p:nvPr/>
        </p:nvGrpSpPr>
        <p:grpSpPr>
          <a:xfrm>
            <a:off x="0" y="0"/>
            <a:ext cx="12192000" cy="6858000"/>
            <a:chOff x="0" y="0"/>
            <a:chExt cx="12192000" cy="6858000"/>
          </a:xfrm>
        </p:grpSpPr>
        <p:sp>
          <p:nvSpPr>
            <p:cNvPr id="47" name="Google Shape;47;p4"/>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49" name="Google Shape;49;p4"/>
          <p:cNvSpPr txBox="1">
            <a:spLocks noGrp="1"/>
          </p:cNvSpPr>
          <p:nvPr>
            <p:ph type="ctrTitle"/>
          </p:nvPr>
        </p:nvSpPr>
        <p:spPr>
          <a:xfrm>
            <a:off x="1154955" y="2099733"/>
            <a:ext cx="8825658" cy="267764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440"/>
              <a:buNone/>
              <a:defRPr cap="none">
                <a:solidFill>
                  <a:srgbClr val="EE52A4"/>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51" name="Google Shape;51;p4"/>
          <p:cNvSpPr txBox="1">
            <a:spLocks noGrp="1"/>
          </p:cNvSpPr>
          <p:nvPr>
            <p:ph type="dt" idx="10"/>
          </p:nvPr>
        </p:nvSpPr>
        <p:spPr>
          <a:xfrm rot="5400000">
            <a:off x="10158984" y="1792224"/>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
          <p:cNvSpPr txBox="1">
            <a:spLocks noGrp="1"/>
          </p:cNvSpPr>
          <p:nvPr>
            <p:ph type="ftr" idx="11"/>
          </p:nvPr>
        </p:nvSpPr>
        <p:spPr>
          <a:xfrm rot="5400000">
            <a:off x="8951976" y="3227832"/>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5"/>
        <p:cNvGrpSpPr/>
        <p:nvPr/>
      </p:nvGrpSpPr>
      <p:grpSpPr>
        <a:xfrm>
          <a:off x="0" y="0"/>
          <a:ext cx="0" cy="0"/>
          <a:chOff x="0" y="0"/>
          <a:chExt cx="0" cy="0"/>
        </a:xfrm>
      </p:grpSpPr>
      <p:grpSp>
        <p:nvGrpSpPr>
          <p:cNvPr id="56" name="Google Shape;56;p5"/>
          <p:cNvGrpSpPr/>
          <p:nvPr/>
        </p:nvGrpSpPr>
        <p:grpSpPr>
          <a:xfrm>
            <a:off x="0" y="0"/>
            <a:ext cx="12192000" cy="6858000"/>
            <a:chOff x="0" y="0"/>
            <a:chExt cx="12192000" cy="6858000"/>
          </a:xfrm>
        </p:grpSpPr>
        <p:sp>
          <p:nvSpPr>
            <p:cNvPr id="57" name="Google Shape;57;p5"/>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7289800" y="402165"/>
              <a:ext cx="4478865"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rot="-5400000">
              <a:off x="3787244"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65" name="Google Shape;65;p5"/>
            <p:cNvSpPr/>
            <p:nvPr/>
          </p:nvSpPr>
          <p:spPr>
            <a:xfrm rot="-5677511">
              <a:off x="4698352"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67" name="Google Shape;67;p5"/>
          <p:cNvSpPr txBox="1">
            <a:spLocks noGrp="1"/>
          </p:cNvSpPr>
          <p:nvPr>
            <p:ph type="title"/>
          </p:nvPr>
        </p:nvSpPr>
        <p:spPr>
          <a:xfrm>
            <a:off x="1154954" y="2677645"/>
            <a:ext cx="4351025" cy="228382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
          <p:cNvSpPr txBox="1">
            <a:spLocks noGrp="1"/>
          </p:cNvSpPr>
          <p:nvPr>
            <p:ph type="body" idx="1"/>
          </p:nvPr>
        </p:nvSpPr>
        <p:spPr>
          <a:xfrm>
            <a:off x="6895559" y="2677644"/>
            <a:ext cx="3757545" cy="228382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600"/>
              <a:buNone/>
              <a:defRPr sz="2000" cap="none">
                <a:solidFill>
                  <a:srgbClr val="EE52A4"/>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69" name="Google Shape;69;p5"/>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
          <p:cNvSpPr txBox="1">
            <a:spLocks noGrp="1"/>
          </p:cNvSpPr>
          <p:nvPr>
            <p:ph type="body" idx="1"/>
          </p:nvPr>
        </p:nvSpPr>
        <p:spPr>
          <a:xfrm>
            <a:off x="1154954" y="2603500"/>
            <a:ext cx="4825158" cy="341630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6" name="Google Shape;76;p6"/>
          <p:cNvSpPr txBox="1">
            <a:spLocks noGrp="1"/>
          </p:cNvSpPr>
          <p:nvPr>
            <p:ph type="body" idx="2"/>
          </p:nvPr>
        </p:nvSpPr>
        <p:spPr>
          <a:xfrm>
            <a:off x="6208712" y="2603500"/>
            <a:ext cx="4825159" cy="341630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7" name="Google Shape;77;p6"/>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0"/>
        <p:cNvGrpSpPr/>
        <p:nvPr/>
      </p:nvGrpSpPr>
      <p:grpSpPr>
        <a:xfrm>
          <a:off x="0" y="0"/>
          <a:ext cx="0" cy="0"/>
          <a:chOff x="0" y="0"/>
          <a:chExt cx="0" cy="0"/>
        </a:xfrm>
      </p:grpSpPr>
      <p:sp>
        <p:nvSpPr>
          <p:cNvPr id="81" name="Google Shape;81;p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
          <p:cNvSpPr txBox="1">
            <a:spLocks noGrp="1"/>
          </p:cNvSpPr>
          <p:nvPr>
            <p:ph type="body" idx="1"/>
          </p:nvPr>
        </p:nvSpPr>
        <p:spPr>
          <a:xfrm>
            <a:off x="1154954" y="2603500"/>
            <a:ext cx="4825157"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83" name="Google Shape;83;p7"/>
          <p:cNvSpPr txBox="1">
            <a:spLocks noGrp="1"/>
          </p:cNvSpPr>
          <p:nvPr>
            <p:ph type="body" idx="2"/>
          </p:nvPr>
        </p:nvSpPr>
        <p:spPr>
          <a:xfrm>
            <a:off x="1154954" y="3179762"/>
            <a:ext cx="4825158" cy="284003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4" name="Google Shape;84;p7"/>
          <p:cNvSpPr txBox="1">
            <a:spLocks noGrp="1"/>
          </p:cNvSpPr>
          <p:nvPr>
            <p:ph type="body" idx="3"/>
          </p:nvPr>
        </p:nvSpPr>
        <p:spPr>
          <a:xfrm>
            <a:off x="6208712" y="2603500"/>
            <a:ext cx="482515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85" name="Google Shape;85;p7"/>
          <p:cNvSpPr txBox="1">
            <a:spLocks noGrp="1"/>
          </p:cNvSpPr>
          <p:nvPr>
            <p:ph type="body" idx="4"/>
          </p:nvPr>
        </p:nvSpPr>
        <p:spPr>
          <a:xfrm>
            <a:off x="6208712" y="3179762"/>
            <a:ext cx="4825159" cy="284003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86" name="Google Shape;86;p7"/>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7"/>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9"/>
        <p:cNvGrpSpPr/>
        <p:nvPr/>
      </p:nvGrpSpPr>
      <p:grpSpPr>
        <a:xfrm>
          <a:off x="0" y="0"/>
          <a:ext cx="0" cy="0"/>
          <a:chOff x="0" y="0"/>
          <a:chExt cx="0" cy="0"/>
        </a:xfrm>
      </p:grpSpPr>
      <p:sp>
        <p:nvSpPr>
          <p:cNvPr id="90" name="Google Shape;90;p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94"/>
        <p:cNvGrpSpPr/>
        <p:nvPr/>
      </p:nvGrpSpPr>
      <p:grpSpPr>
        <a:xfrm>
          <a:off x="0" y="0"/>
          <a:ext cx="0" cy="0"/>
          <a:chOff x="0" y="0"/>
          <a:chExt cx="0" cy="0"/>
        </a:xfrm>
      </p:grpSpPr>
      <p:sp>
        <p:nvSpPr>
          <p:cNvPr id="95" name="Google Shape;95;p9"/>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9"/>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9"/>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99"/>
        <p:cNvGrpSpPr/>
        <p:nvPr/>
      </p:nvGrpSpPr>
      <p:grpSpPr>
        <a:xfrm>
          <a:off x="0" y="0"/>
          <a:ext cx="0" cy="0"/>
          <a:chOff x="0" y="0"/>
          <a:chExt cx="0" cy="0"/>
        </a:xfrm>
      </p:grpSpPr>
      <p:grpSp>
        <p:nvGrpSpPr>
          <p:cNvPr id="100" name="Google Shape;100;p10"/>
          <p:cNvGrpSpPr/>
          <p:nvPr/>
        </p:nvGrpSpPr>
        <p:grpSpPr>
          <a:xfrm>
            <a:off x="0" y="0"/>
            <a:ext cx="12192000" cy="6858000"/>
            <a:chOff x="0" y="0"/>
            <a:chExt cx="12192000" cy="6858000"/>
          </a:xfrm>
        </p:grpSpPr>
        <p:sp>
          <p:nvSpPr>
            <p:cNvPr id="101" name="Google Shape;101;p10"/>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p:nvPr/>
          </p:nvSpPr>
          <p:spPr>
            <a:xfrm>
              <a:off x="5713412" y="402165"/>
              <a:ext cx="6055253"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0"/>
            <p:cNvSpPr/>
            <p:nvPr/>
          </p:nvSpPr>
          <p:spPr>
            <a:xfrm rot="-5677511">
              <a:off x="3140485"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0"/>
            <p:cNvSpPr/>
            <p:nvPr/>
          </p:nvSpPr>
          <p:spPr>
            <a:xfrm rot="-5400000">
              <a:off x="2229377"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0" name="Google Shape;110;p10"/>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1" name="Google Shape;111;p10"/>
          <p:cNvSpPr txBox="1">
            <a:spLocks noGrp="1"/>
          </p:cNvSpPr>
          <p:nvPr>
            <p:ph type="title"/>
          </p:nvPr>
        </p:nvSpPr>
        <p:spPr>
          <a:xfrm>
            <a:off x="1154955" y="1295400"/>
            <a:ext cx="2793158"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0"/>
          <p:cNvSpPr txBox="1">
            <a:spLocks noGrp="1"/>
          </p:cNvSpPr>
          <p:nvPr>
            <p:ph type="body" idx="1"/>
          </p:nvPr>
        </p:nvSpPr>
        <p:spPr>
          <a:xfrm>
            <a:off x="5781146" y="1447800"/>
            <a:ext cx="5190066" cy="4572000"/>
          </a:xfrm>
          <a:prstGeom prst="rect">
            <a:avLst/>
          </a:prstGeom>
          <a:noFill/>
          <a:ln>
            <a:noFill/>
          </a:ln>
        </p:spPr>
        <p:txBody>
          <a:bodyPr spcFirstLastPara="1" wrap="square" lIns="91425" tIns="45700" rIns="91425" bIns="45700" anchor="ctr"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3" name="Google Shape;113;p10"/>
          <p:cNvSpPr txBox="1">
            <a:spLocks noGrp="1"/>
          </p:cNvSpPr>
          <p:nvPr>
            <p:ph type="body" idx="2"/>
          </p:nvPr>
        </p:nvSpPr>
        <p:spPr>
          <a:xfrm>
            <a:off x="1154954" y="3129280"/>
            <a:ext cx="2793158"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4" name="Google Shape;114;p10"/>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0"/>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0"/>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18"/>
        <p:cNvGrpSpPr/>
        <p:nvPr/>
      </p:nvGrpSpPr>
      <p:grpSpPr>
        <a:xfrm>
          <a:off x="0" y="0"/>
          <a:ext cx="0" cy="0"/>
          <a:chOff x="0" y="0"/>
          <a:chExt cx="0" cy="0"/>
        </a:xfrm>
      </p:grpSpPr>
      <p:grpSp>
        <p:nvGrpSpPr>
          <p:cNvPr id="119" name="Google Shape;119;p11"/>
          <p:cNvGrpSpPr/>
          <p:nvPr/>
        </p:nvGrpSpPr>
        <p:grpSpPr>
          <a:xfrm>
            <a:off x="0" y="0"/>
            <a:ext cx="12192000" cy="6858000"/>
            <a:chOff x="0" y="0"/>
            <a:chExt cx="12192000" cy="6858000"/>
          </a:xfrm>
        </p:grpSpPr>
        <p:sp>
          <p:nvSpPr>
            <p:cNvPr id="120" name="Google Shape;120;p11"/>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1"/>
            <p:cNvSpPr/>
            <p:nvPr/>
          </p:nvSpPr>
          <p:spPr>
            <a:xfrm>
              <a:off x="6172200" y="402165"/>
              <a:ext cx="5596465"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1"/>
            <p:cNvSpPr/>
            <p:nvPr/>
          </p:nvSpPr>
          <p:spPr>
            <a:xfrm rot="-5677511">
              <a:off x="4203594" y="1826078"/>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rot="-5400000">
              <a:off x="3295432"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29" name="Google Shape;129;p11"/>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0" name="Google Shape;130;p11"/>
          <p:cNvSpPr txBox="1">
            <a:spLocks noGrp="1"/>
          </p:cNvSpPr>
          <p:nvPr>
            <p:ph type="title"/>
          </p:nvPr>
        </p:nvSpPr>
        <p:spPr>
          <a:xfrm>
            <a:off x="1154955" y="1693333"/>
            <a:ext cx="3865134" cy="173566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1"/>
          <p:cNvSpPr>
            <a:spLocks noGrp="1"/>
          </p:cNvSpPr>
          <p:nvPr>
            <p:ph type="pic" idx="2"/>
          </p:nvPr>
        </p:nvSpPr>
        <p:spPr>
          <a:xfrm>
            <a:off x="6547870" y="1143000"/>
            <a:ext cx="3227193"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32" name="Google Shape;132;p11"/>
          <p:cNvSpPr txBox="1">
            <a:spLocks noGrp="1"/>
          </p:cNvSpPr>
          <p:nvPr>
            <p:ph type="body" idx="1"/>
          </p:nvPr>
        </p:nvSpPr>
        <p:spPr>
          <a:xfrm>
            <a:off x="1154954" y="3657600"/>
            <a:ext cx="3859212"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33" name="Google Shape;133;p11"/>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1"/>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37"/>
        <p:cNvGrpSpPr/>
        <p:nvPr/>
      </p:nvGrpSpPr>
      <p:grpSpPr>
        <a:xfrm>
          <a:off x="0" y="0"/>
          <a:ext cx="0" cy="0"/>
          <a:chOff x="0" y="0"/>
          <a:chExt cx="0" cy="0"/>
        </a:xfrm>
      </p:grpSpPr>
      <p:grpSp>
        <p:nvGrpSpPr>
          <p:cNvPr id="138" name="Google Shape;138;p12"/>
          <p:cNvGrpSpPr/>
          <p:nvPr/>
        </p:nvGrpSpPr>
        <p:grpSpPr>
          <a:xfrm>
            <a:off x="0" y="0"/>
            <a:ext cx="12192000" cy="6858000"/>
            <a:chOff x="0" y="0"/>
            <a:chExt cx="12192000" cy="6858000"/>
          </a:xfrm>
        </p:grpSpPr>
        <p:sp>
          <p:nvSpPr>
            <p:cNvPr id="139" name="Google Shape;139;p12"/>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2"/>
            <p:cNvSpPr/>
            <p:nvPr/>
          </p:nvSpPr>
          <p:spPr>
            <a:xfrm rot="10371525">
              <a:off x="263767" y="4438254"/>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2"/>
            <p:cNvSpPr/>
            <p:nvPr/>
          </p:nvSpPr>
          <p:spPr>
            <a:xfrm rot="10800000">
              <a:off x="459506" y="321130"/>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47" name="Google Shape;147;p12"/>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48" name="Google Shape;148;p12"/>
          <p:cNvSpPr txBox="1">
            <a:spLocks noGrp="1"/>
          </p:cNvSpPr>
          <p:nvPr>
            <p:ph type="title"/>
          </p:nvPr>
        </p:nvSpPr>
        <p:spPr>
          <a:xfrm>
            <a:off x="1154954" y="4969927"/>
            <a:ext cx="8825659"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2"/>
          <p:cNvSpPr>
            <a:spLocks noGrp="1"/>
          </p:cNvSpPr>
          <p:nvPr>
            <p:ph type="pic" idx="2"/>
          </p:nvPr>
        </p:nvSpPr>
        <p:spPr>
          <a:xfrm>
            <a:off x="1154954" y="685800"/>
            <a:ext cx="8825659" cy="3429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50" name="Google Shape;150;p12"/>
          <p:cNvSpPr txBox="1">
            <a:spLocks noGrp="1"/>
          </p:cNvSpPr>
          <p:nvPr>
            <p:ph type="body" idx="1"/>
          </p:nvPr>
        </p:nvSpPr>
        <p:spPr>
          <a:xfrm>
            <a:off x="1154954" y="5536665"/>
            <a:ext cx="8825658"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solidFill>
                  <a:srgbClr val="EE52A4"/>
                </a:solidFill>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51" name="Google Shape;151;p12"/>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2"/>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2"/>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55"/>
        <p:cNvGrpSpPr/>
        <p:nvPr/>
      </p:nvGrpSpPr>
      <p:grpSpPr>
        <a:xfrm>
          <a:off x="0" y="0"/>
          <a:ext cx="0" cy="0"/>
          <a:chOff x="0" y="0"/>
          <a:chExt cx="0" cy="0"/>
        </a:xfrm>
      </p:grpSpPr>
      <p:grpSp>
        <p:nvGrpSpPr>
          <p:cNvPr id="156" name="Google Shape;156;p13"/>
          <p:cNvGrpSpPr/>
          <p:nvPr/>
        </p:nvGrpSpPr>
        <p:grpSpPr>
          <a:xfrm>
            <a:off x="0" y="0"/>
            <a:ext cx="12192000" cy="6858000"/>
            <a:chOff x="0" y="0"/>
            <a:chExt cx="12192000" cy="6858000"/>
          </a:xfrm>
        </p:grpSpPr>
        <p:sp>
          <p:nvSpPr>
            <p:cNvPr id="157" name="Google Shape;157;p13"/>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3"/>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3"/>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3"/>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3"/>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3"/>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3"/>
            <p:cNvSpPr/>
            <p:nvPr/>
          </p:nvSpPr>
          <p:spPr>
            <a:xfrm rot="-589932">
              <a:off x="8490951" y="2714874"/>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3"/>
            <p:cNvSpPr/>
            <p:nvPr/>
          </p:nvSpPr>
          <p:spPr>
            <a:xfrm>
              <a:off x="455612" y="2801319"/>
              <a:ext cx="11277600" cy="3602637"/>
            </a:xfrm>
            <a:custGeom>
              <a:avLst/>
              <a:gdLst/>
              <a:ahLst/>
              <a:cxnLst/>
              <a:rect l="l" t="t" r="r" b="b"/>
              <a:pathLst>
                <a:path w="10000" h="7946" extrusionOk="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65" name="Google Shape;165;p13"/>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6" name="Google Shape;166;p13"/>
          <p:cNvSpPr txBox="1">
            <a:spLocks noGrp="1"/>
          </p:cNvSpPr>
          <p:nvPr>
            <p:ph type="title"/>
          </p:nvPr>
        </p:nvSpPr>
        <p:spPr>
          <a:xfrm>
            <a:off x="1148798" y="1063417"/>
            <a:ext cx="8831816" cy="137298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13"/>
          <p:cNvSpPr txBox="1">
            <a:spLocks noGrp="1"/>
          </p:cNvSpPr>
          <p:nvPr>
            <p:ph type="body" idx="1"/>
          </p:nvPr>
        </p:nvSpPr>
        <p:spPr>
          <a:xfrm>
            <a:off x="1154954" y="3543300"/>
            <a:ext cx="8825659" cy="24765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68" name="Google Shape;168;p13"/>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3"/>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13"/>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72"/>
        <p:cNvGrpSpPr/>
        <p:nvPr/>
      </p:nvGrpSpPr>
      <p:grpSpPr>
        <a:xfrm>
          <a:off x="0" y="0"/>
          <a:ext cx="0" cy="0"/>
          <a:chOff x="0" y="0"/>
          <a:chExt cx="0" cy="0"/>
        </a:xfrm>
      </p:grpSpPr>
      <p:grpSp>
        <p:nvGrpSpPr>
          <p:cNvPr id="173" name="Google Shape;173;p14"/>
          <p:cNvGrpSpPr/>
          <p:nvPr/>
        </p:nvGrpSpPr>
        <p:grpSpPr>
          <a:xfrm>
            <a:off x="0" y="0"/>
            <a:ext cx="12192000" cy="6858000"/>
            <a:chOff x="0" y="0"/>
            <a:chExt cx="12192000" cy="6858000"/>
          </a:xfrm>
        </p:grpSpPr>
        <p:sp>
          <p:nvSpPr>
            <p:cNvPr id="174" name="Google Shape;174;p14"/>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rot="-589932">
              <a:off x="8490951" y="418511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4"/>
            <p:cNvSpPr/>
            <p:nvPr/>
          </p:nvSpPr>
          <p:spPr>
            <a:xfrm>
              <a:off x="455612" y="4241801"/>
              <a:ext cx="11277600" cy="2337161"/>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2" name="Google Shape;182;p14"/>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83" name="Google Shape;183;p14"/>
          <p:cNvSpPr txBox="1"/>
          <p:nvPr/>
        </p:nvSpPr>
        <p:spPr>
          <a:xfrm>
            <a:off x="881566" y="607336"/>
            <a:ext cx="801912" cy="15696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600" b="0" i="0" u="none" strike="noStrike" cap="none">
                <a:solidFill>
                  <a:srgbClr val="EE52A4"/>
                </a:solidFill>
                <a:latin typeface="Arial"/>
                <a:ea typeface="Arial"/>
                <a:cs typeface="Arial"/>
                <a:sym typeface="Arial"/>
              </a:rPr>
              <a:t>“</a:t>
            </a:r>
            <a:endParaRPr/>
          </a:p>
        </p:txBody>
      </p:sp>
      <p:sp>
        <p:nvSpPr>
          <p:cNvPr id="184" name="Google Shape;184;p14"/>
          <p:cNvSpPr txBox="1"/>
          <p:nvPr/>
        </p:nvSpPr>
        <p:spPr>
          <a:xfrm>
            <a:off x="9884458" y="2613787"/>
            <a:ext cx="652763" cy="15696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600" b="0" i="0" u="none" strike="noStrike" cap="none">
                <a:solidFill>
                  <a:srgbClr val="EE52A4"/>
                </a:solidFill>
                <a:latin typeface="Arial"/>
                <a:ea typeface="Arial"/>
                <a:cs typeface="Arial"/>
                <a:sym typeface="Arial"/>
              </a:rPr>
              <a:t>”</a:t>
            </a:r>
            <a:endParaRPr/>
          </a:p>
        </p:txBody>
      </p:sp>
      <p:sp>
        <p:nvSpPr>
          <p:cNvPr id="185" name="Google Shape;185;p14"/>
          <p:cNvSpPr txBox="1">
            <a:spLocks noGrp="1"/>
          </p:cNvSpPr>
          <p:nvPr>
            <p:ph type="title"/>
          </p:nvPr>
        </p:nvSpPr>
        <p:spPr>
          <a:xfrm>
            <a:off x="1581878" y="982134"/>
            <a:ext cx="8453906" cy="269663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14"/>
          <p:cNvSpPr txBox="1">
            <a:spLocks noGrp="1"/>
          </p:cNvSpPr>
          <p:nvPr>
            <p:ph type="body" idx="1"/>
          </p:nvPr>
        </p:nvSpPr>
        <p:spPr>
          <a:xfrm>
            <a:off x="1945945" y="3678766"/>
            <a:ext cx="773121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EE52A4"/>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87" name="Google Shape;187;p14"/>
          <p:cNvSpPr txBox="1">
            <a:spLocks noGrp="1"/>
          </p:cNvSpPr>
          <p:nvPr>
            <p:ph type="body" idx="2"/>
          </p:nvPr>
        </p:nvSpPr>
        <p:spPr>
          <a:xfrm>
            <a:off x="1154954" y="5029199"/>
            <a:ext cx="9244897" cy="997857"/>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88" name="Google Shape;188;p14"/>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14"/>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14"/>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2"/>
        <p:cNvGrpSpPr/>
        <p:nvPr/>
      </p:nvGrpSpPr>
      <p:grpSpPr>
        <a:xfrm>
          <a:off x="0" y="0"/>
          <a:ext cx="0" cy="0"/>
          <a:chOff x="0" y="0"/>
          <a:chExt cx="0" cy="0"/>
        </a:xfrm>
      </p:grpSpPr>
      <p:sp>
        <p:nvSpPr>
          <p:cNvPr id="193" name="Google Shape;193;p15"/>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5"/>
          <p:cNvSpPr txBox="1">
            <a:spLocks noGrp="1"/>
          </p:cNvSpPr>
          <p:nvPr>
            <p:ph type="body" idx="1"/>
          </p:nvPr>
        </p:nvSpPr>
        <p:spPr>
          <a:xfrm>
            <a:off x="1154954" y="2603502"/>
            <a:ext cx="314187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95" name="Google Shape;195;p15"/>
          <p:cNvSpPr txBox="1">
            <a:spLocks noGrp="1"/>
          </p:cNvSpPr>
          <p:nvPr>
            <p:ph type="body" idx="2"/>
          </p:nvPr>
        </p:nvSpPr>
        <p:spPr>
          <a:xfrm>
            <a:off x="1154953" y="3179764"/>
            <a:ext cx="3141879"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96" name="Google Shape;196;p15"/>
          <p:cNvSpPr txBox="1">
            <a:spLocks noGrp="1"/>
          </p:cNvSpPr>
          <p:nvPr>
            <p:ph type="body" idx="3"/>
          </p:nvPr>
        </p:nvSpPr>
        <p:spPr>
          <a:xfrm>
            <a:off x="4512721" y="2603500"/>
            <a:ext cx="314700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97" name="Google Shape;197;p15"/>
          <p:cNvSpPr txBox="1">
            <a:spLocks noGrp="1"/>
          </p:cNvSpPr>
          <p:nvPr>
            <p:ph type="body" idx="4"/>
          </p:nvPr>
        </p:nvSpPr>
        <p:spPr>
          <a:xfrm>
            <a:off x="4512721" y="3179763"/>
            <a:ext cx="3147009"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98" name="Google Shape;198;p15"/>
          <p:cNvSpPr txBox="1">
            <a:spLocks noGrp="1"/>
          </p:cNvSpPr>
          <p:nvPr>
            <p:ph type="body" idx="5"/>
          </p:nvPr>
        </p:nvSpPr>
        <p:spPr>
          <a:xfrm>
            <a:off x="7888135" y="2603501"/>
            <a:ext cx="314573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99" name="Google Shape;199;p15"/>
          <p:cNvSpPr txBox="1">
            <a:spLocks noGrp="1"/>
          </p:cNvSpPr>
          <p:nvPr>
            <p:ph type="body" idx="6"/>
          </p:nvPr>
        </p:nvSpPr>
        <p:spPr>
          <a:xfrm>
            <a:off x="7888329" y="3179762"/>
            <a:ext cx="3145536" cy="2847293"/>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00" name="Google Shape;200;p15"/>
          <p:cNvCxnSpPr/>
          <p:nvPr/>
        </p:nvCxnSpPr>
        <p:spPr>
          <a:xfrm>
            <a:off x="440397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01" name="Google Shape;201;p15"/>
          <p:cNvCxnSpPr/>
          <p:nvPr/>
        </p:nvCxnSpPr>
        <p:spPr>
          <a:xfrm>
            <a:off x="777240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02" name="Google Shape;202;p15"/>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15"/>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1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5"/>
        <p:cNvGrpSpPr/>
        <p:nvPr/>
      </p:nvGrpSpPr>
      <p:grpSpPr>
        <a:xfrm>
          <a:off x="0" y="0"/>
          <a:ext cx="0" cy="0"/>
          <a:chOff x="0" y="0"/>
          <a:chExt cx="0" cy="0"/>
        </a:xfrm>
      </p:grpSpPr>
      <p:sp>
        <p:nvSpPr>
          <p:cNvPr id="206" name="Google Shape;206;p16"/>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6"/>
          <p:cNvSpPr txBox="1">
            <a:spLocks noGrp="1"/>
          </p:cNvSpPr>
          <p:nvPr>
            <p:ph type="body" idx="1"/>
          </p:nvPr>
        </p:nvSpPr>
        <p:spPr>
          <a:xfrm>
            <a:off x="1154954" y="4532844"/>
            <a:ext cx="30504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08" name="Google Shape;208;p16"/>
          <p:cNvSpPr>
            <a:spLocks noGrp="1"/>
          </p:cNvSpPr>
          <p:nvPr>
            <p:ph type="pic" idx="2"/>
          </p:nvPr>
        </p:nvSpPr>
        <p:spPr>
          <a:xfrm>
            <a:off x="1334553"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09" name="Google Shape;209;p16"/>
          <p:cNvSpPr txBox="1">
            <a:spLocks noGrp="1"/>
          </p:cNvSpPr>
          <p:nvPr>
            <p:ph type="body" idx="3"/>
          </p:nvPr>
        </p:nvSpPr>
        <p:spPr>
          <a:xfrm>
            <a:off x="1154954" y="5109106"/>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0" name="Google Shape;210;p16"/>
          <p:cNvSpPr txBox="1">
            <a:spLocks noGrp="1"/>
          </p:cNvSpPr>
          <p:nvPr>
            <p:ph type="body" idx="4"/>
          </p:nvPr>
        </p:nvSpPr>
        <p:spPr>
          <a:xfrm>
            <a:off x="4568865" y="4532844"/>
            <a:ext cx="3050438" cy="576263"/>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1" name="Google Shape;211;p16"/>
          <p:cNvSpPr>
            <a:spLocks noGrp="1"/>
          </p:cNvSpPr>
          <p:nvPr>
            <p:ph type="pic" idx="5"/>
          </p:nvPr>
        </p:nvSpPr>
        <p:spPr>
          <a:xfrm>
            <a:off x="4748462" y="2603500"/>
            <a:ext cx="2691243"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12" name="Google Shape;212;p16"/>
          <p:cNvSpPr txBox="1">
            <a:spLocks noGrp="1"/>
          </p:cNvSpPr>
          <p:nvPr>
            <p:ph type="body" idx="6"/>
          </p:nvPr>
        </p:nvSpPr>
        <p:spPr>
          <a:xfrm>
            <a:off x="4570172" y="5109105"/>
            <a:ext cx="3050438"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213" name="Google Shape;213;p16"/>
          <p:cNvSpPr txBox="1">
            <a:spLocks noGrp="1"/>
          </p:cNvSpPr>
          <p:nvPr>
            <p:ph type="body" idx="7"/>
          </p:nvPr>
        </p:nvSpPr>
        <p:spPr>
          <a:xfrm>
            <a:off x="7982775" y="4532845"/>
            <a:ext cx="305109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EE52A4"/>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214" name="Google Shape;214;p16"/>
          <p:cNvSpPr>
            <a:spLocks noGrp="1"/>
          </p:cNvSpPr>
          <p:nvPr>
            <p:ph type="pic" idx="8"/>
          </p:nvPr>
        </p:nvSpPr>
        <p:spPr>
          <a:xfrm>
            <a:off x="8163031" y="2603500"/>
            <a:ext cx="2691242" cy="1591510"/>
          </a:xfrm>
          <a:prstGeom prst="roundRect">
            <a:avLst>
              <a:gd name="adj" fmla="val 1858"/>
            </a:avLst>
          </a:prstGeom>
          <a:noFill/>
          <a:ln>
            <a:noFill/>
          </a:ln>
          <a:effectLst>
            <a:outerShdw blurRad="50800" dist="50800" dir="5400000" algn="tl" rotWithShape="0">
              <a:srgbClr val="000000">
                <a:alpha val="42745"/>
              </a:srgbClr>
            </a:outerShdw>
          </a:effectLst>
        </p:spPr>
      </p:sp>
      <p:sp>
        <p:nvSpPr>
          <p:cNvPr id="215" name="Google Shape;215;p16"/>
          <p:cNvSpPr txBox="1">
            <a:spLocks noGrp="1"/>
          </p:cNvSpPr>
          <p:nvPr>
            <p:ph type="body" idx="9"/>
          </p:nvPr>
        </p:nvSpPr>
        <p:spPr>
          <a:xfrm>
            <a:off x="7982775" y="5109104"/>
            <a:ext cx="3051096" cy="91795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216" name="Google Shape;216;p16"/>
          <p:cNvCxnSpPr/>
          <p:nvPr/>
        </p:nvCxnSpPr>
        <p:spPr>
          <a:xfrm>
            <a:off x="4405831"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17" name="Google Shape;217;p16"/>
          <p:cNvCxnSpPr/>
          <p:nvPr/>
        </p:nvCxnSpPr>
        <p:spPr>
          <a:xfrm>
            <a:off x="7797802" y="2569633"/>
            <a:ext cx="0" cy="3492499"/>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18" name="Google Shape;218;p16"/>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16"/>
          <p:cNvSpPr txBox="1">
            <a:spLocks noGrp="1"/>
          </p:cNvSpPr>
          <p:nvPr>
            <p:ph type="ftr" idx="11"/>
          </p:nvPr>
        </p:nvSpPr>
        <p:spPr>
          <a:xfrm>
            <a:off x="561111" y="6391838"/>
            <a:ext cx="3644282"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1"/>
        <p:cNvGrpSpPr/>
        <p:nvPr/>
      </p:nvGrpSpPr>
      <p:grpSpPr>
        <a:xfrm>
          <a:off x="0" y="0"/>
          <a:ext cx="0" cy="0"/>
          <a:chOff x="0" y="0"/>
          <a:chExt cx="0" cy="0"/>
        </a:xfrm>
      </p:grpSpPr>
      <p:sp>
        <p:nvSpPr>
          <p:cNvPr id="222" name="Google Shape;222;p17"/>
          <p:cNvSpPr txBox="1">
            <a:spLocks noGrp="1"/>
          </p:cNvSpPr>
          <p:nvPr>
            <p:ph type="title"/>
          </p:nvPr>
        </p:nvSpPr>
        <p:spPr>
          <a:xfrm>
            <a:off x="1154954" y="973668"/>
            <a:ext cx="8825659" cy="70696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7"/>
          <p:cNvSpPr txBox="1">
            <a:spLocks noGrp="1"/>
          </p:cNvSpPr>
          <p:nvPr>
            <p:ph type="body" idx="1"/>
          </p:nvPr>
        </p:nvSpPr>
        <p:spPr>
          <a:xfrm rot="5400000">
            <a:off x="3859634" y="-101179"/>
            <a:ext cx="3416300" cy="882565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24" name="Google Shape;224;p17"/>
          <p:cNvSpPr txBox="1">
            <a:spLocks noGrp="1"/>
          </p:cNvSpPr>
          <p:nvPr>
            <p:ph type="dt" idx="10"/>
          </p:nvPr>
        </p:nvSpPr>
        <p:spPr>
          <a:xfrm>
            <a:off x="10695439" y="6391838"/>
            <a:ext cx="990599"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17"/>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1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27"/>
        <p:cNvGrpSpPr/>
        <p:nvPr/>
      </p:nvGrpSpPr>
      <p:grpSpPr>
        <a:xfrm>
          <a:off x="0" y="0"/>
          <a:ext cx="0" cy="0"/>
          <a:chOff x="0" y="0"/>
          <a:chExt cx="0" cy="0"/>
        </a:xfrm>
      </p:grpSpPr>
      <p:grpSp>
        <p:nvGrpSpPr>
          <p:cNvPr id="228" name="Google Shape;228;p18"/>
          <p:cNvGrpSpPr/>
          <p:nvPr/>
        </p:nvGrpSpPr>
        <p:grpSpPr>
          <a:xfrm>
            <a:off x="0" y="0"/>
            <a:ext cx="12192000" cy="6858000"/>
            <a:chOff x="0" y="0"/>
            <a:chExt cx="12192000" cy="6858000"/>
          </a:xfrm>
        </p:grpSpPr>
        <p:sp>
          <p:nvSpPr>
            <p:cNvPr id="229" name="Google Shape;229;p18"/>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414867" y="402165"/>
              <a:ext cx="6510866" cy="605367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rot="5101749">
              <a:off x="6294738" y="457773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8"/>
            <p:cNvSpPr/>
            <p:nvPr/>
          </p:nvSpPr>
          <p:spPr>
            <a:xfrm rot="5400000">
              <a:off x="4449232" y="2801721"/>
              <a:ext cx="6053670" cy="1254558"/>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38" name="Google Shape;238;p18"/>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39" name="Google Shape;239;p18"/>
          <p:cNvSpPr txBox="1">
            <a:spLocks noGrp="1"/>
          </p:cNvSpPr>
          <p:nvPr>
            <p:ph type="title"/>
          </p:nvPr>
        </p:nvSpPr>
        <p:spPr>
          <a:xfrm rot="5400000">
            <a:off x="6915923" y="2947780"/>
            <a:ext cx="4748590" cy="140996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18"/>
          <p:cNvSpPr txBox="1">
            <a:spLocks noGrp="1"/>
          </p:cNvSpPr>
          <p:nvPr>
            <p:ph type="body" idx="1"/>
          </p:nvPr>
        </p:nvSpPr>
        <p:spPr>
          <a:xfrm rot="5400000">
            <a:off x="1908672" y="524749"/>
            <a:ext cx="4748590" cy="625602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41" name="Google Shape;241;p18"/>
          <p:cNvSpPr txBox="1">
            <a:spLocks noGrp="1"/>
          </p:cNvSpPr>
          <p:nvPr>
            <p:ph type="dt" idx="10"/>
          </p:nvPr>
        </p:nvSpPr>
        <p:spPr>
          <a:xfrm>
            <a:off x="10653104" y="6391838"/>
            <a:ext cx="992135" cy="304799"/>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18"/>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3" name="Google Shape;243;p18"/>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0"/>
            <a:ext cx="12192000" cy="6858000"/>
            <a:chOff x="0" y="0"/>
            <a:chExt cx="12192000" cy="6858000"/>
          </a:xfrm>
        </p:grpSpPr>
        <p:sp>
          <p:nvSpPr>
            <p:cNvPr id="7" name="Google Shape;7;p1"/>
            <p:cNvSpPr/>
            <p:nvPr/>
          </p:nvSpPr>
          <p:spPr>
            <a:xfrm>
              <a:off x="0" y="0"/>
              <a:ext cx="12192000" cy="6858000"/>
            </a:xfrm>
            <a:prstGeom prst="rect">
              <a:avLst/>
            </a:prstGeom>
            <a:blipFill rotWithShape="1">
              <a:blip r:embed="rId1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rot="-589932">
              <a:off x="8490951" y="1797517"/>
              <a:ext cx="3299407" cy="440924"/>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459506" y="1866405"/>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5" name="Google Shape;15;p1"/>
            <p:cNvSpPr/>
            <p:nvPr/>
          </p:nvSpPr>
          <p:spPr>
            <a:xfrm>
              <a:off x="0" y="1587"/>
              <a:ext cx="12192000"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 name="Google Shape;16;p1"/>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2"/>
              </a:buClr>
              <a:buSzPts val="3600"/>
              <a:buFont typeface="Century Gothic"/>
              <a:buNone/>
              <a:defRPr sz="36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7" name="Google Shape;17;p1"/>
          <p:cNvSpPr txBox="1">
            <a:spLocks noGrp="1"/>
          </p:cNvSpPr>
          <p:nvPr>
            <p:ph type="body" idx="1"/>
          </p:nvPr>
        </p:nvSpPr>
        <p:spPr>
          <a:xfrm>
            <a:off x="1154954" y="2603500"/>
            <a:ext cx="8761413" cy="34163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18" name="Google Shape;18;p1"/>
          <p:cNvSpPr txBox="1">
            <a:spLocks noGrp="1"/>
          </p:cNvSpPr>
          <p:nvPr>
            <p:ph type="dt" idx="10"/>
          </p:nvPr>
        </p:nvSpPr>
        <p:spPr>
          <a:xfrm>
            <a:off x="10653104" y="6391838"/>
            <a:ext cx="990599" cy="304799"/>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9" name="Google Shape;19;p1"/>
          <p:cNvSpPr txBox="1">
            <a:spLocks noGrp="1"/>
          </p:cNvSpPr>
          <p:nvPr>
            <p:ph type="ftr" idx="11"/>
          </p:nvPr>
        </p:nvSpPr>
        <p:spPr>
          <a:xfrm>
            <a:off x="561110" y="6391838"/>
            <a:ext cx="3859795" cy="30480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20" name="Google Shape;20;p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9"/>
          <p:cNvSpPr txBox="1">
            <a:spLocks noGrp="1"/>
          </p:cNvSpPr>
          <p:nvPr>
            <p:ph type="title"/>
          </p:nvPr>
        </p:nvSpPr>
        <p:spPr>
          <a:xfrm>
            <a:off x="1154954" y="1365663"/>
            <a:ext cx="8825660" cy="172192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4800"/>
              <a:buFont typeface="Century Gothic"/>
              <a:buNone/>
            </a:pPr>
            <a:r>
              <a:rPr lang="en-US" sz="5400" b="1" i="1">
                <a:solidFill>
                  <a:schemeClr val="lt1"/>
                </a:solidFill>
              </a:rPr>
              <a:t>Ideology </a:t>
            </a:r>
            <a:r>
              <a:rPr lang="en-US" sz="5400" b="1" i="1" dirty="0">
                <a:solidFill>
                  <a:schemeClr val="lt1"/>
                </a:solidFill>
              </a:rPr>
              <a:t>of Pakistan</a:t>
            </a:r>
            <a:endParaRPr sz="5400" b="1" i="1" dirty="0">
              <a:solidFill>
                <a:schemeClr val="lt1"/>
              </a:solidFill>
            </a:endParaRPr>
          </a:p>
        </p:txBody>
      </p:sp>
      <p:sp>
        <p:nvSpPr>
          <p:cNvPr id="250" name="Google Shape;250;p19"/>
          <p:cNvSpPr txBox="1">
            <a:spLocks noGrp="1"/>
          </p:cNvSpPr>
          <p:nvPr>
            <p:ph type="body" idx="1"/>
          </p:nvPr>
        </p:nvSpPr>
        <p:spPr>
          <a:xfrm>
            <a:off x="1154954" y="5024967"/>
            <a:ext cx="8825659" cy="860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ct val="80000"/>
              <a:buNone/>
            </a:pPr>
            <a:r>
              <a:rPr lang="en-US" sz="1600" dirty="0">
                <a:solidFill>
                  <a:srgbClr val="3F3F3F"/>
                </a:solidFill>
                <a:latin typeface="Arial Black"/>
                <a:ea typeface="Arial Black"/>
                <a:cs typeface="Arial Black"/>
                <a:sym typeface="Arial Black"/>
              </a:rPr>
              <a:t>Lecture 01</a:t>
            </a:r>
            <a:endParaRPr dirty="0"/>
          </a:p>
          <a:p>
            <a:pPr marL="0" lvl="0" indent="0" algn="l" rtl="0">
              <a:spcBef>
                <a:spcPts val="1000"/>
              </a:spcBef>
              <a:spcAft>
                <a:spcPts val="0"/>
              </a:spcAft>
              <a:buSzPct val="80000"/>
              <a:buNone/>
            </a:pPr>
            <a:r>
              <a:rPr lang="en-US" sz="1600" dirty="0">
                <a:solidFill>
                  <a:srgbClr val="3F3F3F"/>
                </a:solidFill>
                <a:latin typeface="Arial Black"/>
                <a:ea typeface="Arial Black"/>
                <a:cs typeface="Arial Black"/>
                <a:sym typeface="Arial Black"/>
              </a:rPr>
              <a:t>By: Ms. Saira Saeed </a:t>
            </a:r>
            <a:endParaRPr sz="1600" dirty="0">
              <a:solidFill>
                <a:srgbClr val="3F3F3F"/>
              </a:solidFill>
              <a:latin typeface="Arial Black"/>
              <a:ea typeface="Arial Black"/>
              <a:cs typeface="Arial Black"/>
              <a:sym typeface="Arial Black"/>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Ideology</a:t>
            </a:r>
            <a:endParaRPr b="1"/>
          </a:p>
        </p:txBody>
      </p:sp>
      <p:sp>
        <p:nvSpPr>
          <p:cNvPr id="256" name="Google Shape;256;p20"/>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440"/>
              <a:buNone/>
            </a:pPr>
            <a:r>
              <a:rPr lang="en-US" sz="3600" dirty="0">
                <a:latin typeface="Franklin Gothic"/>
                <a:ea typeface="Franklin Gothic"/>
                <a:cs typeface="Franklin Gothic"/>
                <a:sym typeface="Franklin Gothic"/>
              </a:rPr>
              <a:t>An </a:t>
            </a:r>
            <a:r>
              <a:rPr lang="en-US" sz="3600" i="1" dirty="0">
                <a:latin typeface="Franklin Gothic"/>
                <a:ea typeface="Franklin Gothic"/>
                <a:cs typeface="Franklin Gothic"/>
                <a:sym typeface="Franklin Gothic"/>
              </a:rPr>
              <a:t>ideology</a:t>
            </a:r>
            <a:r>
              <a:rPr lang="en-US" sz="3600" dirty="0">
                <a:latin typeface="Franklin Gothic"/>
                <a:ea typeface="Franklin Gothic"/>
                <a:cs typeface="Franklin Gothic"/>
                <a:sym typeface="Franklin Gothic"/>
              </a:rPr>
              <a:t> is a set of opinions or beliefs of a group or an individual. Very often </a:t>
            </a:r>
            <a:r>
              <a:rPr lang="en-US" sz="3600" i="1" dirty="0">
                <a:latin typeface="Franklin Gothic"/>
                <a:ea typeface="Franklin Gothic"/>
                <a:cs typeface="Franklin Gothic"/>
                <a:sym typeface="Franklin Gothic"/>
              </a:rPr>
              <a:t>ideology</a:t>
            </a:r>
            <a:r>
              <a:rPr lang="en-US" sz="3600" dirty="0">
                <a:latin typeface="Franklin Gothic"/>
                <a:ea typeface="Franklin Gothic"/>
                <a:cs typeface="Franklin Gothic"/>
                <a:sym typeface="Franklin Gothic"/>
              </a:rPr>
              <a:t> refers to a set of political beliefs or a set of ideas that characterize a particular culture.</a:t>
            </a:r>
            <a:endParaRPr sz="3600" dirty="0"/>
          </a:p>
          <a:p>
            <a:pPr marL="0" lvl="0" indent="0" algn="just" rtl="0">
              <a:spcBef>
                <a:spcPts val="1000"/>
              </a:spcBef>
              <a:spcAft>
                <a:spcPts val="0"/>
              </a:spcAft>
              <a:buSzPts val="1440"/>
              <a:buNone/>
            </a:pPr>
            <a:endParaRPr sz="3600" dirty="0">
              <a:latin typeface="Franklin Gothic"/>
              <a:ea typeface="Franklin Gothic"/>
              <a:cs typeface="Franklin Gothic"/>
              <a:sym typeface="Frankli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Importance of Ideology</a:t>
            </a:r>
            <a:endParaRPr b="1"/>
          </a:p>
        </p:txBody>
      </p:sp>
      <p:sp>
        <p:nvSpPr>
          <p:cNvPr id="262" name="Google Shape;262;p21"/>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SzPts val="1440"/>
              <a:buNone/>
            </a:pPr>
            <a:r>
              <a:rPr lang="en-US" sz="2000" dirty="0">
                <a:latin typeface="Franklin Gothic"/>
                <a:ea typeface="Franklin Gothic"/>
                <a:cs typeface="Franklin Gothic"/>
                <a:sym typeface="Franklin Gothic"/>
              </a:rPr>
              <a:t>Ideology is not only a thought , an aim of program but it is also a feeling which awakens the humans to progress, to move forward and to the fulfillment of their desires . In the beginning it is true that it gives difficulties and hurdles but at the end it becomes the cause of everlasting happiness. It stop the ways of failures and hopelessness and make the pavements for success.</a:t>
            </a:r>
            <a:endParaRPr sz="2000" dirty="0">
              <a:latin typeface="Franklin Gothic"/>
              <a:ea typeface="Franklin Gothic"/>
              <a:cs typeface="Franklin Gothic"/>
              <a:sym typeface="Frankli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An over view from coming of Islam to creation of Pakistan.</a:t>
            </a:r>
            <a:endParaRPr b="1"/>
          </a:p>
        </p:txBody>
      </p:sp>
      <p:sp>
        <p:nvSpPr>
          <p:cNvPr id="268" name="Google Shape;268;p22"/>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a:bodyPr>
          <a:lstStyle/>
          <a:p>
            <a:pPr marL="0" lvl="0" indent="0" algn="just" rtl="0">
              <a:lnSpc>
                <a:spcPct val="150000"/>
              </a:lnSpc>
              <a:spcBef>
                <a:spcPts val="0"/>
              </a:spcBef>
              <a:spcAft>
                <a:spcPts val="0"/>
              </a:spcAft>
              <a:buSzPts val="1440"/>
              <a:buNone/>
            </a:pPr>
            <a:r>
              <a:rPr lang="en-US" dirty="0">
                <a:latin typeface="Arial Black"/>
                <a:ea typeface="Arial Black"/>
                <a:cs typeface="Arial Black"/>
                <a:sym typeface="Arial Black"/>
              </a:rPr>
              <a:t>The creation of Pakistan has its roots into the isolated past. Its establishment was the culmination of the struggle by Muslims of the South-Asian subcontinent for a separate homeland of their own and its foundation was laid when Muhammad bin Qaim subdued Sindh in 711. as a revenge against sea pirates that had taken refuge in Raja </a:t>
            </a:r>
            <a:r>
              <a:rPr lang="en-US" dirty="0" err="1">
                <a:latin typeface="Arial Black"/>
                <a:ea typeface="Arial Black"/>
                <a:cs typeface="Arial Black"/>
                <a:sym typeface="Arial Black"/>
              </a:rPr>
              <a:t>Dahir’s</a:t>
            </a:r>
            <a:r>
              <a:rPr lang="en-US" dirty="0">
                <a:latin typeface="Arial Black"/>
                <a:ea typeface="Arial Black"/>
                <a:cs typeface="Arial Black"/>
                <a:sym typeface="Arial Black"/>
              </a:rPr>
              <a:t> kingdom.</a:t>
            </a:r>
          </a:p>
          <a:p>
            <a:pPr marL="0" lvl="0" indent="0" algn="just" rtl="0">
              <a:lnSpc>
                <a:spcPct val="150000"/>
              </a:lnSpc>
              <a:spcBef>
                <a:spcPts val="0"/>
              </a:spcBef>
              <a:spcAft>
                <a:spcPts val="0"/>
              </a:spcAft>
              <a:buSzPts val="1440"/>
              <a:buNone/>
            </a:pPr>
            <a:r>
              <a:rPr lang="en-US" dirty="0">
                <a:latin typeface="Arial Black"/>
                <a:ea typeface="Arial Black"/>
                <a:cs typeface="Arial Black"/>
                <a:sym typeface="Arial Black"/>
              </a:rPr>
              <a:t>The advent of Islam further strengthened the historical individualism in the areas now constituting Pakistan and further beyond its boundaries.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Formation of Islamic Government</a:t>
            </a:r>
            <a:endParaRPr b="1"/>
          </a:p>
        </p:txBody>
      </p:sp>
      <p:sp>
        <p:nvSpPr>
          <p:cNvPr id="274" name="Google Shape;274;p23"/>
          <p:cNvSpPr txBox="1">
            <a:spLocks noGrp="1"/>
          </p:cNvSpPr>
          <p:nvPr>
            <p:ph type="body" idx="1"/>
          </p:nvPr>
        </p:nvSpPr>
        <p:spPr>
          <a:xfrm>
            <a:off x="1168808" y="2575791"/>
            <a:ext cx="8825659" cy="3416300"/>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SzPts val="1440"/>
              <a:buNone/>
            </a:pPr>
            <a:r>
              <a:rPr lang="en-US" dirty="0">
                <a:latin typeface="Franklin Gothic"/>
                <a:ea typeface="Franklin Gothic"/>
                <a:cs typeface="Franklin Gothic"/>
                <a:sym typeface="Franklin Gothic"/>
              </a:rPr>
              <a:t>Under the leader ship of Muhammad Bin Qasim, earliest Muslim government was formed in Sindh. But as a whole the initial Muslim government was formed by Qutub u Din </a:t>
            </a:r>
            <a:r>
              <a:rPr lang="en-US" dirty="0" err="1">
                <a:latin typeface="Franklin Gothic"/>
                <a:ea typeface="Franklin Gothic"/>
                <a:cs typeface="Franklin Gothic"/>
                <a:sym typeface="Franklin Gothic"/>
              </a:rPr>
              <a:t>Aibak</a:t>
            </a:r>
            <a:r>
              <a:rPr lang="en-US" dirty="0">
                <a:latin typeface="Franklin Gothic"/>
                <a:ea typeface="Franklin Gothic"/>
                <a:cs typeface="Franklin Gothic"/>
                <a:sym typeface="Franklin Gothic"/>
              </a:rPr>
              <a:t> , a slave of </a:t>
            </a:r>
            <a:r>
              <a:rPr lang="en-US" dirty="0" err="1">
                <a:latin typeface="Franklin Gothic"/>
                <a:ea typeface="Franklin Gothic"/>
                <a:cs typeface="Franklin Gothic"/>
                <a:sym typeface="Franklin Gothic"/>
              </a:rPr>
              <a:t>Shabad</a:t>
            </a:r>
            <a:r>
              <a:rPr lang="en-US" dirty="0">
                <a:latin typeface="Franklin Gothic"/>
                <a:ea typeface="Franklin Gothic"/>
                <a:cs typeface="Franklin Gothic"/>
                <a:sym typeface="Franklin Gothic"/>
              </a:rPr>
              <a:t> </a:t>
            </a:r>
            <a:r>
              <a:rPr lang="en-US" dirty="0" err="1">
                <a:latin typeface="Franklin Gothic"/>
                <a:ea typeface="Franklin Gothic"/>
                <a:cs typeface="Franklin Gothic"/>
                <a:sym typeface="Franklin Gothic"/>
              </a:rPr>
              <a:t>ud</a:t>
            </a:r>
            <a:r>
              <a:rPr lang="en-US" dirty="0">
                <a:latin typeface="Franklin Gothic"/>
                <a:ea typeface="Franklin Gothic"/>
                <a:cs typeface="Franklin Gothic"/>
                <a:sym typeface="Franklin Gothic"/>
              </a:rPr>
              <a:t> din Ghori in 1192 A.D.</a:t>
            </a:r>
            <a:endParaRPr dirty="0">
              <a:latin typeface="Franklin Gothic"/>
              <a:ea typeface="Franklin Gothic"/>
              <a:cs typeface="Franklin Gothic"/>
              <a:sym typeface="Frankli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Different stages of Islamic Government </a:t>
            </a:r>
            <a:endParaRPr b="1"/>
          </a:p>
        </p:txBody>
      </p:sp>
      <p:sp>
        <p:nvSpPr>
          <p:cNvPr id="280" name="Google Shape;280;p24"/>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Autofit/>
          </a:bodyPr>
          <a:lstStyle/>
          <a:p>
            <a:pPr marL="0" lvl="0" indent="0" algn="just" rtl="0">
              <a:lnSpc>
                <a:spcPct val="200000"/>
              </a:lnSpc>
              <a:spcBef>
                <a:spcPts val="0"/>
              </a:spcBef>
              <a:spcAft>
                <a:spcPts val="0"/>
              </a:spcAft>
              <a:buSzPts val="1440"/>
              <a:buNone/>
            </a:pPr>
            <a:r>
              <a:rPr lang="en-US" i="1" dirty="0">
                <a:latin typeface="Franklin Gothic"/>
                <a:ea typeface="Franklin Gothic"/>
                <a:cs typeface="Franklin Gothic"/>
                <a:sym typeface="Franklin Gothic"/>
              </a:rPr>
              <a:t>After Muhammad Bin Qasim’s going back from Sindh, Abbasi family ruled over Sindh till 854 A.D.</a:t>
            </a:r>
            <a:endParaRPr i="1" dirty="0">
              <a:latin typeface="Franklin Gothic"/>
              <a:ea typeface="Franklin Gothic"/>
              <a:cs typeface="Franklin Gothic"/>
              <a:sym typeface="Franklin Gothic"/>
            </a:endParaRPr>
          </a:p>
          <a:p>
            <a:pPr marL="0" lvl="0" indent="0" algn="just" rtl="0">
              <a:lnSpc>
                <a:spcPct val="200000"/>
              </a:lnSpc>
              <a:spcBef>
                <a:spcPts val="1000"/>
              </a:spcBef>
              <a:spcAft>
                <a:spcPts val="0"/>
              </a:spcAft>
              <a:buSzPts val="1440"/>
              <a:buNone/>
            </a:pPr>
            <a:r>
              <a:rPr lang="en-US" i="1" dirty="0">
                <a:latin typeface="Franklin Gothic"/>
                <a:ea typeface="Franklin Gothic"/>
                <a:cs typeface="Franklin Gothic"/>
                <a:sym typeface="Franklin Gothic"/>
              </a:rPr>
              <a:t>Different periods had been led by Muslims and also some other aspects for the promotion of Islam which was finally became the </a:t>
            </a:r>
            <a:r>
              <a:rPr lang="en-US" sz="2800" b="1" i="1" u="sng" dirty="0">
                <a:latin typeface="Franklin Gothic"/>
                <a:ea typeface="Franklin Gothic"/>
                <a:cs typeface="Franklin Gothic"/>
                <a:sym typeface="Franklin Gothic"/>
              </a:rPr>
              <a:t>Ideology of Pakistan</a:t>
            </a:r>
            <a:r>
              <a:rPr lang="en-US" b="1" i="1" u="sng" dirty="0">
                <a:latin typeface="Franklin Gothic"/>
                <a:ea typeface="Franklin Gothic"/>
                <a:cs typeface="Franklin Gothic"/>
                <a:sym typeface="Franklin Gothic"/>
              </a:rPr>
              <a:t>.</a:t>
            </a:r>
            <a:endParaRPr b="1" i="1" u="sng" dirty="0">
              <a:latin typeface="Franklin Gothic"/>
              <a:ea typeface="Franklin Gothic"/>
              <a:cs typeface="Franklin Gothic"/>
              <a:sym typeface="Frankli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txBox="1">
            <a:spLocks noGrp="1"/>
          </p:cNvSpPr>
          <p:nvPr>
            <p:ph type="body" idx="1"/>
          </p:nvPr>
        </p:nvSpPr>
        <p:spPr>
          <a:xfrm>
            <a:off x="725466" y="2347301"/>
            <a:ext cx="10515600" cy="3228110"/>
          </a:xfrm>
          <a:prstGeom prst="rect">
            <a:avLst/>
          </a:prstGeom>
          <a:noFill/>
          <a:ln>
            <a:noFill/>
          </a:ln>
        </p:spPr>
        <p:txBody>
          <a:bodyPr spcFirstLastPara="1" wrap="square" lIns="91425" tIns="45700" rIns="91425" bIns="45700" anchor="t" anchorCtr="0">
            <a:normAutofit fontScale="25000" lnSpcReduction="20000"/>
          </a:bodyPr>
          <a:lstStyle/>
          <a:p>
            <a:pPr marL="342900" lvl="0" indent="-342900" algn="l" rtl="0">
              <a:spcBef>
                <a:spcPts val="0"/>
              </a:spcBef>
              <a:spcAft>
                <a:spcPts val="0"/>
              </a:spcAft>
              <a:buSzPct val="79999"/>
              <a:buNone/>
            </a:pPr>
            <a:endParaRPr dirty="0">
              <a:latin typeface="Franklin Gothic"/>
              <a:ea typeface="Franklin Gothic"/>
              <a:cs typeface="Franklin Gothic"/>
              <a:sym typeface="Franklin Gothic"/>
            </a:endParaRPr>
          </a:p>
          <a:p>
            <a:pPr marL="857250" indent="-857250">
              <a:buSzPct val="79999"/>
            </a:pPr>
            <a:r>
              <a:rPr lang="en-US" sz="7200" dirty="0">
                <a:latin typeface="Franklin Gothic"/>
                <a:ea typeface="Franklin Gothic"/>
                <a:cs typeface="Franklin Gothic"/>
                <a:sym typeface="Franklin Gothic"/>
              </a:rPr>
              <a:t>Ghaznavid Period (998-1030)</a:t>
            </a:r>
            <a:endParaRPr sz="7200" dirty="0">
              <a:latin typeface="Franklin Gothic"/>
              <a:ea typeface="Franklin Gothic"/>
              <a:cs typeface="Franklin Gothic"/>
              <a:sym typeface="Franklin Gothic"/>
            </a:endParaRPr>
          </a:p>
          <a:p>
            <a:pPr marL="857250" indent="-857250">
              <a:buSzPct val="79999"/>
            </a:pPr>
            <a:r>
              <a:rPr lang="en-US" sz="7200" dirty="0" err="1">
                <a:latin typeface="Franklin Gothic"/>
                <a:ea typeface="Franklin Gothic"/>
                <a:cs typeface="Franklin Gothic"/>
                <a:sym typeface="Franklin Gothic"/>
              </a:rPr>
              <a:t>Ghorid</a:t>
            </a:r>
            <a:r>
              <a:rPr lang="en-US" sz="7200" dirty="0">
                <a:latin typeface="Franklin Gothic"/>
                <a:ea typeface="Franklin Gothic"/>
                <a:cs typeface="Franklin Gothic"/>
                <a:sym typeface="Franklin Gothic"/>
              </a:rPr>
              <a:t> Period (1175-1206)</a:t>
            </a:r>
          </a:p>
          <a:p>
            <a:pPr marL="857250" lvl="0" indent="-857250" algn="l" rtl="0">
              <a:spcBef>
                <a:spcPts val="1000"/>
              </a:spcBef>
              <a:spcAft>
                <a:spcPts val="0"/>
              </a:spcAft>
              <a:buSzPct val="79999"/>
              <a:buFont typeface="Wingdings" panose="05000000000000000000" pitchFamily="2" charset="2"/>
              <a:buChar char="§"/>
            </a:pPr>
            <a:r>
              <a:rPr lang="en-US" sz="7200" dirty="0">
                <a:latin typeface="Franklin Gothic"/>
                <a:ea typeface="Franklin Gothic"/>
                <a:cs typeface="Franklin Gothic"/>
                <a:sym typeface="Franklin Gothic"/>
              </a:rPr>
              <a:t>Delhi Sultanate (1206-1526)  (state capital was Delhi)</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r>
              <a:rPr lang="en-US" sz="7200" dirty="0">
                <a:latin typeface="Franklin Gothic"/>
                <a:ea typeface="Franklin Gothic"/>
                <a:cs typeface="Franklin Gothic"/>
                <a:sym typeface="Franklin Gothic"/>
              </a:rPr>
              <a:t>The slave Dynasty (1206-1290)</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r>
              <a:rPr lang="en-US" sz="7200" dirty="0">
                <a:latin typeface="Franklin Gothic"/>
                <a:ea typeface="Franklin Gothic"/>
                <a:cs typeface="Franklin Gothic"/>
                <a:sym typeface="Franklin Gothic"/>
              </a:rPr>
              <a:t>Khilji Dynasty (1290-1320)</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r>
              <a:rPr lang="en-US" sz="7200" dirty="0">
                <a:latin typeface="Franklin Gothic"/>
                <a:ea typeface="Franklin Gothic"/>
                <a:cs typeface="Franklin Gothic"/>
                <a:sym typeface="Franklin Gothic"/>
              </a:rPr>
              <a:t>Tughlaq Dynasty (1321-1413)</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r>
              <a:rPr lang="en-US" sz="7200" dirty="0">
                <a:latin typeface="Franklin Gothic"/>
                <a:ea typeface="Franklin Gothic"/>
                <a:cs typeface="Franklin Gothic"/>
                <a:sym typeface="Franklin Gothic"/>
              </a:rPr>
              <a:t>Sayyid Dynasty (1414-1451)</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r>
              <a:rPr lang="en-US" sz="7200" dirty="0">
                <a:latin typeface="Franklin Gothic"/>
                <a:ea typeface="Franklin Gothic"/>
                <a:cs typeface="Franklin Gothic"/>
                <a:sym typeface="Franklin Gothic"/>
              </a:rPr>
              <a:t>Lodhi Dynasty (1451-1526)</a:t>
            </a:r>
            <a:endParaRPr sz="7200" dirty="0">
              <a:latin typeface="Franklin Gothic"/>
              <a:ea typeface="Franklin Gothic"/>
              <a:cs typeface="Franklin Gothic"/>
              <a:sym typeface="Franklin Gothic"/>
            </a:endParaRPr>
          </a:p>
          <a:p>
            <a:pPr marL="1143000" lvl="0" indent="-1143000" algn="l" rtl="0">
              <a:spcBef>
                <a:spcPts val="1000"/>
              </a:spcBef>
              <a:spcAft>
                <a:spcPts val="0"/>
              </a:spcAft>
              <a:buSzPct val="79999"/>
              <a:buFont typeface="+mj-lt"/>
              <a:buAutoNum type="arabicPeriod"/>
            </a:pPr>
            <a:endParaRPr sz="7200" dirty="0">
              <a:latin typeface="Franklin Gothic"/>
              <a:ea typeface="Franklin Gothic"/>
              <a:cs typeface="Franklin Gothic"/>
              <a:sym typeface="Franklin Gothic"/>
            </a:endParaRPr>
          </a:p>
          <a:p>
            <a:pPr marL="342900" lvl="0" indent="-224028" algn="l" rtl="0">
              <a:spcBef>
                <a:spcPts val="1000"/>
              </a:spcBef>
              <a:spcAft>
                <a:spcPts val="0"/>
              </a:spcAft>
              <a:buSzPct val="79999"/>
              <a:buNone/>
            </a:pPr>
            <a:endParaRPr sz="7200" dirty="0">
              <a:latin typeface="Franklin Gothic"/>
              <a:ea typeface="Franklin Gothic"/>
              <a:cs typeface="Franklin Gothic"/>
              <a:sym typeface="Frankli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6"/>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Franklin Gothic"/>
              <a:buNone/>
            </a:pPr>
            <a:r>
              <a:rPr lang="en-US">
                <a:latin typeface="Franklin Gothic"/>
                <a:ea typeface="Franklin Gothic"/>
                <a:cs typeface="Franklin Gothic"/>
                <a:sym typeface="Franklin Gothic"/>
              </a:rPr>
              <a:t>Mughal Era (1526-1707)</a:t>
            </a:r>
            <a:endParaRPr>
              <a:latin typeface="Franklin Gothic"/>
              <a:ea typeface="Franklin Gothic"/>
              <a:cs typeface="Franklin Gothic"/>
              <a:sym typeface="Franklin Gothic"/>
            </a:endParaRPr>
          </a:p>
        </p:txBody>
      </p:sp>
      <p:sp>
        <p:nvSpPr>
          <p:cNvPr id="291" name="Google Shape;291;p26"/>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latin typeface="Franklin Gothic"/>
                <a:ea typeface="Franklin Gothic"/>
                <a:cs typeface="Franklin Gothic"/>
                <a:sym typeface="Franklin Gothic"/>
              </a:rPr>
              <a:t>Zahir udin Babar (1526-1530)</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Naseer udin Humayun  (1530-1556)</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Sher Shah Soori (1539-1545)</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Jalal udin Akbar (1556-1605)</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Noor udin Jahangir (1605-1627)</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Shahab udin Shah Jahan (1628-1658)</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Orangzeb Alamgir (1658-1707)</a:t>
            </a:r>
            <a:endParaRPr>
              <a:latin typeface="Franklin Gothic"/>
              <a:ea typeface="Franklin Gothic"/>
              <a:cs typeface="Franklin Gothic"/>
              <a:sym typeface="Frankli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Downfall of Muslim Government</a:t>
            </a:r>
            <a:endParaRPr b="1"/>
          </a:p>
        </p:txBody>
      </p:sp>
      <p:sp>
        <p:nvSpPr>
          <p:cNvPr id="297" name="Google Shape;297;p27"/>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SzPts val="1440"/>
              <a:buNone/>
            </a:pPr>
            <a:r>
              <a:rPr lang="en-US" dirty="0">
                <a:latin typeface="Franklin Gothic"/>
                <a:ea typeface="Franklin Gothic"/>
                <a:cs typeface="Franklin Gothic"/>
                <a:sym typeface="Franklin Gothic"/>
              </a:rPr>
              <a:t>From 1526 to 1707 till the death of Aurangzeb Alamgir, the great Mughals did their rules from 1707 to 1857 , Mughal e Sani ruled the country. During the first period , the king used to be the real authority but during the second period , the </a:t>
            </a:r>
            <a:r>
              <a:rPr lang="en-US" dirty="0" err="1">
                <a:latin typeface="Franklin Gothic"/>
                <a:ea typeface="Franklin Gothic"/>
                <a:cs typeface="Franklin Gothic"/>
                <a:sym typeface="Franklin Gothic"/>
              </a:rPr>
              <a:t>Mansabdars</a:t>
            </a:r>
            <a:r>
              <a:rPr lang="en-US" dirty="0">
                <a:latin typeface="Franklin Gothic"/>
                <a:ea typeface="Franklin Gothic"/>
                <a:cs typeface="Franklin Gothic"/>
                <a:sym typeface="Franklin Gothic"/>
              </a:rPr>
              <a:t> were the real authority and not the kings.</a:t>
            </a:r>
            <a:endParaRPr dirty="0">
              <a:latin typeface="Franklin Gothic"/>
              <a:ea typeface="Franklin Gothic"/>
              <a:cs typeface="Franklin Gothic"/>
              <a:sym typeface="Frankli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body" idx="1"/>
          </p:nvPr>
        </p:nvSpPr>
        <p:spPr>
          <a:xfrm>
            <a:off x="814449" y="733094"/>
            <a:ext cx="10515600" cy="510956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endParaRPr/>
          </a:p>
          <a:p>
            <a:pPr marL="0" lvl="0" indent="0" algn="ctr" rtl="0">
              <a:spcBef>
                <a:spcPts val="1000"/>
              </a:spcBef>
              <a:spcAft>
                <a:spcPts val="0"/>
              </a:spcAft>
              <a:buSzPts val="1440"/>
              <a:buNone/>
            </a:pPr>
            <a:r>
              <a:rPr lang="en-US">
                <a:latin typeface="Franklin Gothic"/>
                <a:ea typeface="Franklin Gothic"/>
                <a:cs typeface="Franklin Gothic"/>
                <a:sym typeface="Franklin Gothic"/>
              </a:rPr>
              <a:t>This was the overall background of making an Ideology for Pakistan as British ruled over sub continent almost a century. Two nation theory and basics of Islam was the essence </a:t>
            </a:r>
            <a:r>
              <a:rPr lang="en-US" sz="1600" i="1" u="sng">
                <a:latin typeface="Franklin Gothic"/>
                <a:ea typeface="Franklin Gothic"/>
                <a:cs typeface="Franklin Gothic"/>
                <a:sym typeface="Franklin Gothic"/>
              </a:rPr>
              <a:t>(Ideology) </a:t>
            </a:r>
            <a:r>
              <a:rPr lang="en-US">
                <a:latin typeface="Franklin Gothic"/>
                <a:ea typeface="Franklin Gothic"/>
                <a:cs typeface="Franklin Gothic"/>
                <a:sym typeface="Franklin Gothic"/>
              </a:rPr>
              <a:t>of creation of Pakistan led by many Muslim scholars , Allama Iqbal and Quaid e Azam . </a:t>
            </a:r>
            <a:endParaRPr/>
          </a:p>
          <a:p>
            <a:pPr marL="0" lvl="0" indent="0" algn="ctr" rtl="0">
              <a:spcBef>
                <a:spcPts val="1000"/>
              </a:spcBef>
              <a:spcAft>
                <a:spcPts val="0"/>
              </a:spcAft>
              <a:buSzPts val="1440"/>
              <a:buNone/>
            </a:pPr>
            <a:endParaRPr i="1" u="sng">
              <a:latin typeface="Franklin Gothic"/>
              <a:ea typeface="Franklin Gothic"/>
              <a:cs typeface="Franklin Gothic"/>
              <a:sym typeface="Franklin Gothic"/>
            </a:endParaRPr>
          </a:p>
          <a:p>
            <a:pPr marL="0" lvl="0" indent="0" algn="ctr" rtl="0">
              <a:spcBef>
                <a:spcPts val="1000"/>
              </a:spcBef>
              <a:spcAft>
                <a:spcPts val="0"/>
              </a:spcAft>
              <a:buSzPts val="1440"/>
              <a:buNone/>
            </a:pPr>
            <a:r>
              <a:rPr lang="en-US" i="1" u="sng">
                <a:latin typeface="Franklin Gothic"/>
                <a:ea typeface="Franklin Gothic"/>
                <a:cs typeface="Franklin Gothic"/>
                <a:sym typeface="Franklin Gothic"/>
              </a:rPr>
              <a:t>Ideology of Pakistan in reality , is ideology of Islam. The life of any nation is subject to either human ideology or meta physical ideology .</a:t>
            </a:r>
            <a:endParaRPr i="1" u="sng">
              <a:latin typeface="Franklin Gothic"/>
              <a:ea typeface="Franklin Gothic"/>
              <a:cs typeface="Franklin Gothic"/>
              <a:sym typeface="Frankli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9"/>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lnSpc>
                <a:spcPct val="200000"/>
              </a:lnSpc>
              <a:spcBef>
                <a:spcPts val="0"/>
              </a:spcBef>
              <a:spcAft>
                <a:spcPts val="0"/>
              </a:spcAft>
              <a:buClr>
                <a:schemeClr val="lt2"/>
              </a:buClr>
              <a:buSzPts val="3600"/>
              <a:buFont typeface="Century Gothic"/>
              <a:buNone/>
            </a:pPr>
            <a:r>
              <a:rPr lang="en-US" b="1"/>
              <a:t>Human Ideology</a:t>
            </a:r>
            <a:endParaRPr b="1"/>
          </a:p>
        </p:txBody>
      </p:sp>
      <p:sp>
        <p:nvSpPr>
          <p:cNvPr id="308" name="Google Shape;308;p29"/>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SzPts val="1440"/>
              <a:buNone/>
            </a:pPr>
            <a:r>
              <a:rPr lang="en-US" dirty="0">
                <a:latin typeface="Franklin Gothic"/>
                <a:ea typeface="Franklin Gothic"/>
                <a:cs typeface="Franklin Gothic"/>
                <a:sym typeface="Franklin Gothic"/>
              </a:rPr>
              <a:t>The thoughts, given by different scholars as the solutions of human problems are called human ideologies, e.g. communism, socialism and nationalism . The are all human ideologies. Human thoughts are so partial that they cannot give a proper solution to all the human problems . That is the reason that the human ideologies fail at last. </a:t>
            </a:r>
            <a:endParaRPr dirty="0">
              <a:latin typeface="Franklin Gothic"/>
              <a:ea typeface="Franklin Gothic"/>
              <a:cs typeface="Franklin Gothic"/>
              <a:sym typeface="Frankli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Metaphysical Ideology</a:t>
            </a:r>
            <a:endParaRPr b="1"/>
          </a:p>
        </p:txBody>
      </p:sp>
      <p:sp>
        <p:nvSpPr>
          <p:cNvPr id="314" name="Google Shape;314;p30"/>
          <p:cNvSpPr txBox="1">
            <a:spLocks noGrp="1"/>
          </p:cNvSpPr>
          <p:nvPr>
            <p:ph type="body" idx="1"/>
          </p:nvPr>
        </p:nvSpPr>
        <p:spPr>
          <a:xfrm>
            <a:off x="838200" y="1885000"/>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SzPts val="1440"/>
              <a:buNone/>
            </a:pPr>
            <a:endParaRPr dirty="0"/>
          </a:p>
          <a:p>
            <a:pPr marL="0" lvl="0" indent="0" algn="just" rtl="0">
              <a:lnSpc>
                <a:spcPct val="200000"/>
              </a:lnSpc>
              <a:spcBef>
                <a:spcPts val="1000"/>
              </a:spcBef>
              <a:spcAft>
                <a:spcPts val="0"/>
              </a:spcAft>
              <a:buSzPts val="1440"/>
              <a:buNone/>
            </a:pPr>
            <a:endParaRPr dirty="0"/>
          </a:p>
          <a:p>
            <a:pPr marL="0" lvl="0" indent="0" algn="just" rtl="0">
              <a:lnSpc>
                <a:spcPct val="200000"/>
              </a:lnSpc>
              <a:spcBef>
                <a:spcPts val="1000"/>
              </a:spcBef>
              <a:spcAft>
                <a:spcPts val="0"/>
              </a:spcAft>
              <a:buSzPts val="1440"/>
              <a:buNone/>
            </a:pPr>
            <a:r>
              <a:rPr lang="en-US" dirty="0">
                <a:latin typeface="Franklin Gothic"/>
                <a:ea typeface="Franklin Gothic"/>
                <a:cs typeface="Franklin Gothic"/>
                <a:sym typeface="Franklin Gothic"/>
              </a:rPr>
              <a:t>The basis of ideology of Pakistan are the Holy Quran and the teaching of Holy Prophet(PBUH), which covers the political, social, economical and religious aspects of Human life. This is such a kind of reality which cannot be denied. This is the system of life of this nation and this is the basis of ideology of Pakistan. So it would not be wrong to say that Islam is the center of ideology of Pakistan. In other words ideology of Islam is the ideology of Pakistan</a:t>
            </a:r>
            <a:endParaRPr dirty="0">
              <a:latin typeface="Franklin Gothic"/>
              <a:ea typeface="Franklin Gothic"/>
              <a:cs typeface="Franklin Gothic"/>
              <a:sym typeface="Frankli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1"/>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Franklin Gothic"/>
              <a:buNone/>
            </a:pPr>
            <a:r>
              <a:rPr lang="en-US">
                <a:latin typeface="Franklin Gothic"/>
                <a:ea typeface="Franklin Gothic"/>
                <a:cs typeface="Franklin Gothic"/>
                <a:sym typeface="Franklin Gothic"/>
              </a:rPr>
              <a:t>Objectives of the Establishment of a separate homeland for Muslims (Pakistan)</a:t>
            </a:r>
            <a:endParaRPr>
              <a:latin typeface="Franklin Gothic"/>
              <a:ea typeface="Franklin Gothic"/>
              <a:cs typeface="Franklin Gothic"/>
              <a:sym typeface="Franklin Gothic"/>
            </a:endParaRPr>
          </a:p>
        </p:txBody>
      </p:sp>
      <p:sp>
        <p:nvSpPr>
          <p:cNvPr id="320" name="Google Shape;320;p31"/>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2"/>
          <p:cNvSpPr txBox="1">
            <a:spLocks noGrp="1"/>
          </p:cNvSpPr>
          <p:nvPr>
            <p:ph type="title"/>
          </p:nvPr>
        </p:nvSpPr>
        <p:spPr>
          <a:xfrm>
            <a:off x="1154954" y="703385"/>
            <a:ext cx="8761413" cy="1420837"/>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 Enforcement of the Sovereignty of the Allah Almighty:</a:t>
            </a:r>
            <a:endParaRPr>
              <a:latin typeface="Franklin Gothic"/>
              <a:ea typeface="Franklin Gothic"/>
              <a:cs typeface="Franklin Gothic"/>
              <a:sym typeface="Franklin Gothic"/>
            </a:endParaRPr>
          </a:p>
        </p:txBody>
      </p:sp>
      <p:sp>
        <p:nvSpPr>
          <p:cNvPr id="326" name="Google Shape;326;p32"/>
          <p:cNvSpPr txBox="1">
            <a:spLocks noGrp="1"/>
          </p:cNvSpPr>
          <p:nvPr>
            <p:ph type="body" idx="1"/>
          </p:nvPr>
        </p:nvSpPr>
        <p:spPr>
          <a:xfrm>
            <a:off x="1378634" y="2603500"/>
            <a:ext cx="8601979" cy="3416300"/>
          </a:xfrm>
          <a:prstGeom prst="rect">
            <a:avLst/>
          </a:prstGeom>
          <a:noFill/>
          <a:ln>
            <a:noFill/>
          </a:ln>
        </p:spPr>
        <p:txBody>
          <a:bodyPr spcFirstLastPara="1" wrap="square" lIns="91425" tIns="45700" rIns="91425" bIns="45700" anchor="t" anchorCtr="0">
            <a:normAutofit/>
          </a:bodyPr>
          <a:lstStyle/>
          <a:p>
            <a:pPr marL="457200" lvl="0" indent="-457200" algn="just" rtl="0">
              <a:lnSpc>
                <a:spcPct val="200000"/>
              </a:lnSpc>
              <a:spcBef>
                <a:spcPts val="0"/>
              </a:spcBef>
              <a:spcAft>
                <a:spcPts val="0"/>
              </a:spcAft>
              <a:buSzPts val="1440"/>
              <a:buFont typeface="Noto Sans Symbols"/>
              <a:buChar char="▪"/>
            </a:pPr>
            <a:r>
              <a:rPr lang="en-US" dirty="0">
                <a:latin typeface="Franklin Gothic"/>
                <a:ea typeface="Franklin Gothic"/>
                <a:cs typeface="Franklin Gothic"/>
                <a:sym typeface="Franklin Gothic"/>
              </a:rPr>
              <a:t>Concept of the sovereignty of the Allah Almighty.</a:t>
            </a:r>
            <a:endParaRPr dirty="0"/>
          </a:p>
          <a:p>
            <a:pPr marL="342900" lvl="0" indent="-342900" algn="just" rtl="0">
              <a:lnSpc>
                <a:spcPct val="200000"/>
              </a:lnSpc>
              <a:spcBef>
                <a:spcPts val="1000"/>
              </a:spcBef>
              <a:spcAft>
                <a:spcPts val="0"/>
              </a:spcAft>
              <a:buSzPts val="1440"/>
              <a:buFont typeface="Noto Sans Symbols"/>
              <a:buChar char="▪"/>
            </a:pPr>
            <a:r>
              <a:rPr lang="en-US" dirty="0">
                <a:latin typeface="Franklin Gothic"/>
                <a:ea typeface="Franklin Gothic"/>
                <a:cs typeface="Franklin Gothic"/>
                <a:sym typeface="Franklin Gothic"/>
              </a:rPr>
              <a:t> The demand for Pakistan was made to establish a state where Allah’s supremacy could be enforced and a government  based on the Islamic principles could be installed.</a:t>
            </a:r>
            <a:endParaRPr dirty="0"/>
          </a:p>
          <a:p>
            <a:pPr marL="342900" lvl="0" indent="-342900" algn="just" rtl="0">
              <a:lnSpc>
                <a:spcPct val="200000"/>
              </a:lnSpc>
              <a:spcBef>
                <a:spcPts val="1000"/>
              </a:spcBef>
              <a:spcAft>
                <a:spcPts val="0"/>
              </a:spcAft>
              <a:buSzPts val="1440"/>
              <a:buNone/>
            </a:pPr>
            <a:endParaRPr dirty="0">
              <a:latin typeface="Franklin Gothic"/>
              <a:ea typeface="Franklin Gothic"/>
              <a:cs typeface="Franklin Gothic"/>
              <a:sym typeface="Franklin Gothic"/>
            </a:endParaRPr>
          </a:p>
          <a:p>
            <a:pPr marL="342900" lvl="0" indent="-251459" algn="just" rtl="0">
              <a:lnSpc>
                <a:spcPct val="200000"/>
              </a:lnSpc>
              <a:spcBef>
                <a:spcPts val="1000"/>
              </a:spcBef>
              <a:spcAft>
                <a:spcPts val="0"/>
              </a:spcAft>
              <a:buSzPts val="1440"/>
              <a:buNone/>
            </a:pPr>
            <a:endParaRPr dirty="0">
              <a:latin typeface="Franklin Gothic"/>
              <a:ea typeface="Franklin Gothic"/>
              <a:cs typeface="Franklin Gothic"/>
              <a:sym typeface="Frankli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3"/>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742950" lvl="0" indent="-74295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Establishment of Islamic Democracy:</a:t>
            </a:r>
            <a:endParaRPr>
              <a:latin typeface="Franklin Gothic"/>
              <a:ea typeface="Franklin Gothic"/>
              <a:cs typeface="Franklin Gothic"/>
              <a:sym typeface="Franklin Gothic"/>
            </a:endParaRPr>
          </a:p>
        </p:txBody>
      </p:sp>
      <p:sp>
        <p:nvSpPr>
          <p:cNvPr id="332" name="Google Shape;332;p33"/>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latin typeface="Franklin Gothic"/>
                <a:ea typeface="Franklin Gothic"/>
                <a:cs typeface="Franklin Gothic"/>
                <a:sym typeface="Franklin Gothic"/>
              </a:rPr>
              <a:t>The Khalifa the Naib of Allah on earth, has dual accountability….. One on earth to the people and one in heaven to the Allah.</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In Islamic democracy, every one is equal and no one get pleasure from a privileged place on the basis of his color, caste and creed. </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It was also a prime objective of the demand for separate homeland to have a country where Islamic democratic system could be installed.</a:t>
            </a:r>
            <a:endParaRPr>
              <a:latin typeface="Franklin Gothic"/>
              <a:ea typeface="Franklin Gothic"/>
              <a:cs typeface="Franklin Gothic"/>
              <a:sym typeface="Frankli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4"/>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t> </a:t>
            </a:r>
            <a:r>
              <a:rPr lang="en-US">
                <a:latin typeface="Franklin Gothic"/>
                <a:ea typeface="Franklin Gothic"/>
                <a:cs typeface="Franklin Gothic"/>
                <a:sym typeface="Franklin Gothic"/>
              </a:rPr>
              <a:t>Revival of Muslim Identity:</a:t>
            </a:r>
            <a:endParaRPr>
              <a:latin typeface="Franklin Gothic"/>
              <a:ea typeface="Franklin Gothic"/>
              <a:cs typeface="Franklin Gothic"/>
              <a:sym typeface="Franklin Gothic"/>
            </a:endParaRPr>
          </a:p>
        </p:txBody>
      </p:sp>
      <p:sp>
        <p:nvSpPr>
          <p:cNvPr id="338" name="Google Shape;338;p34"/>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200000"/>
              </a:lnSpc>
              <a:spcBef>
                <a:spcPts val="0"/>
              </a:spcBef>
              <a:spcAft>
                <a:spcPts val="0"/>
              </a:spcAft>
              <a:buSzPts val="1440"/>
              <a:buChar char="►"/>
            </a:pPr>
            <a:r>
              <a:rPr lang="en-US" dirty="0">
                <a:latin typeface="Franklin Gothic"/>
                <a:ea typeface="Franklin Gothic"/>
                <a:cs typeface="Franklin Gothic"/>
                <a:sym typeface="Franklin Gothic"/>
              </a:rPr>
              <a:t>The Muslims of India were in deprived condition because of their  backwardness in politics and education that’s why they were not  in a position to compete with Hindus. Hindus always showed hatred and bias attitude to Muslims which blocked all ways of their prosperity in every field.</a:t>
            </a:r>
            <a:endParaRPr dirty="0"/>
          </a:p>
          <a:p>
            <a:pPr marL="342900" lvl="0" indent="-342900" algn="just" rtl="0">
              <a:lnSpc>
                <a:spcPct val="200000"/>
              </a:lnSpc>
              <a:spcBef>
                <a:spcPts val="1000"/>
              </a:spcBef>
              <a:spcAft>
                <a:spcPts val="0"/>
              </a:spcAft>
              <a:buSzPts val="1440"/>
              <a:buChar char="►"/>
            </a:pPr>
            <a:r>
              <a:rPr lang="en-US" dirty="0">
                <a:latin typeface="Franklin Gothic"/>
                <a:ea typeface="Franklin Gothic"/>
                <a:cs typeface="Franklin Gothic"/>
                <a:sym typeface="Franklin Gothic"/>
              </a:rPr>
              <a:t>The identity and Muslim image was in great jeopardy at that time , so the demand for Pakistan was made to protect Muslims from Hindu suppression.</a:t>
            </a:r>
            <a:endParaRPr dirty="0"/>
          </a:p>
          <a:p>
            <a:pPr marL="342900" lvl="0" indent="-251459" algn="just" rtl="0">
              <a:lnSpc>
                <a:spcPct val="200000"/>
              </a:lnSpc>
              <a:spcBef>
                <a:spcPts val="1000"/>
              </a:spcBef>
              <a:spcAft>
                <a:spcPts val="0"/>
              </a:spcAft>
              <a:buSzPts val="1440"/>
              <a:buNone/>
            </a:pPr>
            <a:endParaRPr dirty="0">
              <a:latin typeface="Franklin Gothic"/>
              <a:ea typeface="Franklin Gothic"/>
              <a:cs typeface="Franklin Gothic"/>
              <a:sym typeface="Frankli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5"/>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 Protection of Muslim Culture</a:t>
            </a:r>
            <a:endParaRPr>
              <a:latin typeface="Franklin Gothic"/>
              <a:ea typeface="Franklin Gothic"/>
              <a:cs typeface="Franklin Gothic"/>
              <a:sym typeface="Franklin Gothic"/>
            </a:endParaRPr>
          </a:p>
        </p:txBody>
      </p:sp>
      <p:sp>
        <p:nvSpPr>
          <p:cNvPr id="344" name="Google Shape;344;p35"/>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latin typeface="Franklin Gothic"/>
                <a:ea typeface="Franklin Gothic"/>
                <a:cs typeface="Franklin Gothic"/>
                <a:sym typeface="Franklin Gothic"/>
              </a:rPr>
              <a:t>The Muslim culture and civilization were the living symbols of Muslim Identity as a separate nation.</a:t>
            </a: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The Hindus always wanted to squeeze Muslims as a nation and to make a part of their own society. </a:t>
            </a:r>
            <a:endParaRPr>
              <a:latin typeface="Franklin Gothic"/>
              <a:ea typeface="Franklin Gothic"/>
              <a:cs typeface="Franklin Gothic"/>
              <a:sym typeface="Franklin Gothic"/>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It was another objective of the demand for separate homeland to save Muslim culture from Hindu domination and to give strength to Muslim nationhood which was not possible in the united India. </a:t>
            </a:r>
            <a:endParaRPr/>
          </a:p>
          <a:p>
            <a:pPr marL="342900" lvl="0" indent="-251459" algn="l" rtl="0">
              <a:spcBef>
                <a:spcPts val="1000"/>
              </a:spcBef>
              <a:spcAft>
                <a:spcPts val="0"/>
              </a:spcAft>
              <a:buSzPts val="1440"/>
              <a:buNone/>
            </a:pPr>
            <a:endParaRPr>
              <a:latin typeface="Franklin Gothic"/>
              <a:ea typeface="Franklin Gothic"/>
              <a:cs typeface="Franklin Gothic"/>
              <a:sym typeface="Frankli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6"/>
          <p:cNvSpPr txBox="1">
            <a:spLocks noGrp="1"/>
          </p:cNvSpPr>
          <p:nvPr>
            <p:ph type="title"/>
          </p:nvPr>
        </p:nvSpPr>
        <p:spPr>
          <a:xfrm>
            <a:off x="1154954" y="1209822"/>
            <a:ext cx="8761413" cy="745587"/>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 Two-Nation Theory:</a:t>
            </a:r>
            <a:br>
              <a:rPr lang="en-US">
                <a:latin typeface="Franklin Gothic"/>
                <a:ea typeface="Franklin Gothic"/>
                <a:cs typeface="Franklin Gothic"/>
                <a:sym typeface="Franklin Gothic"/>
              </a:rPr>
            </a:br>
            <a:endParaRPr>
              <a:latin typeface="Franklin Gothic"/>
              <a:ea typeface="Franklin Gothic"/>
              <a:cs typeface="Franklin Gothic"/>
              <a:sym typeface="Franklin Gothic"/>
            </a:endParaRPr>
          </a:p>
        </p:txBody>
      </p:sp>
      <p:sp>
        <p:nvSpPr>
          <p:cNvPr id="350" name="Google Shape;350;p36"/>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Char char="►"/>
            </a:pPr>
            <a:r>
              <a:rPr lang="en-US" dirty="0">
                <a:latin typeface="Franklin Gothic"/>
                <a:ea typeface="Franklin Gothic"/>
                <a:cs typeface="Franklin Gothic"/>
                <a:sym typeface="Franklin Gothic"/>
              </a:rPr>
              <a:t>The basis of demand for Pakistan was Two-Nation theory. It meant that Muslims were a separate nation having their own history, religion, culture, civilization and social values. The religion of Islam is based on Tauheed ( Oneness of Allah) and could not merged in any other religion.</a:t>
            </a:r>
            <a:endParaRPr dirty="0"/>
          </a:p>
          <a:p>
            <a:pPr marL="342900" lvl="0" indent="-342900" algn="just" rtl="0">
              <a:spcBef>
                <a:spcPts val="1000"/>
              </a:spcBef>
              <a:spcAft>
                <a:spcPts val="0"/>
              </a:spcAft>
              <a:buSzPts val="1440"/>
              <a:buChar char="►"/>
            </a:pPr>
            <a:r>
              <a:rPr lang="en-US" dirty="0">
                <a:latin typeface="Franklin Gothic"/>
                <a:ea typeface="Franklin Gothic"/>
                <a:cs typeface="Franklin Gothic"/>
                <a:sym typeface="Franklin Gothic"/>
              </a:rPr>
              <a:t>Two-Nation concept also meant a separate country where Muslims of India followed their Islamic principle freely.</a:t>
            </a:r>
            <a:endParaRPr dirty="0">
              <a:latin typeface="Franklin Gothic"/>
              <a:ea typeface="Franklin Gothic"/>
              <a:cs typeface="Franklin Gothic"/>
              <a:sym typeface="Frankli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7"/>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liberation from the bias Hindu majority:</a:t>
            </a:r>
            <a:endParaRPr>
              <a:latin typeface="Franklin Gothic"/>
              <a:ea typeface="Franklin Gothic"/>
              <a:cs typeface="Franklin Gothic"/>
              <a:sym typeface="Franklin Gothic"/>
            </a:endParaRPr>
          </a:p>
        </p:txBody>
      </p:sp>
      <p:sp>
        <p:nvSpPr>
          <p:cNvPr id="356" name="Google Shape;356;p37"/>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Char char="►"/>
            </a:pPr>
            <a:r>
              <a:rPr lang="en-US" dirty="0">
                <a:latin typeface="Franklin Gothic"/>
                <a:ea typeface="Franklin Gothic"/>
                <a:cs typeface="Franklin Gothic"/>
                <a:sym typeface="Franklin Gothic"/>
              </a:rPr>
              <a:t>The Muslim domination on subcontinent aroused Hindu jealousy who had to live under Muslim supremacy for centuries.</a:t>
            </a:r>
            <a:endParaRPr dirty="0"/>
          </a:p>
          <a:p>
            <a:pPr marL="342900" lvl="0" indent="-342900" algn="just" rtl="0">
              <a:spcBef>
                <a:spcPts val="1000"/>
              </a:spcBef>
              <a:spcAft>
                <a:spcPts val="0"/>
              </a:spcAft>
              <a:buSzPts val="1440"/>
              <a:buChar char="►"/>
            </a:pPr>
            <a:r>
              <a:rPr lang="en-US" dirty="0">
                <a:latin typeface="Franklin Gothic"/>
                <a:ea typeface="Franklin Gothic"/>
                <a:cs typeface="Franklin Gothic"/>
                <a:sym typeface="Franklin Gothic"/>
              </a:rPr>
              <a:t>With the beginning of British rule, the Muslim lost their domain. The British favored Hindus in terms to obtain cooperation from the Hindu majority of subcontinent. Afterwards they adopted a cruel policy for Muslims to erase their nationhood.</a:t>
            </a:r>
            <a:endParaRPr dirty="0"/>
          </a:p>
          <a:p>
            <a:pPr marL="342900" lvl="0" indent="-342900" algn="just" rtl="0">
              <a:spcBef>
                <a:spcPts val="1000"/>
              </a:spcBef>
              <a:spcAft>
                <a:spcPts val="0"/>
              </a:spcAft>
              <a:buSzPts val="1440"/>
              <a:buChar char="►"/>
            </a:pPr>
            <a:r>
              <a:rPr lang="en-US" dirty="0">
                <a:latin typeface="Franklin Gothic"/>
                <a:ea typeface="Franklin Gothic"/>
                <a:cs typeface="Franklin Gothic"/>
                <a:sym typeface="Franklin Gothic"/>
              </a:rPr>
              <a:t>That’s why a demand was made for a separate country  where Muslims enjoys freedom from Hindu prejudicial attitude and domination.</a:t>
            </a:r>
            <a:endParaRPr dirty="0">
              <a:latin typeface="Franklin Gothic"/>
              <a:ea typeface="Franklin Gothic"/>
              <a:cs typeface="Franklin Gothic"/>
              <a:sym typeface="Frankli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8"/>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228600" algn="l" rtl="0">
              <a:spcBef>
                <a:spcPts val="0"/>
              </a:spcBef>
              <a:spcAft>
                <a:spcPts val="0"/>
              </a:spcAft>
              <a:buClr>
                <a:schemeClr val="lt2"/>
              </a:buClr>
              <a:buSzPts val="3600"/>
              <a:buFont typeface="Noto Sans Symbols"/>
              <a:buChar char="❖"/>
            </a:pPr>
            <a:r>
              <a:rPr lang="en-US">
                <a:latin typeface="Franklin Gothic"/>
                <a:ea typeface="Franklin Gothic"/>
                <a:cs typeface="Franklin Gothic"/>
                <a:sym typeface="Franklin Gothic"/>
              </a:rPr>
              <a:t> Establishment of a Balanced Economic System:</a:t>
            </a:r>
            <a:endParaRPr>
              <a:latin typeface="Franklin Gothic"/>
              <a:ea typeface="Franklin Gothic"/>
              <a:cs typeface="Franklin Gothic"/>
              <a:sym typeface="Franklin Gothic"/>
            </a:endParaRPr>
          </a:p>
        </p:txBody>
      </p:sp>
      <p:sp>
        <p:nvSpPr>
          <p:cNvPr id="362" name="Google Shape;362;p38"/>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Font typeface="Noto Sans Symbols"/>
              <a:buChar char="⮚"/>
            </a:pPr>
            <a:r>
              <a:rPr lang="en-US" dirty="0">
                <a:latin typeface="Franklin Gothic"/>
                <a:ea typeface="Franklin Gothic"/>
                <a:cs typeface="Franklin Gothic"/>
                <a:sym typeface="Franklin Gothic"/>
              </a:rPr>
              <a:t>Before partition, the economic condition of Muslims was awful.  The Hindus monopolized trade and commerce and after the war of Independence British government banned Muslim entry into government service. All privileged positions were reserved for Hindus.</a:t>
            </a:r>
            <a:endParaRPr dirty="0"/>
          </a:p>
          <a:p>
            <a:pPr marL="342900" lvl="0" indent="-342900" algn="just" rtl="0">
              <a:spcBef>
                <a:spcPts val="1000"/>
              </a:spcBef>
              <a:spcAft>
                <a:spcPts val="0"/>
              </a:spcAft>
              <a:buSzPts val="1440"/>
              <a:buFont typeface="Noto Sans Symbols"/>
              <a:buChar char="⮚"/>
            </a:pPr>
            <a:r>
              <a:rPr lang="en-US" dirty="0">
                <a:latin typeface="Franklin Gothic"/>
                <a:ea typeface="Franklin Gothic"/>
                <a:cs typeface="Franklin Gothic"/>
                <a:sym typeface="Franklin Gothic"/>
              </a:rPr>
              <a:t>The backwardness in education caused chaos for the economic condition of the Muslims. So, they couldn’t find any good job in any respectable sector. </a:t>
            </a:r>
            <a:endParaRPr dirty="0"/>
          </a:p>
          <a:p>
            <a:pPr marL="342900" lvl="0" indent="-342900" algn="just" rtl="0">
              <a:spcBef>
                <a:spcPts val="1000"/>
              </a:spcBef>
              <a:spcAft>
                <a:spcPts val="0"/>
              </a:spcAft>
              <a:buSzPts val="1440"/>
              <a:buFont typeface="Noto Sans Symbols"/>
              <a:buChar char="⮚"/>
            </a:pPr>
            <a:r>
              <a:rPr lang="en-US" dirty="0">
                <a:latin typeface="Franklin Gothic"/>
                <a:ea typeface="Franklin Gothic"/>
                <a:cs typeface="Franklin Gothic"/>
                <a:sym typeface="Franklin Gothic"/>
              </a:rPr>
              <a:t>It was one of the aim of the demand for Pakistan that Muslims of India would enjoys enough chances to earn for his necessities of life. </a:t>
            </a:r>
            <a:endParaRPr dirty="0">
              <a:latin typeface="Franklin Gothic"/>
              <a:ea typeface="Franklin Gothic"/>
              <a:cs typeface="Franklin Gothic"/>
              <a:sym typeface="Frankli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9"/>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Allama Iqbal and ideology of Pakistan </a:t>
            </a:r>
            <a:endParaRPr b="1"/>
          </a:p>
        </p:txBody>
      </p:sp>
      <p:sp>
        <p:nvSpPr>
          <p:cNvPr id="368" name="Google Shape;368;p39"/>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SzPct val="79999"/>
              <a:buNone/>
            </a:pPr>
            <a:r>
              <a:rPr lang="en-US"/>
              <a:t>Allama Iqbal never used the word Pakistan in his speeches but in all his speeches he demanded a separate home land for the Muslims of the subcontinent. </a:t>
            </a:r>
            <a:endParaRPr/>
          </a:p>
          <a:p>
            <a:pPr marL="0" lvl="0" indent="0" algn="ctr" rtl="0">
              <a:spcBef>
                <a:spcPts val="1000"/>
              </a:spcBef>
              <a:spcAft>
                <a:spcPts val="0"/>
              </a:spcAft>
              <a:buSzPct val="80000"/>
              <a:buNone/>
            </a:pPr>
            <a:r>
              <a:rPr lang="en-US" sz="2400" b="1" i="1"/>
              <a:t>Islam is the name of some beliefs and customs but it is a complete code of life . In Europe, religion is everyone's  personal matter which divide the human oneness into two opposite parts that is body and soul . In contrast to that in Islam , God Universe, soul, matter, state and religious place are bound to each other or in words Muslims are one nation.</a:t>
            </a:r>
            <a:endParaRPr sz="2400" b="1" i="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0"/>
          <p:cNvSpPr txBox="1">
            <a:spLocks noGrp="1"/>
          </p:cNvSpPr>
          <p:nvPr>
            <p:ph type="title"/>
          </p:nvPr>
        </p:nvSpPr>
        <p:spPr>
          <a:xfrm>
            <a:off x="1154954" y="973668"/>
            <a:ext cx="8761413" cy="70696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2"/>
              </a:buClr>
              <a:buSzPts val="3600"/>
              <a:buFont typeface="Century Gothic"/>
              <a:buNone/>
            </a:pPr>
            <a:r>
              <a:rPr lang="en-US" b="1"/>
              <a:t>Quaid e Azam and ideology of Pakistan </a:t>
            </a:r>
            <a:endParaRPr b="1"/>
          </a:p>
        </p:txBody>
      </p:sp>
      <p:sp>
        <p:nvSpPr>
          <p:cNvPr id="374" name="Google Shape;374;p40"/>
          <p:cNvSpPr txBox="1">
            <a:spLocks noGrp="1"/>
          </p:cNvSpPr>
          <p:nvPr>
            <p:ph type="body" idx="1"/>
          </p:nvPr>
        </p:nvSpPr>
        <p:spPr>
          <a:xfrm>
            <a:off x="1154954" y="2603500"/>
            <a:ext cx="8825659" cy="34163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440"/>
              <a:buNone/>
            </a:pPr>
            <a:r>
              <a:rPr lang="en-US" dirty="0">
                <a:latin typeface="Franklin Gothic"/>
                <a:ea typeface="Franklin Gothic"/>
                <a:cs typeface="Franklin Gothic"/>
                <a:sym typeface="Franklin Gothic"/>
              </a:rPr>
              <a:t>The sayings and addresses of Quaid e Azam which he delivered on different occasions clearly reflects the ideology of Pakistan.</a:t>
            </a:r>
            <a:endParaRPr dirty="0"/>
          </a:p>
          <a:p>
            <a:pPr marL="342900" lvl="0" indent="-342900" algn="just" rtl="0">
              <a:spcBef>
                <a:spcPts val="1000"/>
              </a:spcBef>
              <a:spcAft>
                <a:spcPts val="0"/>
              </a:spcAft>
              <a:buSzPts val="1440"/>
              <a:buChar char="►"/>
            </a:pPr>
            <a:r>
              <a:rPr lang="en-US" dirty="0">
                <a:latin typeface="Franklin Gothic"/>
                <a:ea typeface="Franklin Gothic"/>
                <a:cs typeface="Franklin Gothic"/>
                <a:sym typeface="Franklin Gothic"/>
              </a:rPr>
              <a:t>In reality we had learnt democracy 1300 years ago, so when you talks about democracy , I doubt that you have not studied Islam.</a:t>
            </a:r>
            <a:endParaRPr dirty="0"/>
          </a:p>
          <a:p>
            <a:pPr marL="342900" lvl="0" indent="-342900" algn="just" rtl="0">
              <a:spcBef>
                <a:spcPts val="1000"/>
              </a:spcBef>
              <a:spcAft>
                <a:spcPts val="0"/>
              </a:spcAft>
              <a:buSzPts val="1440"/>
              <a:buChar char="►"/>
            </a:pPr>
            <a:r>
              <a:rPr lang="en-US" dirty="0">
                <a:latin typeface="Franklin Gothic"/>
                <a:ea typeface="Franklin Gothic"/>
                <a:cs typeface="Franklin Gothic"/>
                <a:sym typeface="Franklin Gothic"/>
              </a:rPr>
              <a:t>You do not talk in terms of Bengali, Sindhi, Balochi or Pathan rather you remember the </a:t>
            </a:r>
            <a:r>
              <a:rPr lang="en-US" dirty="0" err="1">
                <a:latin typeface="Franklin Gothic"/>
                <a:ea typeface="Franklin Gothic"/>
                <a:cs typeface="Franklin Gothic"/>
                <a:sym typeface="Franklin Gothic"/>
              </a:rPr>
              <a:t>lession</a:t>
            </a:r>
            <a:r>
              <a:rPr lang="en-US" dirty="0">
                <a:latin typeface="Franklin Gothic"/>
                <a:ea typeface="Franklin Gothic"/>
                <a:cs typeface="Franklin Gothic"/>
                <a:sym typeface="Franklin Gothic"/>
              </a:rPr>
              <a:t> of 1300 years ago that we are not Sindhi, Balochi or Pathan but we are Muslims and only Muslims</a:t>
            </a:r>
            <a:r>
              <a:rPr lang="en-US" dirty="0"/>
              <a:t>.</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1"/>
          <p:cNvSpPr txBox="1">
            <a:spLocks noGrp="1"/>
          </p:cNvSpPr>
          <p:nvPr>
            <p:ph type="body" idx="1"/>
          </p:nvPr>
        </p:nvSpPr>
        <p:spPr>
          <a:xfrm>
            <a:off x="838200" y="391886"/>
            <a:ext cx="10515600" cy="5785077"/>
          </a:xfrm>
          <a:prstGeom prst="rect">
            <a:avLst/>
          </a:prstGeom>
          <a:noFill/>
          <a:ln>
            <a:noFill/>
          </a:ln>
        </p:spPr>
        <p:txBody>
          <a:bodyPr spcFirstLastPara="1" wrap="square" lIns="91425" tIns="45700" rIns="91425" bIns="45700" anchor="t" anchorCtr="0">
            <a:normAutofit/>
          </a:bodyPr>
          <a:lstStyle/>
          <a:p>
            <a:pPr marL="342900" lvl="0" indent="-251459" algn="just" rtl="0">
              <a:spcBef>
                <a:spcPts val="0"/>
              </a:spcBef>
              <a:spcAft>
                <a:spcPts val="0"/>
              </a:spcAft>
              <a:buSzPts val="1440"/>
              <a:buNone/>
            </a:pPr>
            <a:endParaRPr/>
          </a:p>
          <a:p>
            <a:pPr marL="342900" lvl="0" indent="-251459" algn="just" rtl="0">
              <a:spcBef>
                <a:spcPts val="1000"/>
              </a:spcBef>
              <a:spcAft>
                <a:spcPts val="0"/>
              </a:spcAft>
              <a:buSzPts val="1440"/>
              <a:buNone/>
            </a:pPr>
            <a:endParaRPr/>
          </a:p>
          <a:p>
            <a:pPr marL="342900" lvl="0" indent="-251459" algn="just" rtl="0">
              <a:spcBef>
                <a:spcPts val="1000"/>
              </a:spcBef>
              <a:spcAft>
                <a:spcPts val="0"/>
              </a:spcAft>
              <a:buSzPts val="1440"/>
              <a:buNone/>
            </a:pPr>
            <a:endParaRPr/>
          </a:p>
          <a:p>
            <a:pPr marL="342900" lvl="0" indent="-251459" algn="just" rtl="0">
              <a:spcBef>
                <a:spcPts val="1000"/>
              </a:spcBef>
              <a:spcAft>
                <a:spcPts val="0"/>
              </a:spcAft>
              <a:buSzPts val="1440"/>
              <a:buNone/>
            </a:pPr>
            <a:endParaRPr/>
          </a:p>
          <a:p>
            <a:pPr marL="342900" lvl="0" indent="-251459" algn="just" rtl="0">
              <a:spcBef>
                <a:spcPts val="1000"/>
              </a:spcBef>
              <a:spcAft>
                <a:spcPts val="0"/>
              </a:spcAft>
              <a:buSzPts val="1440"/>
              <a:buNone/>
            </a:pPr>
            <a:endParaRPr/>
          </a:p>
          <a:p>
            <a:pPr marL="342900" lvl="0" indent="-342900" algn="just" rtl="0">
              <a:spcBef>
                <a:spcPts val="1000"/>
              </a:spcBef>
              <a:spcAft>
                <a:spcPts val="0"/>
              </a:spcAft>
              <a:buSzPts val="1440"/>
              <a:buChar char="►"/>
            </a:pPr>
            <a:r>
              <a:rPr lang="en-US">
                <a:latin typeface="Franklin Gothic"/>
                <a:ea typeface="Franklin Gothic"/>
                <a:cs typeface="Franklin Gothic"/>
                <a:sym typeface="Franklin Gothic"/>
              </a:rPr>
              <a:t>What is the relationship with which all the Muslims are just one Body? What is rock on which their building of nationhood is situated? What is the anchor which their boats has been saved. Their relationship, that rock and that anchor is the book of Allah; Holy QURAN in which their secret of progress, unity and salvation.</a:t>
            </a:r>
            <a:endParaRPr/>
          </a:p>
          <a:p>
            <a:pPr marL="342900" lvl="0" indent="-342900" algn="just" rtl="0">
              <a:spcBef>
                <a:spcPts val="1000"/>
              </a:spcBef>
              <a:spcAft>
                <a:spcPts val="0"/>
              </a:spcAft>
              <a:buSzPts val="1440"/>
              <a:buChar char="►"/>
            </a:pPr>
            <a:r>
              <a:rPr lang="en-US">
                <a:latin typeface="Franklin Gothic"/>
                <a:ea typeface="Franklin Gothic"/>
                <a:cs typeface="Franklin Gothic"/>
                <a:sym typeface="Franklin Gothic"/>
              </a:rPr>
              <a:t>Islam is our guide and complete code of life. We neither need any red or yellow flag nor we need any Socialism, Communism, Nationalism, or any other ism.</a:t>
            </a:r>
            <a:endParaRPr/>
          </a:p>
          <a:p>
            <a:pPr marL="342900" lvl="0" indent="-342900" algn="just" rtl="0">
              <a:spcBef>
                <a:spcPts val="1000"/>
              </a:spcBef>
              <a:spcAft>
                <a:spcPts val="0"/>
              </a:spcAft>
              <a:buSzPts val="1440"/>
              <a:buChar char="►"/>
            </a:pPr>
            <a:r>
              <a:rPr lang="en-US">
                <a:latin typeface="Franklin Gothic"/>
                <a:ea typeface="Franklin Gothic"/>
                <a:cs typeface="Franklin Gothic"/>
                <a:sym typeface="Franklin Gothic"/>
              </a:rPr>
              <a:t>Our aim is the creation of such a state which  flourish in the light of our civilization and where Islamic ideologies of social justice can completely boom.</a:t>
            </a:r>
            <a:endParaRPr/>
          </a:p>
          <a:p>
            <a:pPr marL="342900" lvl="0" indent="-251459" algn="just" rtl="0">
              <a:spcBef>
                <a:spcPts val="1000"/>
              </a:spcBef>
              <a:spcAft>
                <a:spcPts val="0"/>
              </a:spcAft>
              <a:buSzPts val="1440"/>
              <a:buNone/>
            </a:pPr>
            <a:endParaRPr/>
          </a:p>
          <a:p>
            <a:pPr marL="514350" lvl="0" indent="-422910" algn="just" rtl="0">
              <a:spcBef>
                <a:spcPts val="1000"/>
              </a:spcBef>
              <a:spcAft>
                <a:spcPts val="0"/>
              </a:spcAft>
              <a:buSzPts val="1440"/>
              <a:buFont typeface="Century Gothic"/>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2"/>
          <p:cNvSpPr txBox="1">
            <a:spLocks noGrp="1"/>
          </p:cNvSpPr>
          <p:nvPr>
            <p:ph type="body" idx="1"/>
          </p:nvPr>
        </p:nvSpPr>
        <p:spPr>
          <a:xfrm>
            <a:off x="885702" y="507463"/>
            <a:ext cx="10515600" cy="5311445"/>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342900" algn="l" rtl="0">
              <a:spcBef>
                <a:spcPts val="1000"/>
              </a:spcBef>
              <a:spcAft>
                <a:spcPts val="0"/>
              </a:spcAft>
              <a:buSzPts val="1440"/>
              <a:buChar char="►"/>
            </a:pPr>
            <a:r>
              <a:rPr lang="en-US">
                <a:latin typeface="Franklin Gothic"/>
                <a:ea typeface="Franklin Gothic"/>
                <a:cs typeface="Franklin Gothic"/>
                <a:sym typeface="Franklin Gothic"/>
              </a:rPr>
              <a:t>We demanded Pakistan not for a piece of land but we wanted such a laboratory where Islamic principles could be tested.</a:t>
            </a:r>
            <a:endParaRPr/>
          </a:p>
          <a:p>
            <a:pPr marL="0" lvl="0" indent="0" algn="l" rtl="0">
              <a:spcBef>
                <a:spcPts val="1000"/>
              </a:spcBef>
              <a:spcAft>
                <a:spcPts val="0"/>
              </a:spcAft>
              <a:buSzPts val="1440"/>
              <a:buNone/>
            </a:pPr>
            <a:r>
              <a:rPr lang="en-US">
                <a:latin typeface="Franklin Gothic"/>
                <a:ea typeface="Franklin Gothic"/>
                <a:cs typeface="Franklin Gothic"/>
                <a:sym typeface="Franklin Gothic"/>
              </a:rPr>
              <a:t>			From the sayings of Quaid E Azam it becomes quite obvious that the ideological system of Islam the ideology of Pakistan. And with the grace of God, He succeeded and got a separate homeland on </a:t>
            </a:r>
            <a:r>
              <a:rPr lang="en-US" b="1" i="1" u="sng">
                <a:latin typeface="Franklin Gothic"/>
                <a:ea typeface="Franklin Gothic"/>
                <a:cs typeface="Franklin Gothic"/>
                <a:sym typeface="Franklin Gothic"/>
              </a:rPr>
              <a:t>AUGUST 14, 1947 in the shape of Pakistan . </a:t>
            </a:r>
            <a:endParaRPr b="1" i="1" u="sng">
              <a:latin typeface="Franklin Gothic"/>
              <a:ea typeface="Franklin Gothic"/>
              <a:cs typeface="Franklin Gothic"/>
              <a:sym typeface="Frankli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3"/>
          <p:cNvSpPr txBox="1">
            <a:spLocks noGrp="1"/>
          </p:cNvSpPr>
          <p:nvPr>
            <p:ph type="body" idx="1"/>
          </p:nvPr>
        </p:nvSpPr>
        <p:spPr>
          <a:xfrm>
            <a:off x="541317" y="305584"/>
            <a:ext cx="10515600" cy="5786458"/>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a:p>
            <a:pPr marL="0" lvl="0" indent="0" algn="just" rtl="0">
              <a:spcBef>
                <a:spcPts val="1000"/>
              </a:spcBef>
              <a:spcAft>
                <a:spcPts val="0"/>
              </a:spcAft>
              <a:buSzPts val="1440"/>
              <a:buNone/>
            </a:pPr>
            <a:r>
              <a:rPr lang="en-US"/>
              <a:t>		</a:t>
            </a:r>
            <a:endParaRPr/>
          </a:p>
          <a:p>
            <a:pPr marL="0" lvl="0" indent="0" algn="just" rtl="0">
              <a:spcBef>
                <a:spcPts val="1000"/>
              </a:spcBef>
              <a:spcAft>
                <a:spcPts val="0"/>
              </a:spcAft>
              <a:buSzPts val="1440"/>
              <a:buNone/>
            </a:pPr>
            <a:endParaRPr/>
          </a:p>
          <a:p>
            <a:pPr marL="0" lvl="0" indent="0" algn="just" rtl="0">
              <a:spcBef>
                <a:spcPts val="1000"/>
              </a:spcBef>
              <a:spcAft>
                <a:spcPts val="0"/>
              </a:spcAft>
              <a:buSzPts val="1440"/>
              <a:buNone/>
            </a:pPr>
            <a:r>
              <a:rPr lang="en-US"/>
              <a:t>		</a:t>
            </a:r>
            <a:r>
              <a:rPr lang="en-US">
                <a:latin typeface="Franklin Gothic"/>
                <a:ea typeface="Franklin Gothic"/>
                <a:cs typeface="Franklin Gothic"/>
                <a:sym typeface="Franklin Gothic"/>
              </a:rPr>
              <a:t>In short it is clear hat ideology is the name of future planning . This Is such a reality which has the basic place in every man’s life . No nation can progress without aim. This is the reason that Allah has made man superior being and has given him an ideology which is called </a:t>
            </a:r>
            <a:r>
              <a:rPr lang="en-US" sz="2400" b="1">
                <a:latin typeface="Franklin Gothic"/>
                <a:ea typeface="Franklin Gothic"/>
                <a:cs typeface="Franklin Gothic"/>
                <a:sym typeface="Franklin Gothic"/>
              </a:rPr>
              <a:t>ISLAMIC IDEOLOGY</a:t>
            </a:r>
            <a:r>
              <a:rPr lang="en-US" sz="2400" b="1"/>
              <a:t>.</a:t>
            </a:r>
            <a:endParaRPr sz="2400" b="1"/>
          </a:p>
        </p:txBody>
      </p:sp>
    </p:spTree>
  </p:cSld>
  <p:clrMapOvr>
    <a:masterClrMapping/>
  </p:clrMapOvr>
</p:sld>
</file>

<file path=ppt/theme/theme1.xml><?xml version="1.0" encoding="utf-8"?>
<a:theme xmlns:a="http://schemas.openxmlformats.org/drawingml/2006/main"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1747</Words>
  <Application>Microsoft Office PowerPoint</Application>
  <PresentationFormat>Widescreen</PresentationFormat>
  <Paragraphs>103</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Century Gothic</vt:lpstr>
      <vt:lpstr>Wingdings</vt:lpstr>
      <vt:lpstr>Noto Sans Symbols</vt:lpstr>
      <vt:lpstr>Arial Black</vt:lpstr>
      <vt:lpstr>Arial</vt:lpstr>
      <vt:lpstr>Franklin Gothic</vt:lpstr>
      <vt:lpstr>Ion Boardroom</vt:lpstr>
      <vt:lpstr>Ideology of Pakistan</vt:lpstr>
      <vt:lpstr>Ideology</vt:lpstr>
      <vt:lpstr>Importance of Ideology</vt:lpstr>
      <vt:lpstr>An over view from coming of Islam to creation of Pakistan.</vt:lpstr>
      <vt:lpstr>Formation of Islamic Government</vt:lpstr>
      <vt:lpstr>Different stages of Islamic Government </vt:lpstr>
      <vt:lpstr>PowerPoint Presentation</vt:lpstr>
      <vt:lpstr>Mughal Era (1526-1707)</vt:lpstr>
      <vt:lpstr>Downfall of Muslim Government</vt:lpstr>
      <vt:lpstr>PowerPoint Presentation</vt:lpstr>
      <vt:lpstr>Human Ideology</vt:lpstr>
      <vt:lpstr>Metaphysical Ideology</vt:lpstr>
      <vt:lpstr>Objectives of the Establishment of a separate homeland for Muslims (Pakistan)</vt:lpstr>
      <vt:lpstr> Enforcement of the Sovereignty of the Allah Almighty:</vt:lpstr>
      <vt:lpstr>Establishment of Islamic Democracy:</vt:lpstr>
      <vt:lpstr> Revival of Muslim Identity:</vt:lpstr>
      <vt:lpstr> Protection of Muslim Culture</vt:lpstr>
      <vt:lpstr> Two-Nation Theory: </vt:lpstr>
      <vt:lpstr>liberation from the bias Hindu majority:</vt:lpstr>
      <vt:lpstr> Establishment of a Balanced Economic System:</vt:lpstr>
      <vt:lpstr>Allama Iqbal and ideology of Pakistan </vt:lpstr>
      <vt:lpstr>Quaid e Azam and ideology of Pakistan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Ideology of Pakistan</dc:title>
  <cp:lastModifiedBy>saira saeed</cp:lastModifiedBy>
  <cp:revision>4</cp:revision>
  <dcterms:modified xsi:type="dcterms:W3CDTF">2025-02-19T19:21:37Z</dcterms:modified>
</cp:coreProperties>
</file>