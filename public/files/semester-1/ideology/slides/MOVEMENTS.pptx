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6" r:id="rId10"/>
    <p:sldId id="264" r:id="rId11"/>
    <p:sldId id="265"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varScale="1">
        <p:scale>
          <a:sx n="81" d="100"/>
          <a:sy n="81" d="100"/>
        </p:scale>
        <p:origin x="29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6F547-C9B6-444E-BF03-02F0DC517B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B33FD70-8FCF-909D-FEBC-16E6AB4178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C28A8B-9344-71B8-1E85-1C2EA78FD3FF}"/>
              </a:ext>
            </a:extLst>
          </p:cNvPr>
          <p:cNvSpPr>
            <a:spLocks noGrp="1"/>
          </p:cNvSpPr>
          <p:nvPr>
            <p:ph type="dt" sz="half" idx="10"/>
          </p:nvPr>
        </p:nvSpPr>
        <p:spPr/>
        <p:txBody>
          <a:bodyPr/>
          <a:lstStyle/>
          <a:p>
            <a:fld id="{251E5D71-6F23-40F6-88B9-8025A53BB3A1}" type="datetimeFigureOut">
              <a:rPr lang="en-US" smtClean="0"/>
              <a:t>3/14/2024</a:t>
            </a:fld>
            <a:endParaRPr lang="en-US"/>
          </a:p>
        </p:txBody>
      </p:sp>
      <p:sp>
        <p:nvSpPr>
          <p:cNvPr id="5" name="Footer Placeholder 4">
            <a:extLst>
              <a:ext uri="{FF2B5EF4-FFF2-40B4-BE49-F238E27FC236}">
                <a16:creationId xmlns:a16="http://schemas.microsoft.com/office/drawing/2014/main" id="{C96E9EF8-58C0-CA15-2C6F-73C1D28898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C8BF39-8D4E-CFB6-247D-01C25C03F2F6}"/>
              </a:ext>
            </a:extLst>
          </p:cNvPr>
          <p:cNvSpPr>
            <a:spLocks noGrp="1"/>
          </p:cNvSpPr>
          <p:nvPr>
            <p:ph type="sldNum" sz="quarter" idx="12"/>
          </p:nvPr>
        </p:nvSpPr>
        <p:spPr/>
        <p:txBody>
          <a:bodyPr/>
          <a:lstStyle/>
          <a:p>
            <a:fld id="{45DE8B0E-5F9E-431A-B860-39664915FD13}" type="slidenum">
              <a:rPr lang="en-US" smtClean="0"/>
              <a:t>‹#›</a:t>
            </a:fld>
            <a:endParaRPr lang="en-US"/>
          </a:p>
        </p:txBody>
      </p:sp>
    </p:spTree>
    <p:extLst>
      <p:ext uri="{BB962C8B-B14F-4D97-AF65-F5344CB8AC3E}">
        <p14:creationId xmlns:p14="http://schemas.microsoft.com/office/powerpoint/2010/main" val="3370556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07B24-328A-7EC7-D82C-30CBED872A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4BAAB9-2B2E-9D66-F776-9DC877B72A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2B6CAC-BD53-63AF-E292-F162C0571161}"/>
              </a:ext>
            </a:extLst>
          </p:cNvPr>
          <p:cNvSpPr>
            <a:spLocks noGrp="1"/>
          </p:cNvSpPr>
          <p:nvPr>
            <p:ph type="dt" sz="half" idx="10"/>
          </p:nvPr>
        </p:nvSpPr>
        <p:spPr/>
        <p:txBody>
          <a:bodyPr/>
          <a:lstStyle/>
          <a:p>
            <a:fld id="{251E5D71-6F23-40F6-88B9-8025A53BB3A1}" type="datetimeFigureOut">
              <a:rPr lang="en-US" smtClean="0"/>
              <a:t>3/14/2024</a:t>
            </a:fld>
            <a:endParaRPr lang="en-US"/>
          </a:p>
        </p:txBody>
      </p:sp>
      <p:sp>
        <p:nvSpPr>
          <p:cNvPr id="5" name="Footer Placeholder 4">
            <a:extLst>
              <a:ext uri="{FF2B5EF4-FFF2-40B4-BE49-F238E27FC236}">
                <a16:creationId xmlns:a16="http://schemas.microsoft.com/office/drawing/2014/main" id="{5DF1A332-866D-0604-F34B-340D6EE0E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D66A43-1090-F450-0BE2-8D676A67D9DB}"/>
              </a:ext>
            </a:extLst>
          </p:cNvPr>
          <p:cNvSpPr>
            <a:spLocks noGrp="1"/>
          </p:cNvSpPr>
          <p:nvPr>
            <p:ph type="sldNum" sz="quarter" idx="12"/>
          </p:nvPr>
        </p:nvSpPr>
        <p:spPr/>
        <p:txBody>
          <a:bodyPr/>
          <a:lstStyle/>
          <a:p>
            <a:fld id="{45DE8B0E-5F9E-431A-B860-39664915FD13}" type="slidenum">
              <a:rPr lang="en-US" smtClean="0"/>
              <a:t>‹#›</a:t>
            </a:fld>
            <a:endParaRPr lang="en-US"/>
          </a:p>
        </p:txBody>
      </p:sp>
    </p:spTree>
    <p:extLst>
      <p:ext uri="{BB962C8B-B14F-4D97-AF65-F5344CB8AC3E}">
        <p14:creationId xmlns:p14="http://schemas.microsoft.com/office/powerpoint/2010/main" val="549861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B55F3-BADB-AB74-274C-1CEFFACF38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7D48C5-77CF-306F-7794-B83D712841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0C9AE5-21E5-3272-E921-2655AA34CE24}"/>
              </a:ext>
            </a:extLst>
          </p:cNvPr>
          <p:cNvSpPr>
            <a:spLocks noGrp="1"/>
          </p:cNvSpPr>
          <p:nvPr>
            <p:ph type="dt" sz="half" idx="10"/>
          </p:nvPr>
        </p:nvSpPr>
        <p:spPr/>
        <p:txBody>
          <a:bodyPr/>
          <a:lstStyle/>
          <a:p>
            <a:fld id="{251E5D71-6F23-40F6-88B9-8025A53BB3A1}" type="datetimeFigureOut">
              <a:rPr lang="en-US" smtClean="0"/>
              <a:t>3/14/2024</a:t>
            </a:fld>
            <a:endParaRPr lang="en-US"/>
          </a:p>
        </p:txBody>
      </p:sp>
      <p:sp>
        <p:nvSpPr>
          <p:cNvPr id="5" name="Footer Placeholder 4">
            <a:extLst>
              <a:ext uri="{FF2B5EF4-FFF2-40B4-BE49-F238E27FC236}">
                <a16:creationId xmlns:a16="http://schemas.microsoft.com/office/drawing/2014/main" id="{D6ACBDEF-F8AB-0879-9232-48C2AC611B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667CC-FD0F-0C52-9674-160EF33962DE}"/>
              </a:ext>
            </a:extLst>
          </p:cNvPr>
          <p:cNvSpPr>
            <a:spLocks noGrp="1"/>
          </p:cNvSpPr>
          <p:nvPr>
            <p:ph type="sldNum" sz="quarter" idx="12"/>
          </p:nvPr>
        </p:nvSpPr>
        <p:spPr/>
        <p:txBody>
          <a:bodyPr/>
          <a:lstStyle/>
          <a:p>
            <a:fld id="{45DE8B0E-5F9E-431A-B860-39664915FD13}" type="slidenum">
              <a:rPr lang="en-US" smtClean="0"/>
              <a:t>‹#›</a:t>
            </a:fld>
            <a:endParaRPr lang="en-US"/>
          </a:p>
        </p:txBody>
      </p:sp>
    </p:spTree>
    <p:extLst>
      <p:ext uri="{BB962C8B-B14F-4D97-AF65-F5344CB8AC3E}">
        <p14:creationId xmlns:p14="http://schemas.microsoft.com/office/powerpoint/2010/main" val="1861131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9B77F-0C5D-7475-4877-38228C2523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DE981A-416A-79CB-A053-73218C4448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2E61458-2305-AF95-FFEB-2D07933CB7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22855E-1723-0D37-4D08-E047E6F9F6DA}"/>
              </a:ext>
            </a:extLst>
          </p:cNvPr>
          <p:cNvSpPr>
            <a:spLocks noGrp="1"/>
          </p:cNvSpPr>
          <p:nvPr>
            <p:ph type="dt" sz="half" idx="10"/>
          </p:nvPr>
        </p:nvSpPr>
        <p:spPr/>
        <p:txBody>
          <a:bodyPr/>
          <a:lstStyle/>
          <a:p>
            <a:fld id="{251E5D71-6F23-40F6-88B9-8025A53BB3A1}" type="datetimeFigureOut">
              <a:rPr lang="en-US" smtClean="0"/>
              <a:t>3/14/2024</a:t>
            </a:fld>
            <a:endParaRPr lang="en-US"/>
          </a:p>
        </p:txBody>
      </p:sp>
      <p:sp>
        <p:nvSpPr>
          <p:cNvPr id="6" name="Footer Placeholder 5">
            <a:extLst>
              <a:ext uri="{FF2B5EF4-FFF2-40B4-BE49-F238E27FC236}">
                <a16:creationId xmlns:a16="http://schemas.microsoft.com/office/drawing/2014/main" id="{3BCA1416-34AE-74A8-F9F1-D9FB32C52D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4ABB41-6D0F-4101-14F4-4832D062A911}"/>
              </a:ext>
            </a:extLst>
          </p:cNvPr>
          <p:cNvSpPr>
            <a:spLocks noGrp="1"/>
          </p:cNvSpPr>
          <p:nvPr>
            <p:ph type="sldNum" sz="quarter" idx="12"/>
          </p:nvPr>
        </p:nvSpPr>
        <p:spPr/>
        <p:txBody>
          <a:bodyPr/>
          <a:lstStyle/>
          <a:p>
            <a:fld id="{45DE8B0E-5F9E-431A-B860-39664915FD13}" type="slidenum">
              <a:rPr lang="en-US" smtClean="0"/>
              <a:t>‹#›</a:t>
            </a:fld>
            <a:endParaRPr lang="en-US"/>
          </a:p>
        </p:txBody>
      </p:sp>
    </p:spTree>
    <p:extLst>
      <p:ext uri="{BB962C8B-B14F-4D97-AF65-F5344CB8AC3E}">
        <p14:creationId xmlns:p14="http://schemas.microsoft.com/office/powerpoint/2010/main" val="1861541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E9B92-E2C1-0CBF-2217-92151141A4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5870129-6A74-F714-547D-B66DE1B62A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33FB60-AA77-54F0-DFDD-693587840D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E6FE11-9E57-D2F3-F0FF-A3BE226627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99BB4A-C8D5-AE72-2489-08547F9FF0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69F24E-8F69-214E-729F-F65913EB0F82}"/>
              </a:ext>
            </a:extLst>
          </p:cNvPr>
          <p:cNvSpPr>
            <a:spLocks noGrp="1"/>
          </p:cNvSpPr>
          <p:nvPr>
            <p:ph type="dt" sz="half" idx="10"/>
          </p:nvPr>
        </p:nvSpPr>
        <p:spPr/>
        <p:txBody>
          <a:bodyPr/>
          <a:lstStyle/>
          <a:p>
            <a:fld id="{251E5D71-6F23-40F6-88B9-8025A53BB3A1}" type="datetimeFigureOut">
              <a:rPr lang="en-US" smtClean="0"/>
              <a:t>3/14/2024</a:t>
            </a:fld>
            <a:endParaRPr lang="en-US"/>
          </a:p>
        </p:txBody>
      </p:sp>
      <p:sp>
        <p:nvSpPr>
          <p:cNvPr id="8" name="Footer Placeholder 7">
            <a:extLst>
              <a:ext uri="{FF2B5EF4-FFF2-40B4-BE49-F238E27FC236}">
                <a16:creationId xmlns:a16="http://schemas.microsoft.com/office/drawing/2014/main" id="{36665C33-952E-42FB-C9D0-F2A38619C9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3FE844-068E-0B01-5428-6F091B915982}"/>
              </a:ext>
            </a:extLst>
          </p:cNvPr>
          <p:cNvSpPr>
            <a:spLocks noGrp="1"/>
          </p:cNvSpPr>
          <p:nvPr>
            <p:ph type="sldNum" sz="quarter" idx="12"/>
          </p:nvPr>
        </p:nvSpPr>
        <p:spPr/>
        <p:txBody>
          <a:bodyPr/>
          <a:lstStyle/>
          <a:p>
            <a:fld id="{45DE8B0E-5F9E-431A-B860-39664915FD13}" type="slidenum">
              <a:rPr lang="en-US" smtClean="0"/>
              <a:t>‹#›</a:t>
            </a:fld>
            <a:endParaRPr lang="en-US"/>
          </a:p>
        </p:txBody>
      </p:sp>
    </p:spTree>
    <p:extLst>
      <p:ext uri="{BB962C8B-B14F-4D97-AF65-F5344CB8AC3E}">
        <p14:creationId xmlns:p14="http://schemas.microsoft.com/office/powerpoint/2010/main" val="1521929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B95DC-9599-CECB-8F1A-7C284D99B0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5F0D09-E348-65D3-4E87-47668780D2F5}"/>
              </a:ext>
            </a:extLst>
          </p:cNvPr>
          <p:cNvSpPr>
            <a:spLocks noGrp="1"/>
          </p:cNvSpPr>
          <p:nvPr>
            <p:ph type="dt" sz="half" idx="10"/>
          </p:nvPr>
        </p:nvSpPr>
        <p:spPr/>
        <p:txBody>
          <a:bodyPr/>
          <a:lstStyle/>
          <a:p>
            <a:fld id="{251E5D71-6F23-40F6-88B9-8025A53BB3A1}" type="datetimeFigureOut">
              <a:rPr lang="en-US" smtClean="0"/>
              <a:t>3/14/2024</a:t>
            </a:fld>
            <a:endParaRPr lang="en-US"/>
          </a:p>
        </p:txBody>
      </p:sp>
      <p:sp>
        <p:nvSpPr>
          <p:cNvPr id="4" name="Footer Placeholder 3">
            <a:extLst>
              <a:ext uri="{FF2B5EF4-FFF2-40B4-BE49-F238E27FC236}">
                <a16:creationId xmlns:a16="http://schemas.microsoft.com/office/drawing/2014/main" id="{2B7BAFA0-6F28-5DCE-F4B5-8D35E5D631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011A7AF-1FB1-FA44-8EA7-941320F5AA11}"/>
              </a:ext>
            </a:extLst>
          </p:cNvPr>
          <p:cNvSpPr>
            <a:spLocks noGrp="1"/>
          </p:cNvSpPr>
          <p:nvPr>
            <p:ph type="sldNum" sz="quarter" idx="12"/>
          </p:nvPr>
        </p:nvSpPr>
        <p:spPr/>
        <p:txBody>
          <a:bodyPr/>
          <a:lstStyle/>
          <a:p>
            <a:fld id="{45DE8B0E-5F9E-431A-B860-39664915FD13}" type="slidenum">
              <a:rPr lang="en-US" smtClean="0"/>
              <a:t>‹#›</a:t>
            </a:fld>
            <a:endParaRPr lang="en-US"/>
          </a:p>
        </p:txBody>
      </p:sp>
    </p:spTree>
    <p:extLst>
      <p:ext uri="{BB962C8B-B14F-4D97-AF65-F5344CB8AC3E}">
        <p14:creationId xmlns:p14="http://schemas.microsoft.com/office/powerpoint/2010/main" val="2533266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EBF5B9-43B1-4F60-FC1A-8F581DC25F8E}"/>
              </a:ext>
            </a:extLst>
          </p:cNvPr>
          <p:cNvSpPr>
            <a:spLocks noGrp="1"/>
          </p:cNvSpPr>
          <p:nvPr>
            <p:ph type="dt" sz="half" idx="10"/>
          </p:nvPr>
        </p:nvSpPr>
        <p:spPr/>
        <p:txBody>
          <a:bodyPr/>
          <a:lstStyle/>
          <a:p>
            <a:fld id="{251E5D71-6F23-40F6-88B9-8025A53BB3A1}" type="datetimeFigureOut">
              <a:rPr lang="en-US" smtClean="0"/>
              <a:t>3/14/2024</a:t>
            </a:fld>
            <a:endParaRPr lang="en-US"/>
          </a:p>
        </p:txBody>
      </p:sp>
      <p:sp>
        <p:nvSpPr>
          <p:cNvPr id="3" name="Footer Placeholder 2">
            <a:extLst>
              <a:ext uri="{FF2B5EF4-FFF2-40B4-BE49-F238E27FC236}">
                <a16:creationId xmlns:a16="http://schemas.microsoft.com/office/drawing/2014/main" id="{6F064C1F-F9B5-27AF-82EC-9A27E3D637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626662-6008-E01B-8988-CD8B523882DB}"/>
              </a:ext>
            </a:extLst>
          </p:cNvPr>
          <p:cNvSpPr>
            <a:spLocks noGrp="1"/>
          </p:cNvSpPr>
          <p:nvPr>
            <p:ph type="sldNum" sz="quarter" idx="12"/>
          </p:nvPr>
        </p:nvSpPr>
        <p:spPr/>
        <p:txBody>
          <a:bodyPr/>
          <a:lstStyle/>
          <a:p>
            <a:fld id="{45DE8B0E-5F9E-431A-B860-39664915FD13}" type="slidenum">
              <a:rPr lang="en-US" smtClean="0"/>
              <a:t>‹#›</a:t>
            </a:fld>
            <a:endParaRPr lang="en-US"/>
          </a:p>
        </p:txBody>
      </p:sp>
    </p:spTree>
    <p:extLst>
      <p:ext uri="{BB962C8B-B14F-4D97-AF65-F5344CB8AC3E}">
        <p14:creationId xmlns:p14="http://schemas.microsoft.com/office/powerpoint/2010/main" val="3343745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7A83D-CA45-B38D-511D-E1F8D7C7D9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8640F12-A51C-76EA-336B-D21BD20EB6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EB1158-4267-8891-C390-A7C3F29280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3B7BCA-0BEE-F29B-BAA1-9D281609FB93}"/>
              </a:ext>
            </a:extLst>
          </p:cNvPr>
          <p:cNvSpPr>
            <a:spLocks noGrp="1"/>
          </p:cNvSpPr>
          <p:nvPr>
            <p:ph type="dt" sz="half" idx="10"/>
          </p:nvPr>
        </p:nvSpPr>
        <p:spPr/>
        <p:txBody>
          <a:bodyPr/>
          <a:lstStyle/>
          <a:p>
            <a:fld id="{251E5D71-6F23-40F6-88B9-8025A53BB3A1}" type="datetimeFigureOut">
              <a:rPr lang="en-US" smtClean="0"/>
              <a:t>3/14/2024</a:t>
            </a:fld>
            <a:endParaRPr lang="en-US"/>
          </a:p>
        </p:txBody>
      </p:sp>
      <p:sp>
        <p:nvSpPr>
          <p:cNvPr id="6" name="Footer Placeholder 5">
            <a:extLst>
              <a:ext uri="{FF2B5EF4-FFF2-40B4-BE49-F238E27FC236}">
                <a16:creationId xmlns:a16="http://schemas.microsoft.com/office/drawing/2014/main" id="{6AE03F76-9FD1-5C6C-FA99-9BCDDB9B51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15E54F-705C-7544-9EF0-062A161C5405}"/>
              </a:ext>
            </a:extLst>
          </p:cNvPr>
          <p:cNvSpPr>
            <a:spLocks noGrp="1"/>
          </p:cNvSpPr>
          <p:nvPr>
            <p:ph type="sldNum" sz="quarter" idx="12"/>
          </p:nvPr>
        </p:nvSpPr>
        <p:spPr/>
        <p:txBody>
          <a:bodyPr/>
          <a:lstStyle/>
          <a:p>
            <a:fld id="{45DE8B0E-5F9E-431A-B860-39664915FD13}" type="slidenum">
              <a:rPr lang="en-US" smtClean="0"/>
              <a:t>‹#›</a:t>
            </a:fld>
            <a:endParaRPr lang="en-US"/>
          </a:p>
        </p:txBody>
      </p:sp>
    </p:spTree>
    <p:extLst>
      <p:ext uri="{BB962C8B-B14F-4D97-AF65-F5344CB8AC3E}">
        <p14:creationId xmlns:p14="http://schemas.microsoft.com/office/powerpoint/2010/main" val="1440189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B6BA5-222F-7A11-78E4-38EA21BC27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7E663D-C33F-207F-3182-ADF6780259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27FB808-3BB7-5167-395C-2790843C69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E5DC4C-D6D4-8D11-4138-0A27D6F0C01A}"/>
              </a:ext>
            </a:extLst>
          </p:cNvPr>
          <p:cNvSpPr>
            <a:spLocks noGrp="1"/>
          </p:cNvSpPr>
          <p:nvPr>
            <p:ph type="dt" sz="half" idx="10"/>
          </p:nvPr>
        </p:nvSpPr>
        <p:spPr/>
        <p:txBody>
          <a:bodyPr/>
          <a:lstStyle/>
          <a:p>
            <a:fld id="{251E5D71-6F23-40F6-88B9-8025A53BB3A1}" type="datetimeFigureOut">
              <a:rPr lang="en-US" smtClean="0"/>
              <a:t>3/14/2024</a:t>
            </a:fld>
            <a:endParaRPr lang="en-US"/>
          </a:p>
        </p:txBody>
      </p:sp>
      <p:sp>
        <p:nvSpPr>
          <p:cNvPr id="6" name="Footer Placeholder 5">
            <a:extLst>
              <a:ext uri="{FF2B5EF4-FFF2-40B4-BE49-F238E27FC236}">
                <a16:creationId xmlns:a16="http://schemas.microsoft.com/office/drawing/2014/main" id="{11E65BE9-EDBA-DD24-7832-C362F11A16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C91C35-DA54-F809-0A79-F6BA2D66D86D}"/>
              </a:ext>
            </a:extLst>
          </p:cNvPr>
          <p:cNvSpPr>
            <a:spLocks noGrp="1"/>
          </p:cNvSpPr>
          <p:nvPr>
            <p:ph type="sldNum" sz="quarter" idx="12"/>
          </p:nvPr>
        </p:nvSpPr>
        <p:spPr/>
        <p:txBody>
          <a:bodyPr/>
          <a:lstStyle/>
          <a:p>
            <a:fld id="{45DE8B0E-5F9E-431A-B860-39664915FD13}" type="slidenum">
              <a:rPr lang="en-US" smtClean="0"/>
              <a:t>‹#›</a:t>
            </a:fld>
            <a:endParaRPr lang="en-US"/>
          </a:p>
        </p:txBody>
      </p:sp>
    </p:spTree>
    <p:extLst>
      <p:ext uri="{BB962C8B-B14F-4D97-AF65-F5344CB8AC3E}">
        <p14:creationId xmlns:p14="http://schemas.microsoft.com/office/powerpoint/2010/main" val="3067425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77CF2-4B9D-5B12-3E36-E1F4FE2FC6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E0801EB-206F-60E8-44FA-DB4A33B452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A1ACD1-4998-1095-991B-F18E2803554E}"/>
              </a:ext>
            </a:extLst>
          </p:cNvPr>
          <p:cNvSpPr>
            <a:spLocks noGrp="1"/>
          </p:cNvSpPr>
          <p:nvPr>
            <p:ph type="dt" sz="half" idx="10"/>
          </p:nvPr>
        </p:nvSpPr>
        <p:spPr/>
        <p:txBody>
          <a:bodyPr/>
          <a:lstStyle/>
          <a:p>
            <a:fld id="{251E5D71-6F23-40F6-88B9-8025A53BB3A1}" type="datetimeFigureOut">
              <a:rPr lang="en-US" smtClean="0"/>
              <a:t>3/14/2024</a:t>
            </a:fld>
            <a:endParaRPr lang="en-US"/>
          </a:p>
        </p:txBody>
      </p:sp>
      <p:sp>
        <p:nvSpPr>
          <p:cNvPr id="5" name="Footer Placeholder 4">
            <a:extLst>
              <a:ext uri="{FF2B5EF4-FFF2-40B4-BE49-F238E27FC236}">
                <a16:creationId xmlns:a16="http://schemas.microsoft.com/office/drawing/2014/main" id="{9BE764AE-3F1A-5D48-A88D-14821C6326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76C1A-458E-FD59-0C9A-300679D23944}"/>
              </a:ext>
            </a:extLst>
          </p:cNvPr>
          <p:cNvSpPr>
            <a:spLocks noGrp="1"/>
          </p:cNvSpPr>
          <p:nvPr>
            <p:ph type="sldNum" sz="quarter" idx="12"/>
          </p:nvPr>
        </p:nvSpPr>
        <p:spPr/>
        <p:txBody>
          <a:bodyPr/>
          <a:lstStyle/>
          <a:p>
            <a:fld id="{45DE8B0E-5F9E-431A-B860-39664915FD13}" type="slidenum">
              <a:rPr lang="en-US" smtClean="0"/>
              <a:t>‹#›</a:t>
            </a:fld>
            <a:endParaRPr lang="en-US"/>
          </a:p>
        </p:txBody>
      </p:sp>
    </p:spTree>
    <p:extLst>
      <p:ext uri="{BB962C8B-B14F-4D97-AF65-F5344CB8AC3E}">
        <p14:creationId xmlns:p14="http://schemas.microsoft.com/office/powerpoint/2010/main" val="215172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89DB85-5C3A-74E3-5F1C-373B3DDCCFE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0C94B7D-E528-187A-985C-A8608DC583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B0EA39-9D80-48CC-8343-1DA64DA9D7B3}"/>
              </a:ext>
            </a:extLst>
          </p:cNvPr>
          <p:cNvSpPr>
            <a:spLocks noGrp="1"/>
          </p:cNvSpPr>
          <p:nvPr>
            <p:ph type="dt" sz="half" idx="10"/>
          </p:nvPr>
        </p:nvSpPr>
        <p:spPr/>
        <p:txBody>
          <a:bodyPr/>
          <a:lstStyle/>
          <a:p>
            <a:fld id="{251E5D71-6F23-40F6-88B9-8025A53BB3A1}" type="datetimeFigureOut">
              <a:rPr lang="en-US" smtClean="0"/>
              <a:t>3/14/2024</a:t>
            </a:fld>
            <a:endParaRPr lang="en-US"/>
          </a:p>
        </p:txBody>
      </p:sp>
      <p:sp>
        <p:nvSpPr>
          <p:cNvPr id="5" name="Footer Placeholder 4">
            <a:extLst>
              <a:ext uri="{FF2B5EF4-FFF2-40B4-BE49-F238E27FC236}">
                <a16:creationId xmlns:a16="http://schemas.microsoft.com/office/drawing/2014/main" id="{A8047B09-CBE4-5A56-ADB8-6236AC7461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5AF9E1-3072-B5AD-4DF4-EAC3E5F512CA}"/>
              </a:ext>
            </a:extLst>
          </p:cNvPr>
          <p:cNvSpPr>
            <a:spLocks noGrp="1"/>
          </p:cNvSpPr>
          <p:nvPr>
            <p:ph type="sldNum" sz="quarter" idx="12"/>
          </p:nvPr>
        </p:nvSpPr>
        <p:spPr/>
        <p:txBody>
          <a:bodyPr/>
          <a:lstStyle/>
          <a:p>
            <a:fld id="{45DE8B0E-5F9E-431A-B860-39664915FD13}" type="slidenum">
              <a:rPr lang="en-US" smtClean="0"/>
              <a:t>‹#›</a:t>
            </a:fld>
            <a:endParaRPr lang="en-US"/>
          </a:p>
        </p:txBody>
      </p:sp>
    </p:spTree>
    <p:extLst>
      <p:ext uri="{BB962C8B-B14F-4D97-AF65-F5344CB8AC3E}">
        <p14:creationId xmlns:p14="http://schemas.microsoft.com/office/powerpoint/2010/main" val="1959954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FA559A-D7CC-10F5-D856-4AC39C13BF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0EC7DE-0E40-F591-FB87-5AFD17F792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1673DC-0B27-EB26-E8D7-FE8184F570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1E5D71-6F23-40F6-88B9-8025A53BB3A1}" type="datetimeFigureOut">
              <a:rPr lang="en-US" smtClean="0"/>
              <a:t>3/14/2024</a:t>
            </a:fld>
            <a:endParaRPr lang="en-US"/>
          </a:p>
        </p:txBody>
      </p:sp>
      <p:sp>
        <p:nvSpPr>
          <p:cNvPr id="5" name="Footer Placeholder 4">
            <a:extLst>
              <a:ext uri="{FF2B5EF4-FFF2-40B4-BE49-F238E27FC236}">
                <a16:creationId xmlns:a16="http://schemas.microsoft.com/office/drawing/2014/main" id="{EAD49336-9808-69E2-E15C-756FE3BCE0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6EFDA3B-4346-4B7B-01CA-6BD9596D06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DE8B0E-5F9E-431A-B860-39664915FD13}" type="slidenum">
              <a:rPr lang="en-US" smtClean="0"/>
              <a:t>‹#›</a:t>
            </a:fld>
            <a:endParaRPr lang="en-US"/>
          </a:p>
        </p:txBody>
      </p:sp>
    </p:spTree>
    <p:extLst>
      <p:ext uri="{BB962C8B-B14F-4D97-AF65-F5344CB8AC3E}">
        <p14:creationId xmlns:p14="http://schemas.microsoft.com/office/powerpoint/2010/main" val="2198729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860AD-A72E-4FDF-1CD1-900FDC238897}"/>
              </a:ext>
            </a:extLst>
          </p:cNvPr>
          <p:cNvSpPr>
            <a:spLocks noGrp="1"/>
          </p:cNvSpPr>
          <p:nvPr>
            <p:ph type="ctrTitle"/>
          </p:nvPr>
        </p:nvSpPr>
        <p:spPr/>
        <p:txBody>
          <a:bodyPr>
            <a:normAutofit/>
          </a:bodyPr>
          <a:lstStyle/>
          <a:p>
            <a:r>
              <a:rPr lang="en-US" sz="5400" dirty="0"/>
              <a:t>Educationist and reformist movements in sub continent</a:t>
            </a:r>
          </a:p>
        </p:txBody>
      </p:sp>
      <p:sp>
        <p:nvSpPr>
          <p:cNvPr id="3" name="Subtitle 2">
            <a:extLst>
              <a:ext uri="{FF2B5EF4-FFF2-40B4-BE49-F238E27FC236}">
                <a16:creationId xmlns:a16="http://schemas.microsoft.com/office/drawing/2014/main" id="{DC2734BC-C41F-1817-A004-1BC6E856EF7F}"/>
              </a:ext>
            </a:extLst>
          </p:cNvPr>
          <p:cNvSpPr>
            <a:spLocks noGrp="1"/>
          </p:cNvSpPr>
          <p:nvPr>
            <p:ph type="subTitle" idx="1"/>
          </p:nvPr>
        </p:nvSpPr>
        <p:spPr/>
        <p:txBody>
          <a:bodyPr>
            <a:normAutofit/>
          </a:bodyPr>
          <a:lstStyle/>
          <a:p>
            <a:r>
              <a:rPr lang="en-US" sz="3200" dirty="0"/>
              <a:t>Lecture by: </a:t>
            </a:r>
            <a:r>
              <a:rPr lang="en-US" sz="3200" dirty="0" err="1"/>
              <a:t>Ms</a:t>
            </a:r>
            <a:r>
              <a:rPr lang="en-US" sz="3200" dirty="0"/>
              <a:t> Saira Saeed</a:t>
            </a:r>
          </a:p>
        </p:txBody>
      </p:sp>
    </p:spTree>
    <p:extLst>
      <p:ext uri="{BB962C8B-B14F-4D97-AF65-F5344CB8AC3E}">
        <p14:creationId xmlns:p14="http://schemas.microsoft.com/office/powerpoint/2010/main" val="28881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C37E2-320C-5AA8-ADCF-48225FCC0C98}"/>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B73E03A6-0532-0209-D2F0-D84F31BFA905}"/>
              </a:ext>
            </a:extLst>
          </p:cNvPr>
          <p:cNvSpPr>
            <a:spLocks noGrp="1"/>
          </p:cNvSpPr>
          <p:nvPr>
            <p:ph idx="1"/>
          </p:nvPr>
        </p:nvSpPr>
        <p:spPr/>
        <p:txBody>
          <a:bodyPr>
            <a:normAutofit/>
          </a:bodyPr>
          <a:lstStyle/>
          <a:p>
            <a:pPr algn="just"/>
            <a:r>
              <a:rPr lang="en-US" sz="3200" dirty="0"/>
              <a:t>The Mughal dynasty has been ruled over most of the Indian subcontinent by 1526, it went into a slow decline after 1707 and finally got defeated during the 1857 war of independence that is also known as The Indian Rebellion of 1857,</a:t>
            </a:r>
          </a:p>
          <a:p>
            <a:pPr algn="just"/>
            <a:r>
              <a:rPr lang="en-US" sz="3200" dirty="0"/>
              <a:t>Vasco de Gama’s discovery of a new sea route to India in 1498 had paved the way for European commerce with India. </a:t>
            </a:r>
          </a:p>
          <a:p>
            <a:pPr algn="just"/>
            <a:r>
              <a:rPr lang="en-US" sz="3200" dirty="0"/>
              <a:t>The British Est India company had been given the permission by the Mughal emperor Jahangir in 1617 to trade in India. </a:t>
            </a:r>
          </a:p>
        </p:txBody>
      </p:sp>
    </p:spTree>
    <p:extLst>
      <p:ext uri="{BB962C8B-B14F-4D97-AF65-F5344CB8AC3E}">
        <p14:creationId xmlns:p14="http://schemas.microsoft.com/office/powerpoint/2010/main" val="1730209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3A94B-868D-008F-66D9-BC029A240EC1}"/>
              </a:ext>
            </a:extLst>
          </p:cNvPr>
          <p:cNvSpPr>
            <a:spLocks noGrp="1"/>
          </p:cNvSpPr>
          <p:nvPr>
            <p:ph type="title"/>
          </p:nvPr>
        </p:nvSpPr>
        <p:spPr/>
        <p:txBody>
          <a:bodyPr/>
          <a:lstStyle/>
          <a:p>
            <a:r>
              <a:rPr lang="en-US" dirty="0"/>
              <a:t>War of Independence</a:t>
            </a:r>
          </a:p>
        </p:txBody>
      </p:sp>
      <p:sp>
        <p:nvSpPr>
          <p:cNvPr id="3" name="Content Placeholder 2">
            <a:extLst>
              <a:ext uri="{FF2B5EF4-FFF2-40B4-BE49-F238E27FC236}">
                <a16:creationId xmlns:a16="http://schemas.microsoft.com/office/drawing/2014/main" id="{F05625D0-2012-E00D-FDA7-F043B903BE5D}"/>
              </a:ext>
            </a:extLst>
          </p:cNvPr>
          <p:cNvSpPr>
            <a:spLocks noGrp="1"/>
          </p:cNvSpPr>
          <p:nvPr>
            <p:ph idx="1"/>
          </p:nvPr>
        </p:nvSpPr>
        <p:spPr/>
        <p:txBody>
          <a:bodyPr>
            <a:normAutofit lnSpcReduction="10000"/>
          </a:bodyPr>
          <a:lstStyle/>
          <a:p>
            <a:pPr algn="just"/>
            <a:r>
              <a:rPr lang="en-US" dirty="0"/>
              <a:t>So in 1857, the 1100 years old Muslim rule was demolished and power was directly transferred to the British Crown on November 1, 1858.</a:t>
            </a:r>
          </a:p>
          <a:p>
            <a:pPr algn="just"/>
            <a:r>
              <a:rPr lang="en-US" dirty="0"/>
              <a:t>The war of independence had different political, social, religious and economic causes but the immediate cause was the introduction of Enfield rifle in Indian army in 1856. the war was not fought in entire India. </a:t>
            </a:r>
          </a:p>
          <a:p>
            <a:pPr algn="just"/>
            <a:r>
              <a:rPr lang="en-US" dirty="0"/>
              <a:t>The Britishers had better financial, military, administrative and technological resources in comparison to the revolutionaries.</a:t>
            </a:r>
          </a:p>
          <a:p>
            <a:pPr algn="just"/>
            <a:r>
              <a:rPr lang="en-US" dirty="0"/>
              <a:t>Local support to the Britishers, lack of strategy and leadership failures became the causes of the failure of the war</a:t>
            </a:r>
          </a:p>
        </p:txBody>
      </p:sp>
    </p:spTree>
    <p:extLst>
      <p:ext uri="{BB962C8B-B14F-4D97-AF65-F5344CB8AC3E}">
        <p14:creationId xmlns:p14="http://schemas.microsoft.com/office/powerpoint/2010/main" val="2281676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EE8A5-67C0-7D9F-C59F-A925A9875C42}"/>
              </a:ext>
            </a:extLst>
          </p:cNvPr>
          <p:cNvSpPr>
            <a:spLocks noGrp="1"/>
          </p:cNvSpPr>
          <p:nvPr>
            <p:ph type="title"/>
          </p:nvPr>
        </p:nvSpPr>
        <p:spPr/>
        <p:txBody>
          <a:bodyPr/>
          <a:lstStyle/>
          <a:p>
            <a:r>
              <a:rPr lang="en-US" dirty="0"/>
              <a:t>Educational aspect of the Aligarh Movement</a:t>
            </a:r>
          </a:p>
        </p:txBody>
      </p:sp>
      <p:sp>
        <p:nvSpPr>
          <p:cNvPr id="3" name="Content Placeholder 2">
            <a:extLst>
              <a:ext uri="{FF2B5EF4-FFF2-40B4-BE49-F238E27FC236}">
                <a16:creationId xmlns:a16="http://schemas.microsoft.com/office/drawing/2014/main" id="{20926A55-1F15-9F7C-4100-273EC54813EE}"/>
              </a:ext>
            </a:extLst>
          </p:cNvPr>
          <p:cNvSpPr>
            <a:spLocks noGrp="1"/>
          </p:cNvSpPr>
          <p:nvPr>
            <p:ph idx="1"/>
          </p:nvPr>
        </p:nvSpPr>
        <p:spPr/>
        <p:txBody>
          <a:bodyPr>
            <a:normAutofit lnSpcReduction="10000"/>
          </a:bodyPr>
          <a:lstStyle/>
          <a:p>
            <a:pPr algn="just"/>
            <a:r>
              <a:rPr lang="en-US" dirty="0"/>
              <a:t>The social and economic conditions of Muslims after the war was depressing. For their uprisal, a much prerequisite guidance was required that was initially came from Sir Syed Ahmed Khan (1817-1898). He was the important Muslim leader of the subcontinent in the second half of the 19</a:t>
            </a:r>
            <a:r>
              <a:rPr lang="en-US" baseline="30000" dirty="0"/>
              <a:t>th</a:t>
            </a:r>
            <a:r>
              <a:rPr lang="en-US" dirty="0"/>
              <a:t> century.</a:t>
            </a:r>
          </a:p>
          <a:p>
            <a:pPr algn="just"/>
            <a:r>
              <a:rPr lang="en-US" dirty="0"/>
              <a:t>He was convinced of the establishment of cordial relationships of Muslims with the British rulers. In this regard he mainly work to eradicate the impression that the Muslims were the main responsible for the war. That’s why he also wrote a pamphlet named as </a:t>
            </a:r>
            <a:r>
              <a:rPr lang="en-US" dirty="0" err="1"/>
              <a:t>Risalah</a:t>
            </a:r>
            <a:r>
              <a:rPr lang="en-US" dirty="0"/>
              <a:t> </a:t>
            </a:r>
            <a:r>
              <a:rPr lang="en-US" dirty="0" err="1"/>
              <a:t>Asbab</a:t>
            </a:r>
            <a:r>
              <a:rPr lang="en-US" dirty="0"/>
              <a:t>-I-</a:t>
            </a:r>
            <a:r>
              <a:rPr lang="en-US" dirty="0" err="1"/>
              <a:t>baghawat</a:t>
            </a:r>
            <a:r>
              <a:rPr lang="en-US" dirty="0"/>
              <a:t>-e-hind on the causes of Indian revolt in order to remove the misunderstanding about the Muslims involvement in the war.</a:t>
            </a:r>
          </a:p>
        </p:txBody>
      </p:sp>
    </p:spTree>
    <p:extLst>
      <p:ext uri="{BB962C8B-B14F-4D97-AF65-F5344CB8AC3E}">
        <p14:creationId xmlns:p14="http://schemas.microsoft.com/office/powerpoint/2010/main" val="844080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A8350-A7B3-C632-4957-56B3AD6D86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805D0F8-7842-7D75-44C8-F2BD2066C899}"/>
              </a:ext>
            </a:extLst>
          </p:cNvPr>
          <p:cNvSpPr>
            <a:spLocks noGrp="1"/>
          </p:cNvSpPr>
          <p:nvPr>
            <p:ph idx="1"/>
          </p:nvPr>
        </p:nvSpPr>
        <p:spPr/>
        <p:txBody>
          <a:bodyPr>
            <a:normAutofit fontScale="92500" lnSpcReduction="20000"/>
          </a:bodyPr>
          <a:lstStyle/>
          <a:p>
            <a:pPr algn="just"/>
            <a:r>
              <a:rPr lang="en-US" dirty="0"/>
              <a:t>He made sure about the representation of the Indians in legislative counsels which was finally achieved in the act if 1861. he also wrote a series of pamphlets ‘the loyal </a:t>
            </a:r>
            <a:r>
              <a:rPr lang="en-US" dirty="0" err="1"/>
              <a:t>Mohammadans</a:t>
            </a:r>
            <a:r>
              <a:rPr lang="en-US" dirty="0"/>
              <a:t> of India’ in which he discussed about the details of Muslim families those saved the lives of English people in the war</a:t>
            </a:r>
          </a:p>
          <a:p>
            <a:pPr algn="just"/>
            <a:r>
              <a:rPr lang="en-US" dirty="0"/>
              <a:t>His Aligarh movement was based n two-fold platform for the Muslims renaissance which included modern education for the Muslims and co-operation with the British government. So in 1859 he set up a school and </a:t>
            </a:r>
            <a:r>
              <a:rPr lang="en-US" dirty="0" err="1"/>
              <a:t>Muradabad</a:t>
            </a:r>
            <a:r>
              <a:rPr lang="en-US" dirty="0"/>
              <a:t> where Persian and English was taught. 1863 he established another school at Ghazipur then he set up a scientific society at Ghazipur in 1864 which translated the modern works from English to Urdu and Persian to make them easier for the people to understand. The main objective of this journal was to arouse the sentiments of goodwill and friendship among the British for the Muslims.</a:t>
            </a:r>
          </a:p>
        </p:txBody>
      </p:sp>
    </p:spTree>
    <p:extLst>
      <p:ext uri="{BB962C8B-B14F-4D97-AF65-F5344CB8AC3E}">
        <p14:creationId xmlns:p14="http://schemas.microsoft.com/office/powerpoint/2010/main" val="2165045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D756C-63B8-821B-CA6A-6FC8F3DA5869}"/>
              </a:ext>
            </a:extLst>
          </p:cNvPr>
          <p:cNvSpPr>
            <a:spLocks noGrp="1"/>
          </p:cNvSpPr>
          <p:nvPr>
            <p:ph type="title"/>
          </p:nvPr>
        </p:nvSpPr>
        <p:spPr/>
        <p:txBody>
          <a:bodyPr/>
          <a:lstStyle/>
          <a:p>
            <a:r>
              <a:rPr lang="en-US" dirty="0"/>
              <a:t>M.A.O COLLEGE</a:t>
            </a:r>
          </a:p>
        </p:txBody>
      </p:sp>
      <p:sp>
        <p:nvSpPr>
          <p:cNvPr id="3" name="Content Placeholder 2">
            <a:extLst>
              <a:ext uri="{FF2B5EF4-FFF2-40B4-BE49-F238E27FC236}">
                <a16:creationId xmlns:a16="http://schemas.microsoft.com/office/drawing/2014/main" id="{921D4C65-B90A-2275-6A9D-5CDDE6921858}"/>
              </a:ext>
            </a:extLst>
          </p:cNvPr>
          <p:cNvSpPr>
            <a:spLocks noGrp="1"/>
          </p:cNvSpPr>
          <p:nvPr>
            <p:ph idx="1"/>
          </p:nvPr>
        </p:nvSpPr>
        <p:spPr/>
        <p:txBody>
          <a:bodyPr/>
          <a:lstStyle/>
          <a:p>
            <a:pPr algn="just"/>
            <a:r>
              <a:rPr lang="en-US" dirty="0"/>
              <a:t>He also set up a body as Anjuman-</a:t>
            </a:r>
            <a:r>
              <a:rPr lang="en-US" dirty="0" err="1"/>
              <a:t>i</a:t>
            </a:r>
            <a:r>
              <a:rPr lang="en-US" dirty="0"/>
              <a:t>- </a:t>
            </a:r>
            <a:r>
              <a:rPr lang="en-US" dirty="0" err="1"/>
              <a:t>Taraqi</a:t>
            </a:r>
            <a:r>
              <a:rPr lang="en-US" dirty="0"/>
              <a:t>- </a:t>
            </a:r>
            <a:r>
              <a:rPr lang="en-US" dirty="0" err="1"/>
              <a:t>Muslamanan</a:t>
            </a:r>
            <a:r>
              <a:rPr lang="en-US" dirty="0"/>
              <a:t>-</a:t>
            </a:r>
            <a:r>
              <a:rPr lang="en-US" dirty="0" err="1"/>
              <a:t>i</a:t>
            </a:r>
            <a:r>
              <a:rPr lang="en-US" dirty="0"/>
              <a:t>-Hind, which had an objective of imparting modern knowledge to the Muslims of India.</a:t>
            </a:r>
          </a:p>
          <a:p>
            <a:pPr algn="just"/>
            <a:r>
              <a:rPr lang="en-US" dirty="0"/>
              <a:t>He established M.A.O College at Aligarh in 1877 was the immense achievement of Sir Syed Ahmed Khan with regard to the educational services for the Indian Muslims. It was more than an educational institution but a comprehensive movement affecting every phase of Muslim life.</a:t>
            </a:r>
          </a:p>
        </p:txBody>
      </p:sp>
    </p:spTree>
    <p:extLst>
      <p:ext uri="{BB962C8B-B14F-4D97-AF65-F5344CB8AC3E}">
        <p14:creationId xmlns:p14="http://schemas.microsoft.com/office/powerpoint/2010/main" val="2686564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13956-890D-6FE6-27E4-654EC97D51C4}"/>
              </a:ext>
            </a:extLst>
          </p:cNvPr>
          <p:cNvSpPr>
            <a:spLocks noGrp="1"/>
          </p:cNvSpPr>
          <p:nvPr>
            <p:ph type="title"/>
          </p:nvPr>
        </p:nvSpPr>
        <p:spPr/>
        <p:txBody>
          <a:bodyPr/>
          <a:lstStyle/>
          <a:p>
            <a:r>
              <a:rPr lang="en-US" dirty="0"/>
              <a:t>Political aspect</a:t>
            </a:r>
          </a:p>
        </p:txBody>
      </p:sp>
      <p:sp>
        <p:nvSpPr>
          <p:cNvPr id="3" name="Content Placeholder 2">
            <a:extLst>
              <a:ext uri="{FF2B5EF4-FFF2-40B4-BE49-F238E27FC236}">
                <a16:creationId xmlns:a16="http://schemas.microsoft.com/office/drawing/2014/main" id="{08115C4F-6572-9A66-E86C-0EC8515D1B3B}"/>
              </a:ext>
            </a:extLst>
          </p:cNvPr>
          <p:cNvSpPr>
            <a:spLocks noGrp="1"/>
          </p:cNvSpPr>
          <p:nvPr>
            <p:ph idx="1"/>
          </p:nvPr>
        </p:nvSpPr>
        <p:spPr/>
        <p:txBody>
          <a:bodyPr>
            <a:normAutofit/>
          </a:bodyPr>
          <a:lstStyle/>
          <a:p>
            <a:pPr algn="just"/>
            <a:r>
              <a:rPr lang="en-US" dirty="0"/>
              <a:t>Sir Syed Ahmed Khan had advised the Muslims to keep away from practical politics of the country as long as they don’t  train themselves with the essential education. He emphasized on the Muslims to first acquire sufficient knowledge and then come in the political field to demand their rights. Sir Syed on observing the extreme Hindu attitude of the congress, advised the Muslims not to join it. He said that the congress was mainly a Hindu body which can never be sincere to the Muslims. So he advised the Muslims to concentrate on the acquisition of knowledge and train themselves with the modern techniques of politics and then they could participate in it with a great zeal.</a:t>
            </a:r>
          </a:p>
        </p:txBody>
      </p:sp>
    </p:spTree>
    <p:extLst>
      <p:ext uri="{BB962C8B-B14F-4D97-AF65-F5344CB8AC3E}">
        <p14:creationId xmlns:p14="http://schemas.microsoft.com/office/powerpoint/2010/main" val="4145271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50329-8541-616D-B15C-E7E7C7E830EA}"/>
              </a:ext>
            </a:extLst>
          </p:cNvPr>
          <p:cNvSpPr>
            <a:spLocks noGrp="1"/>
          </p:cNvSpPr>
          <p:nvPr>
            <p:ph type="title"/>
          </p:nvPr>
        </p:nvSpPr>
        <p:spPr/>
        <p:txBody>
          <a:bodyPr/>
          <a:lstStyle/>
          <a:p>
            <a:r>
              <a:rPr lang="en-US" dirty="0"/>
              <a:t>Pioneer of two Nation Theory:</a:t>
            </a:r>
          </a:p>
        </p:txBody>
      </p:sp>
      <p:sp>
        <p:nvSpPr>
          <p:cNvPr id="3" name="Content Placeholder 2">
            <a:extLst>
              <a:ext uri="{FF2B5EF4-FFF2-40B4-BE49-F238E27FC236}">
                <a16:creationId xmlns:a16="http://schemas.microsoft.com/office/drawing/2014/main" id="{4A0C10CC-F705-E267-62D1-784252D8EB85}"/>
              </a:ext>
            </a:extLst>
          </p:cNvPr>
          <p:cNvSpPr>
            <a:spLocks noGrp="1"/>
          </p:cNvSpPr>
          <p:nvPr>
            <p:ph idx="1"/>
          </p:nvPr>
        </p:nvSpPr>
        <p:spPr/>
        <p:txBody>
          <a:bodyPr>
            <a:normAutofit lnSpcReduction="10000"/>
          </a:bodyPr>
          <a:lstStyle/>
          <a:p>
            <a:pPr algn="just"/>
            <a:r>
              <a:rPr lang="en-US" dirty="0"/>
              <a:t>He was the great ambassador of Hindu-Muslim unity but later on the attitude of Hindus and congress compelled Sir Syed to change his idea of Hindu-Muslim unity to one nation because he had been observed Hindus and Congress working against the interests of the Muslims.</a:t>
            </a:r>
          </a:p>
          <a:p>
            <a:pPr algn="just"/>
            <a:r>
              <a:rPr lang="en-US" dirty="0"/>
              <a:t>The Hindi-Urdu controversy convinced Sir Syed that the Hindus will never be sincere to the Muslims because both  nations were distinct from each other so he used the word two nations for the Hindus and the Muslims in 1968 for the first time.</a:t>
            </a:r>
          </a:p>
          <a:p>
            <a:pPr algn="just"/>
            <a:r>
              <a:rPr lang="en-US" dirty="0"/>
              <a:t>He wrote Essays on the life of Muhammad and spent huge amount on the publication of this huge book. He wrote philosophical commentary on Bible known as ‘</a:t>
            </a:r>
            <a:r>
              <a:rPr lang="en-US" dirty="0" err="1"/>
              <a:t>Tabaeen</a:t>
            </a:r>
            <a:r>
              <a:rPr lang="en-US" dirty="0"/>
              <a:t>-al-kalam.</a:t>
            </a:r>
          </a:p>
        </p:txBody>
      </p:sp>
    </p:spTree>
    <p:extLst>
      <p:ext uri="{BB962C8B-B14F-4D97-AF65-F5344CB8AC3E}">
        <p14:creationId xmlns:p14="http://schemas.microsoft.com/office/powerpoint/2010/main" val="2430502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8D3B7-58C6-4BAE-E968-C3921A4D1DA6}"/>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73296AB5-C320-AD5D-70BE-6252B0F80605}"/>
              </a:ext>
            </a:extLst>
          </p:cNvPr>
          <p:cNvSpPr>
            <a:spLocks noGrp="1"/>
          </p:cNvSpPr>
          <p:nvPr>
            <p:ph idx="1"/>
          </p:nvPr>
        </p:nvSpPr>
        <p:spPr/>
        <p:txBody>
          <a:bodyPr>
            <a:normAutofit lnSpcReduction="10000"/>
          </a:bodyPr>
          <a:lstStyle/>
          <a:p>
            <a:pPr algn="just"/>
            <a:r>
              <a:rPr lang="en-US" dirty="0"/>
              <a:t>When the Mughals decline started the east India Company emerge as the new political power in India. An active campaign of Christian missionaries was developing a serious threat to Islam in India and lastly the western education with the patronage of the government had completely ignored the Islamic learnings they want to Christianize the whole sub-continent. The missionaries made every possible effort to spread Christianity. In case, a region was hit by famine. The orphans were admitted into orphanage where they were forcibly converted to Christianity. Such incidents were witnessed in the orphanages of </a:t>
            </a:r>
            <a:r>
              <a:rPr lang="en-US" dirty="0" err="1"/>
              <a:t>Sikandara</a:t>
            </a:r>
            <a:r>
              <a:rPr lang="en-US" dirty="0"/>
              <a:t> during the famine of 1837. These intervention in religious affairs compelled the Muslims to made a madrasa where the basic of religion to be taught.</a:t>
            </a:r>
          </a:p>
        </p:txBody>
      </p:sp>
    </p:spTree>
    <p:extLst>
      <p:ext uri="{BB962C8B-B14F-4D97-AF65-F5344CB8AC3E}">
        <p14:creationId xmlns:p14="http://schemas.microsoft.com/office/powerpoint/2010/main" val="2053187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F9103-9AD6-9B87-CD01-82338ADCD5F5}"/>
              </a:ext>
            </a:extLst>
          </p:cNvPr>
          <p:cNvSpPr>
            <a:spLocks noGrp="1"/>
          </p:cNvSpPr>
          <p:nvPr>
            <p:ph type="title"/>
          </p:nvPr>
        </p:nvSpPr>
        <p:spPr/>
        <p:txBody>
          <a:bodyPr/>
          <a:lstStyle/>
          <a:p>
            <a:r>
              <a:rPr lang="en-US" dirty="0" err="1"/>
              <a:t>Tehrik</a:t>
            </a:r>
            <a:r>
              <a:rPr lang="en-US" dirty="0"/>
              <a:t> e Deoband</a:t>
            </a:r>
          </a:p>
        </p:txBody>
      </p:sp>
      <p:sp>
        <p:nvSpPr>
          <p:cNvPr id="3" name="Content Placeholder 2">
            <a:extLst>
              <a:ext uri="{FF2B5EF4-FFF2-40B4-BE49-F238E27FC236}">
                <a16:creationId xmlns:a16="http://schemas.microsoft.com/office/drawing/2014/main" id="{0441CE1A-27DC-9D57-17FB-CB5A74FDB3B5}"/>
              </a:ext>
            </a:extLst>
          </p:cNvPr>
          <p:cNvSpPr>
            <a:spLocks noGrp="1"/>
          </p:cNvSpPr>
          <p:nvPr>
            <p:ph idx="1"/>
          </p:nvPr>
        </p:nvSpPr>
        <p:spPr/>
        <p:txBody>
          <a:bodyPr/>
          <a:lstStyle/>
          <a:p>
            <a:pPr algn="just"/>
            <a:r>
              <a:rPr lang="en-US" dirty="0"/>
              <a:t>Aligarh movement lacked in the religious sphere and could not work commendably for the religious training of the Muslims. The working strategy of the Aligarh was based on the co-operation with the British rulers which confronted it with the orthodox ulema who didn’t consider it a reformatory movement for the Muslims. They believe that the Muslim welfare and renaissance could only be possible by pursuing Islamic way of life which the Aligarh ignored. So to overcome this deficiency ulema decided to launch a movement for the religious training of the Muslims of India. they believed if didn’t do so they would ultimately lose their identity as a nation.so they began it with the establishment of institutions impart religious training.</a:t>
            </a:r>
          </a:p>
        </p:txBody>
      </p:sp>
    </p:spTree>
    <p:extLst>
      <p:ext uri="{BB962C8B-B14F-4D97-AF65-F5344CB8AC3E}">
        <p14:creationId xmlns:p14="http://schemas.microsoft.com/office/powerpoint/2010/main" val="258453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F5693-2B53-1AB4-108E-05240784E4A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F2567D8-8928-3F93-89FD-459B6D10FBD9}"/>
              </a:ext>
            </a:extLst>
          </p:cNvPr>
          <p:cNvSpPr>
            <a:spLocks noGrp="1"/>
          </p:cNvSpPr>
          <p:nvPr>
            <p:ph idx="1"/>
          </p:nvPr>
        </p:nvSpPr>
        <p:spPr/>
        <p:txBody>
          <a:bodyPr/>
          <a:lstStyle/>
          <a:p>
            <a:pPr marL="0" indent="0" algn="just">
              <a:buNone/>
            </a:pPr>
            <a:r>
              <a:rPr lang="en-US" dirty="0"/>
              <a:t>Pattern of Education</a:t>
            </a:r>
          </a:p>
          <a:p>
            <a:pPr marL="0" indent="0" algn="just">
              <a:buNone/>
            </a:pPr>
            <a:endParaRPr lang="en-US" dirty="0"/>
          </a:p>
          <a:p>
            <a:pPr marL="0" indent="0" algn="just">
              <a:buNone/>
            </a:pPr>
            <a:r>
              <a:rPr lang="en-US" dirty="0"/>
              <a:t>Deoband’s curriculum is based on 17th century Indo-Islamic syllabus known as </a:t>
            </a:r>
            <a:r>
              <a:rPr lang="en-US" dirty="0" err="1"/>
              <a:t>Darse</a:t>
            </a:r>
            <a:r>
              <a:rPr lang="en-US" dirty="0"/>
              <a:t> </a:t>
            </a:r>
            <a:r>
              <a:rPr lang="en-US" dirty="0" err="1"/>
              <a:t>nizami</a:t>
            </a:r>
            <a:r>
              <a:rPr lang="en-US" dirty="0"/>
              <a:t>. The core curriculum teaches Islamic law ( Shariah), Islamic jurisprudence( </a:t>
            </a:r>
            <a:r>
              <a:rPr lang="en-US" dirty="0" err="1"/>
              <a:t>Fiqah</a:t>
            </a:r>
            <a:r>
              <a:rPr lang="en-US" dirty="0"/>
              <a:t>), traditional Islamic spirituality( </a:t>
            </a:r>
            <a:r>
              <a:rPr lang="en-US" dirty="0" err="1"/>
              <a:t>tasawuf</a:t>
            </a:r>
            <a:r>
              <a:rPr lang="en-US" dirty="0"/>
              <a:t>).</a:t>
            </a:r>
          </a:p>
          <a:p>
            <a:pPr algn="just"/>
            <a:endParaRPr lang="en-US" dirty="0"/>
          </a:p>
        </p:txBody>
      </p:sp>
    </p:spTree>
    <p:extLst>
      <p:ext uri="{BB962C8B-B14F-4D97-AF65-F5344CB8AC3E}">
        <p14:creationId xmlns:p14="http://schemas.microsoft.com/office/powerpoint/2010/main" val="2837570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C3B94-7F2D-2CB2-213C-928BB4C4A0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C00A20-7FA4-1386-2BCC-D5AA5D20ED87}"/>
              </a:ext>
            </a:extLst>
          </p:cNvPr>
          <p:cNvSpPr>
            <a:spLocks noGrp="1"/>
          </p:cNvSpPr>
          <p:nvPr>
            <p:ph idx="1"/>
          </p:nvPr>
        </p:nvSpPr>
        <p:spPr/>
        <p:txBody>
          <a:bodyPr/>
          <a:lstStyle/>
          <a:p>
            <a:pPr algn="just"/>
            <a:r>
              <a:rPr lang="en-US" dirty="0"/>
              <a:t>Aims and objectives:</a:t>
            </a:r>
          </a:p>
          <a:p>
            <a:pPr algn="just"/>
            <a:endParaRPr lang="en-US" dirty="0"/>
          </a:p>
          <a:p>
            <a:pPr algn="just"/>
            <a:r>
              <a:rPr lang="en-US" dirty="0"/>
              <a:t>Providing comprehensive information to the Muslims about their religion and making arrangements for teaching of </a:t>
            </a:r>
            <a:r>
              <a:rPr lang="en-US" dirty="0" err="1"/>
              <a:t>Quraan</a:t>
            </a:r>
            <a:r>
              <a:rPr lang="en-US" dirty="0"/>
              <a:t>, </a:t>
            </a:r>
            <a:r>
              <a:rPr lang="en-US" dirty="0" err="1"/>
              <a:t>Tafseer</a:t>
            </a:r>
            <a:r>
              <a:rPr lang="en-US" dirty="0"/>
              <a:t>, </a:t>
            </a:r>
            <a:r>
              <a:rPr lang="en-US" dirty="0" err="1"/>
              <a:t>Hadees</a:t>
            </a:r>
            <a:r>
              <a:rPr lang="en-US" dirty="0"/>
              <a:t>, etc.</a:t>
            </a:r>
          </a:p>
          <a:p>
            <a:pPr algn="just"/>
            <a:r>
              <a:rPr lang="en-US" dirty="0"/>
              <a:t>Invoking the spirit of Islam among the students.</a:t>
            </a:r>
          </a:p>
          <a:p>
            <a:pPr algn="just"/>
            <a:r>
              <a:rPr lang="en-US" dirty="0"/>
              <a:t>Propagation and teaching of Islam.</a:t>
            </a:r>
          </a:p>
          <a:p>
            <a:pPr algn="just"/>
            <a:r>
              <a:rPr lang="en-US" dirty="0"/>
              <a:t>Preserving the freedom of thoughts and knowledge.</a:t>
            </a:r>
          </a:p>
          <a:p>
            <a:pPr algn="just"/>
            <a:r>
              <a:rPr lang="en-US" dirty="0"/>
              <a:t>Establishment of Arabic institution for the propagation of Islam.</a:t>
            </a:r>
          </a:p>
        </p:txBody>
      </p:sp>
    </p:spTree>
    <p:extLst>
      <p:ext uri="{BB962C8B-B14F-4D97-AF65-F5344CB8AC3E}">
        <p14:creationId xmlns:p14="http://schemas.microsoft.com/office/powerpoint/2010/main" val="644543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90BDA-A56B-BA38-AC06-FE20777C3D51}"/>
              </a:ext>
            </a:extLst>
          </p:cNvPr>
          <p:cNvSpPr>
            <a:spLocks noGrp="1"/>
          </p:cNvSpPr>
          <p:nvPr>
            <p:ph type="title"/>
          </p:nvPr>
        </p:nvSpPr>
        <p:spPr/>
        <p:txBody>
          <a:bodyPr/>
          <a:lstStyle/>
          <a:p>
            <a:r>
              <a:rPr lang="en-US" dirty="0" err="1"/>
              <a:t>Nadva</a:t>
            </a:r>
            <a:r>
              <a:rPr lang="en-US" dirty="0"/>
              <a:t> </a:t>
            </a:r>
            <a:r>
              <a:rPr lang="en-US" dirty="0" err="1"/>
              <a:t>tul</a:t>
            </a:r>
            <a:r>
              <a:rPr lang="en-US" dirty="0"/>
              <a:t> Ulema</a:t>
            </a:r>
          </a:p>
        </p:txBody>
      </p:sp>
      <p:sp>
        <p:nvSpPr>
          <p:cNvPr id="3" name="Content Placeholder 2">
            <a:extLst>
              <a:ext uri="{FF2B5EF4-FFF2-40B4-BE49-F238E27FC236}">
                <a16:creationId xmlns:a16="http://schemas.microsoft.com/office/drawing/2014/main" id="{C320EB46-3BDB-C588-5714-3DB1816B6241}"/>
              </a:ext>
            </a:extLst>
          </p:cNvPr>
          <p:cNvSpPr>
            <a:spLocks noGrp="1"/>
          </p:cNvSpPr>
          <p:nvPr>
            <p:ph idx="1"/>
          </p:nvPr>
        </p:nvSpPr>
        <p:spPr/>
        <p:txBody>
          <a:bodyPr>
            <a:normAutofit fontScale="92500" lnSpcReduction="20000"/>
          </a:bodyPr>
          <a:lstStyle/>
          <a:p>
            <a:pPr algn="just"/>
            <a:r>
              <a:rPr lang="en-US" dirty="0"/>
              <a:t>In the second half of the nineteenth century many educational institutions were founded to educate the Muslims of India and make them equal in all terms with their Hindu fellow countrymen. In this regard one of the major educational institutions was that of </a:t>
            </a:r>
            <a:r>
              <a:rPr lang="en-US" dirty="0" err="1"/>
              <a:t>Nadva</a:t>
            </a:r>
            <a:r>
              <a:rPr lang="en-US" dirty="0"/>
              <a:t> </a:t>
            </a:r>
            <a:r>
              <a:rPr lang="en-US" dirty="0" err="1"/>
              <a:t>tul</a:t>
            </a:r>
            <a:r>
              <a:rPr lang="en-US" dirty="0"/>
              <a:t> Ulama. Two of its predecessors the Aligarh School and College and Dar-</a:t>
            </a:r>
            <a:r>
              <a:rPr lang="en-US" dirty="0" err="1"/>
              <a:t>ul</a:t>
            </a:r>
            <a:r>
              <a:rPr lang="en-US" dirty="0"/>
              <a:t>-Uloom-</a:t>
            </a:r>
            <a:r>
              <a:rPr lang="en-US" dirty="0" err="1"/>
              <a:t>i</a:t>
            </a:r>
            <a:r>
              <a:rPr lang="en-US" dirty="0"/>
              <a:t>-Deoband were in contrast to each other. Aligarh emphasized on the modern western education, fruitful for the Muslims of India while Deoband, on the other hand, devised to make Muslims a progressed nation by enhancing their religious spirit and knowledge of religion. In those circumstances there was a great need of the emergence of an institution that could deliver the two types of education at the same time and at one place. Thus for that purpose </a:t>
            </a:r>
            <a:r>
              <a:rPr lang="en-US" dirty="0" err="1"/>
              <a:t>Nadva</a:t>
            </a:r>
            <a:r>
              <a:rPr lang="en-US" dirty="0"/>
              <a:t>-</a:t>
            </a:r>
            <a:r>
              <a:rPr lang="en-US" dirty="0" err="1"/>
              <a:t>tul</a:t>
            </a:r>
            <a:r>
              <a:rPr lang="en-US" dirty="0"/>
              <a:t>-Ulama was founded in 1894 at Lucknow by Moulvi Abdul Ghaffar, who was working as the deputy collector for the British government of India.</a:t>
            </a:r>
          </a:p>
        </p:txBody>
      </p:sp>
    </p:spTree>
    <p:extLst>
      <p:ext uri="{BB962C8B-B14F-4D97-AF65-F5344CB8AC3E}">
        <p14:creationId xmlns:p14="http://schemas.microsoft.com/office/powerpoint/2010/main" val="1591117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54574-F6D0-1C83-CBA3-9A39319489B5}"/>
              </a:ext>
            </a:extLst>
          </p:cNvPr>
          <p:cNvSpPr>
            <a:spLocks noGrp="1"/>
          </p:cNvSpPr>
          <p:nvPr>
            <p:ph type="title"/>
          </p:nvPr>
        </p:nvSpPr>
        <p:spPr/>
        <p:txBody>
          <a:bodyPr/>
          <a:lstStyle/>
          <a:p>
            <a:r>
              <a:rPr lang="en-US" dirty="0"/>
              <a:t>Objectives of the movement</a:t>
            </a:r>
          </a:p>
        </p:txBody>
      </p:sp>
      <p:sp>
        <p:nvSpPr>
          <p:cNvPr id="3" name="Content Placeholder 2">
            <a:extLst>
              <a:ext uri="{FF2B5EF4-FFF2-40B4-BE49-F238E27FC236}">
                <a16:creationId xmlns:a16="http://schemas.microsoft.com/office/drawing/2014/main" id="{DA76F498-9881-F386-7383-AF46812ED151}"/>
              </a:ext>
            </a:extLst>
          </p:cNvPr>
          <p:cNvSpPr>
            <a:spLocks noGrp="1"/>
          </p:cNvSpPr>
          <p:nvPr>
            <p:ph idx="1"/>
          </p:nvPr>
        </p:nvSpPr>
        <p:spPr/>
        <p:txBody>
          <a:bodyPr>
            <a:noAutofit/>
          </a:bodyPr>
          <a:lstStyle/>
          <a:p>
            <a:pPr algn="just"/>
            <a:r>
              <a:rPr lang="en-US" sz="2400" dirty="0"/>
              <a:t>The objectives of the establishment of the new institution were as under:</a:t>
            </a:r>
          </a:p>
          <a:p>
            <a:pPr algn="just"/>
            <a:r>
              <a:rPr lang="en-US" sz="2400" dirty="0"/>
              <a:t>1. Remove sectarianism among the ranks of the Muslims</a:t>
            </a:r>
          </a:p>
          <a:p>
            <a:pPr algn="just"/>
            <a:r>
              <a:rPr lang="en-US" sz="2400" dirty="0"/>
              <a:t>2. Elimination of the prevailing extremist educational ideas and to make them coherent</a:t>
            </a:r>
          </a:p>
          <a:p>
            <a:pPr algn="just"/>
            <a:r>
              <a:rPr lang="en-US" sz="2400" dirty="0"/>
              <a:t>3. Improvement of the educational syllabus</a:t>
            </a:r>
          </a:p>
          <a:p>
            <a:pPr algn="just"/>
            <a:r>
              <a:rPr lang="en-US" sz="2400" dirty="0"/>
              <a:t>4. Elimination of social evils</a:t>
            </a:r>
          </a:p>
          <a:p>
            <a:pPr algn="just"/>
            <a:r>
              <a:rPr lang="en-US" sz="2400" dirty="0"/>
              <a:t>5. Improvement of all aspects of Muslims’ lives</a:t>
            </a:r>
          </a:p>
          <a:p>
            <a:pPr algn="just"/>
            <a:r>
              <a:rPr lang="en-US" sz="2400" dirty="0"/>
              <a:t>6. Muslim separation from politics</a:t>
            </a:r>
          </a:p>
          <a:p>
            <a:pPr algn="just"/>
            <a:r>
              <a:rPr lang="en-US" sz="2400" dirty="0"/>
              <a:t>7. Establishment of a grand educational institution to impart all sorts of education both, religious and secular</a:t>
            </a:r>
          </a:p>
        </p:txBody>
      </p:sp>
    </p:spTree>
    <p:extLst>
      <p:ext uri="{BB962C8B-B14F-4D97-AF65-F5344CB8AC3E}">
        <p14:creationId xmlns:p14="http://schemas.microsoft.com/office/powerpoint/2010/main" val="3559694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EE745-1295-204D-67A0-B5DD07274EA0}"/>
              </a:ext>
            </a:extLst>
          </p:cNvPr>
          <p:cNvSpPr>
            <a:spLocks noGrp="1"/>
          </p:cNvSpPr>
          <p:nvPr>
            <p:ph type="title"/>
          </p:nvPr>
        </p:nvSpPr>
        <p:spPr/>
        <p:txBody>
          <a:bodyPr/>
          <a:lstStyle/>
          <a:p>
            <a:r>
              <a:rPr lang="en-US" dirty="0"/>
              <a:t>Shibli </a:t>
            </a:r>
            <a:r>
              <a:rPr lang="en-US" dirty="0" err="1"/>
              <a:t>Naumani</a:t>
            </a:r>
            <a:endParaRPr lang="en-US" dirty="0"/>
          </a:p>
        </p:txBody>
      </p:sp>
      <p:sp>
        <p:nvSpPr>
          <p:cNvPr id="3" name="Content Placeholder 2">
            <a:extLst>
              <a:ext uri="{FF2B5EF4-FFF2-40B4-BE49-F238E27FC236}">
                <a16:creationId xmlns:a16="http://schemas.microsoft.com/office/drawing/2014/main" id="{D89008AE-3820-7734-34AD-FA721B1A86B0}"/>
              </a:ext>
            </a:extLst>
          </p:cNvPr>
          <p:cNvSpPr>
            <a:spLocks noGrp="1"/>
          </p:cNvSpPr>
          <p:nvPr>
            <p:ph idx="1"/>
          </p:nvPr>
        </p:nvSpPr>
        <p:spPr/>
        <p:txBody>
          <a:bodyPr>
            <a:normAutofit lnSpcReduction="10000"/>
          </a:bodyPr>
          <a:lstStyle/>
          <a:p>
            <a:pPr algn="just"/>
            <a:r>
              <a:rPr lang="en-US" dirty="0" err="1"/>
              <a:t>Nadva</a:t>
            </a:r>
            <a:r>
              <a:rPr lang="en-US" dirty="0"/>
              <a:t> witnessed the peak of its popularity when Maulana Shibli </a:t>
            </a:r>
            <a:r>
              <a:rPr lang="en-US" dirty="0" err="1"/>
              <a:t>Naumani</a:t>
            </a:r>
            <a:r>
              <a:rPr lang="en-US" dirty="0"/>
              <a:t> joined it in 1904. Shibli along with Moulvi Abdul Haq set the rules and regulations for the </a:t>
            </a:r>
            <a:r>
              <a:rPr lang="en-US" dirty="0" err="1"/>
              <a:t>Nadva</a:t>
            </a:r>
            <a:r>
              <a:rPr lang="en-US" dirty="0"/>
              <a:t> that enhanced its prestige a lot. Before joining </a:t>
            </a:r>
            <a:r>
              <a:rPr lang="en-US" dirty="0" err="1"/>
              <a:t>Nadva</a:t>
            </a:r>
            <a:r>
              <a:rPr lang="en-US" dirty="0"/>
              <a:t>, Shibli was the faculty member of Aligarh College where he proved himself to be a great scholar and a successful teacher. But he had his issues with Sir Syed Ahmed Khan and so he left Aligarh in 1904. Later, as mentioned earlier, he joined </a:t>
            </a:r>
            <a:r>
              <a:rPr lang="en-US" dirty="0" err="1"/>
              <a:t>Nadva</a:t>
            </a:r>
            <a:r>
              <a:rPr lang="en-US" dirty="0"/>
              <a:t> and here again he proved his caliber. He was made the in charge of </a:t>
            </a:r>
            <a:r>
              <a:rPr lang="en-US" dirty="0" err="1"/>
              <a:t>Nadva</a:t>
            </a:r>
            <a:r>
              <a:rPr lang="en-US" dirty="0"/>
              <a:t> and he made many changes in the syllabus of courses taught there. He also made English language as a compulsory subject at the school. He was the editor of the magazine of </a:t>
            </a:r>
            <a:r>
              <a:rPr lang="en-US" dirty="0" err="1"/>
              <a:t>Nadva</a:t>
            </a:r>
            <a:r>
              <a:rPr lang="en-US" dirty="0"/>
              <a:t> and he also established Dar-</a:t>
            </a:r>
            <a:r>
              <a:rPr lang="en-US" dirty="0" err="1"/>
              <a:t>ul</a:t>
            </a:r>
            <a:r>
              <a:rPr lang="en-US" dirty="0"/>
              <a:t>-</a:t>
            </a:r>
            <a:r>
              <a:rPr lang="en-US" dirty="0" err="1"/>
              <a:t>Musanifin</a:t>
            </a:r>
            <a:r>
              <a:rPr lang="en-US" dirty="0"/>
              <a:t> at Azamgarh.</a:t>
            </a:r>
          </a:p>
        </p:txBody>
      </p:sp>
    </p:spTree>
    <p:extLst>
      <p:ext uri="{BB962C8B-B14F-4D97-AF65-F5344CB8AC3E}">
        <p14:creationId xmlns:p14="http://schemas.microsoft.com/office/powerpoint/2010/main" val="42129676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1595</Words>
  <Application>Microsoft Office PowerPoint</Application>
  <PresentationFormat>Widescreen</PresentationFormat>
  <Paragraphs>52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Educationist and reformist movements in sub continent</vt:lpstr>
      <vt:lpstr>Background</vt:lpstr>
      <vt:lpstr>War of Independence</vt:lpstr>
      <vt:lpstr>Educational aspect of the Aligarh Movement</vt:lpstr>
      <vt:lpstr>PowerPoint Presentation</vt:lpstr>
      <vt:lpstr>M.A.O COLLEGE</vt:lpstr>
      <vt:lpstr>Political aspect</vt:lpstr>
      <vt:lpstr>Pioneer of two Nation Theory:</vt:lpstr>
      <vt:lpstr>Background</vt:lpstr>
      <vt:lpstr>Tehrik e Deoband</vt:lpstr>
      <vt:lpstr>PowerPoint Presentation</vt:lpstr>
      <vt:lpstr>PowerPoint Presentation</vt:lpstr>
      <vt:lpstr>Nadva tul Ulema</vt:lpstr>
      <vt:lpstr>Objectives of the movement</vt:lpstr>
      <vt:lpstr>Shibli Naumani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Educationist and reformist movements in sub continent</dc:title>
  <dc:creator>saira saeed</dc:creator>
  <cp:lastModifiedBy>saira saeed</cp:lastModifiedBy>
  <cp:revision>7</cp:revision>
  <dcterms:created xsi:type="dcterms:W3CDTF">2024-03-13T19:25:16Z</dcterms:created>
  <dcterms:modified xsi:type="dcterms:W3CDTF">2024-03-14T18:30:28Z</dcterms:modified>
</cp:coreProperties>
</file>